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8288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6B35"/>
                </a:solidFill>
                <a:latin typeface="Calibri"/>
              </a:defRPr>
            </a:pPr>
            <a:r>
              <a:t>Partie 2 - Les Bases de Python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37744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Exercices : Conditions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84048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6C757D"/>
                </a:solidFill>
                <a:latin typeface="Calibri"/>
              </a:defRPr>
            </a:pPr>
            <a:r>
              <a:t>Mets en pratique les conditions !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4754880"/>
            <a:ext cx="2743200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59436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C757D"/>
                </a:solidFill>
                <a:latin typeface="Calibri"/>
              </a:defRPr>
            </a:pPr>
            <a:r>
              <a:t>Cours de Programmation Python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  Objectifs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0A0A2E"/>
                </a:solidFill>
                <a:latin typeface="Calibri"/>
              </a:defRPr>
            </a:pPr>
            <a:r>
              <a:t>✅  Consolider les notions de conditions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0A0A2E"/>
                </a:solidFill>
                <a:latin typeface="Calibri"/>
              </a:defRPr>
            </a:pPr>
            <a:r>
              <a:t>✅  Pratiquer if/elif/else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0A0A2E"/>
                </a:solidFill>
                <a:latin typeface="Calibri"/>
              </a:defRPr>
            </a:pPr>
            <a:r>
              <a:t>✅  Utiliser des conditions combinées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0A0A2E"/>
                </a:solidFill>
                <a:latin typeface="Calibri"/>
              </a:defRPr>
            </a:pPr>
            <a:r>
              <a:t>✅  Créer des programmes intéressants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20840"/>
            <a:ext cx="12191695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7B2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  Exercice 1 : Nombre pair ou impair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0A0A2E"/>
                </a:solidFill>
                <a:latin typeface="Calibri"/>
              </a:defRPr>
            </a:pPr>
            <a:r>
              <a:t>Écris un programme qui :</a:t>
            </a:r>
            <a:br/>
            <a:r>
              <a:t>1. Demande un nombre à l'utilisateur</a:t>
            </a:r>
            <a:br/>
            <a:r>
              <a:t>2. Affiche si le nombre est pair ou impair</a:t>
            </a:r>
            <a:br/>
            <a:r>
              <a:t>3. Affiche si le nombre est positif, négatif ou nul</a:t>
            </a:r>
            <a:br/>
            <a:r>
              <a:t>4. Affiche si le nombre est un multiple de 3</a:t>
            </a:r>
            <a:br/>
            <a:br/>
            <a:r>
              <a:t>Astuce : n % 2 == 0 → pair, n % 3 == 0 → multiple de 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3657600"/>
            <a:ext cx="8046720" cy="292608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794760"/>
            <a:ext cx="768096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n = int(input("Nombre : "))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if n % 2 == 0: print(f"{n} est pair")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else: print(f"{n} est impair")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if n &gt; 0: print("Positif")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elif n &lt; 0: print("Négatif")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else: print("Nul")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if n % 3 == 0: print(f"{n} est multiple de 3")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3832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7B2FF7"/>
                </a:solidFill>
                <a:latin typeface="Calibri"/>
              </a:defRPr>
            </a:pPr>
            <a:r>
              <a:t>Solution :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720840"/>
            <a:ext cx="12191695" cy="36576"/>
          </a:xfrm>
          <a:prstGeom prst="rect">
            <a:avLst/>
          </a:prstGeom>
          <a:solidFill>
            <a:srgbClr val="7B2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7B2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  Exercice 2 : Calculatrice conditionnelle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0A0A2E"/>
                </a:solidFill>
                <a:latin typeface="Calibri"/>
              </a:defRPr>
            </a:pPr>
            <a:r>
              <a:t>Écris une mini-calculatrice :</a:t>
            </a:r>
            <a:br/>
            <a:r>
              <a:t>1. Demande deux nombres (a et b)</a:t>
            </a:r>
            <a:br/>
            <a:r>
              <a:t>2. Demande l'opération (+, -, *, /)</a:t>
            </a:r>
            <a:br/>
            <a:r>
              <a:t>3. Affiche le résultat</a:t>
            </a:r>
            <a:br/>
            <a:r>
              <a:t>4. Gère l'erreur : division par zéro → message d'erreur</a:t>
            </a:r>
            <a:br/>
            <a:r>
              <a:t>5. Gère l'opération inconnue → message d'erreur</a:t>
            </a:r>
            <a:br/>
            <a:br/>
            <a:r>
              <a:t>BONUS : Ajoute la puissance (^) et le modulo (%)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3657600"/>
            <a:ext cx="8046720" cy="292608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794760"/>
            <a:ext cx="768096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a = float(input("a : "))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b = float(input("b : "))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op = input("Opération (+, -, *, /) : ")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if op == '+': print(f"{a}+{b}={a+b}")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elif op == '-': print(f"{a}-{b}={a-b}")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elif op == '*': print(f"{a}×{b}={a*b}")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elif op == '/':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   print(f"{a}÷{b}={a/b}") if b!=0 else print("Division par zéro !")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else: print("Opération invalide")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3832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7B2FF7"/>
                </a:solidFill>
                <a:latin typeface="Calibri"/>
              </a:defRPr>
            </a:pPr>
            <a:r>
              <a:t>Solution :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720840"/>
            <a:ext cx="12191695" cy="36576"/>
          </a:xfrm>
          <a:prstGeom prst="rect">
            <a:avLst/>
          </a:prstGeom>
          <a:solidFill>
            <a:srgbClr val="7B2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7B2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  Exercice 3 : Convertisseur de notes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0A0A2E"/>
                </a:solidFill>
                <a:latin typeface="Calibri"/>
              </a:defRPr>
            </a:pPr>
            <a:r>
              <a:t>Crée un convertisseur de notes :</a:t>
            </a:r>
            <a:br/>
            <a:r>
              <a:t>1. Demande une note sur 20</a:t>
            </a:r>
            <a:br/>
            <a:r>
              <a:t>2. Affiche la mention correspondante :</a:t>
            </a:r>
            <a:br/>
            <a:r>
              <a:t>   18-20 → Excellent | 15-17 → Très Bien</a:t>
            </a:r>
            <a:br/>
            <a:r>
              <a:t>   12-14 → Bien | 10-11 → Passable</a:t>
            </a:r>
            <a:br/>
            <a:r>
              <a:t>   8-9 → Insuffisant | 0-7 → Médiocre</a:t>
            </a:r>
            <a:br/>
            <a:r>
              <a:t>3. Vérifie que la note est entre 0 et 20</a:t>
            </a:r>
            <a:br/>
            <a:r>
              <a:t>4. Affiche aussi la note en lettre (A, B, C, D, E, F)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3657600"/>
            <a:ext cx="8046720" cy="292608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794760"/>
            <a:ext cx="768096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note = float(input("Note sur 20 : "))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if note &lt; 0 or note &gt; 20: print("Invalide")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elif note &gt;= 18: print(f"{note}/20 → Excellent (A)")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elif note &gt;= 15: print(f"Très Bien (B)")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elif note &gt;= 12: print(f"Bien (C)")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elif note &gt;= 10: print(f"Passable (D)")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elif note &gt;= 8: print(f"Insuffisant (E)")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else: print(f"Médiocre (F)")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3832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7B2FF7"/>
                </a:solidFill>
                <a:latin typeface="Calibri"/>
              </a:defRPr>
            </a:pPr>
            <a:r>
              <a:t>Solution :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720840"/>
            <a:ext cx="12191695" cy="36576"/>
          </a:xfrm>
          <a:prstGeom prst="rect">
            <a:avLst/>
          </a:prstGeom>
          <a:solidFill>
            <a:srgbClr val="7B2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7B2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  Exercice 4 : Année bissextile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0A0A2E"/>
                </a:solidFill>
                <a:latin typeface="Calibri"/>
              </a:defRPr>
            </a:pPr>
            <a:r>
              <a:t>Détermine si une année est bissextile :</a:t>
            </a:r>
            <a:br/>
            <a:r>
              <a:t>Règles :</a:t>
            </a:r>
            <a:br/>
            <a:r>
              <a:t>- Divisible par 4 → bissextile</a:t>
            </a:r>
            <a:br/>
            <a:r>
              <a:t>- SAUF si divisible par 100 → pas bissextile</a:t>
            </a:r>
            <a:br/>
            <a:r>
              <a:t>- SAUF si divisible par 400 → bissextile à nouveau</a:t>
            </a:r>
            <a:br/>
            <a:br/>
            <a:r>
              <a:t>Exemples : 2024 → oui, 2100 → non, 2000 → oui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3657600"/>
            <a:ext cx="8046720" cy="292608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794760"/>
            <a:ext cx="768096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annee = int(input("Année : "))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if annee % 400 == 0 or (annee % 4 == 0 and annee % 100 != 0):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   print(f"{annee} est bissextile")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else: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   print(f"{annee} n'est pas bissextile")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3832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7B2FF7"/>
                </a:solidFill>
                <a:latin typeface="Calibri"/>
              </a:defRPr>
            </a:pPr>
            <a:r>
              <a:t>Solution :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720840"/>
            <a:ext cx="12191695" cy="36576"/>
          </a:xfrm>
          <a:prstGeom prst="rect">
            <a:avLst/>
          </a:prstGeom>
          <a:solidFill>
            <a:srgbClr val="7B2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7B2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  Exercice 5 : Pierre-Feuille-Ciseaux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0A0A2E"/>
                </a:solidFill>
                <a:latin typeface="Calibri"/>
              </a:defRPr>
            </a:pPr>
            <a:r>
              <a:t>Crée un jeu :</a:t>
            </a:r>
            <a:br/>
            <a:r>
              <a:t>1. Le joueur choisit : 1=Pierre, 2=Feuille, 3=Ciseaux</a:t>
            </a:r>
            <a:br/>
            <a:r>
              <a:t>2. L'ordinateur choisit aléatoirement (random.randint)</a:t>
            </a:r>
            <a:br/>
            <a:r>
              <a:t>3. Compare les choix :</a:t>
            </a:r>
            <a:br/>
            <a:r>
              <a:t>   - Pierre bat Ciseaux</a:t>
            </a:r>
            <a:br/>
            <a:r>
              <a:t>   - Ciseaux bat Feuille</a:t>
            </a:r>
            <a:br/>
            <a:r>
              <a:t>   - Feuille bat Pierre</a:t>
            </a:r>
            <a:br/>
            <a:r>
              <a:t>4. Affiche le gagnant et les choix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3657600"/>
            <a:ext cx="8046720" cy="292608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794760"/>
            <a:ext cx="768096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import random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choix = int(input("1=Pierre 2=Feuille 3=Ciseaux : "))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ordi = random.randint(1, 3)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noms = ["", "Pierre", "Feuille", "Ciseaux"]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print(f"Ordi : {noms[ordi]}")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if choix == ordi: print("Égalité !")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elif (choix==1 and ordi==3) or (choix==2 and ordi==1) or (choix==3 and ordi==2):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   print(" Tu as gagné !")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else: print(" L'ordi gagne...")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3832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7B2FF7"/>
                </a:solidFill>
                <a:latin typeface="Calibri"/>
              </a:defRPr>
            </a:pPr>
            <a:r>
              <a:t>Solution :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720840"/>
            <a:ext cx="12191695" cy="36576"/>
          </a:xfrm>
          <a:prstGeom prst="rect">
            <a:avLst/>
          </a:prstGeom>
          <a:solidFill>
            <a:srgbClr val="7B2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  Ce qu'il faut retenir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27432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  <a:defRPr sz="1600">
                <a:solidFill>
                  <a:srgbClr val="DEE2E6"/>
                </a:solidFill>
                <a:latin typeface="Calibri"/>
              </a:defRPr>
            </a:pPr>
            <a:r>
              <a:t>✦  Les conditions permettent de prendre des décisions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600">
                <a:solidFill>
                  <a:srgbClr val="DEE2E6"/>
                </a:solidFill>
                <a:latin typeface="Calibri"/>
              </a:defRPr>
            </a:pPr>
            <a:r>
              <a:t>✦  if/elif/else, : et indentation obligatoires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600">
                <a:solidFill>
                  <a:srgbClr val="DEE2E6"/>
                </a:solidFill>
                <a:latin typeface="Calibri"/>
              </a:defRPr>
            </a:pPr>
            <a:r>
              <a:t>✦  and, or, not combinent plusieurs conditions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600">
                <a:solidFill>
                  <a:srgbClr val="DEE2E6"/>
                </a:solidFill>
                <a:latin typeface="Calibri"/>
              </a:defRPr>
            </a:pPr>
            <a:r>
              <a:t>✦  Les conditions sont la base de TOUT programme interactif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600">
                <a:solidFill>
                  <a:srgbClr val="DEE2E6"/>
                </a:solidFill>
                <a:latin typeface="Calibri"/>
              </a:defRPr>
            </a:pPr>
            <a:r>
              <a:t>✦  Le prochain chapitre : les boucles !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20840"/>
            <a:ext cx="12191695" cy="36576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