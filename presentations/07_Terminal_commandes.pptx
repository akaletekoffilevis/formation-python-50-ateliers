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F7F2A46-5B89-4E86-ABE1-A5118B63FE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FF5AD02-8951-4BE6-AF8E-AF4562E899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F0B3D84-ABB4-4510-96EC-80CB71DC21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D150FB5-8A7A-473E-BDC4-8F16804788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F9A71DB-1568-4053-8BCB-2D4CED5E90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706B53C-B029-4722-A937-FA0056E226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83D17FF-4FAE-46C5-9CCF-6B93611F84F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1C47CAE-D008-4A2E-BC7B-3E384A9D666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850D8DD-8892-4CD9-9C4A-D16AA6BF21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11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texte-titre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F9FC1CA-270C-40D8-B964-54E097E5076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A569E2C-1771-4A17-B85B-6D8E82F5CEE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0" y="0"/>
            <a:ext cx="54360" cy="685764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371600" y="182880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Partie 1 - Culture Informatique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371600" y="2377440"/>
            <a:ext cx="73148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Premier contact avec le Terminal</a:t>
            </a:r>
            <a:endParaRPr lang="fr-FR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1371600" y="3840480"/>
            <a:ext cx="7314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Les commandes essentielles pour naviguer comme un pro</a:t>
            </a: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6"/>
          <p:cNvSpPr/>
          <p:nvPr/>
        </p:nvSpPr>
        <p:spPr>
          <a:xfrm>
            <a:off x="1371600" y="4754880"/>
            <a:ext cx="2742840" cy="36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1371600" y="594360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Cours de Programmation Python - Fondamentaux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Rectangle 2"/>
          <p:cNvSpPr/>
          <p:nvPr/>
        </p:nvSpPr>
        <p:spPr>
          <a:xfrm>
            <a:off x="0" y="822960"/>
            <a:ext cx="12191400" cy="36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Box 3"/>
          <p:cNvSpPr/>
          <p:nvPr/>
        </p:nvSpPr>
        <p:spPr>
          <a:xfrm>
            <a:off x="548640" y="1098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Objectifs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4"/>
          <p:cNvSpPr/>
          <p:nvPr/>
        </p:nvSpPr>
        <p:spPr>
          <a:xfrm>
            <a:off x="548640" y="1188720"/>
            <a:ext cx="804636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799"/>
              </a:spcBef>
              <a:spcAft>
                <a:spcPts val="400"/>
              </a:spcAft>
            </a:pPr>
            <a:r>
              <a:rPr lang="en-US" sz="17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✅  Comprendre ce qu'est un terminal (shell)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  <a:spcAft>
                <a:spcPts val="400"/>
              </a:spcAft>
            </a:pPr>
            <a:r>
              <a:rPr lang="en-US" sz="17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✅  Connaître les commandes de base pour se déplacer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  <a:spcAft>
                <a:spcPts val="400"/>
              </a:spcAft>
            </a:pPr>
            <a:r>
              <a:rPr lang="en-US" sz="17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✅  Savoir créer, copier, déplacer et supprimer des fichiers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  <a:spcAft>
                <a:spcPts val="400"/>
              </a:spcAft>
            </a:pPr>
            <a:r>
              <a:rPr lang="en-US" sz="17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✅  Se sentir à l'aise dans le terminal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5"/>
          <p:cNvSpPr/>
          <p:nvPr/>
        </p:nvSpPr>
        <p:spPr>
          <a:xfrm>
            <a:off x="0" y="6720840"/>
            <a:ext cx="12191400" cy="3636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Rectangle 2"/>
          <p:cNvSpPr/>
          <p:nvPr/>
        </p:nvSpPr>
        <p:spPr>
          <a:xfrm>
            <a:off x="0" y="822960"/>
            <a:ext cx="12191400" cy="36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3"/>
          <p:cNvSpPr/>
          <p:nvPr/>
        </p:nvSpPr>
        <p:spPr>
          <a:xfrm>
            <a:off x="548640" y="1098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Définition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4"/>
          <p:cNvSpPr/>
          <p:nvPr/>
        </p:nvSpPr>
        <p:spPr>
          <a:xfrm>
            <a:off x="548640" y="137160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Le Terminal (ou Shell)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5"/>
          <p:cNvSpPr/>
          <p:nvPr/>
        </p:nvSpPr>
        <p:spPr>
          <a:xfrm>
            <a:off x="548640" y="2103120"/>
            <a:ext cx="1828440" cy="2700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6"/>
          <p:cNvSpPr/>
          <p:nvPr/>
        </p:nvSpPr>
        <p:spPr>
          <a:xfrm>
            <a:off x="548640" y="2377440"/>
            <a:ext cx="804636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Le terminal est une interface en texte où tu tapes des commandes pour interagir avec l'ordinateur. C'est plus puissant que la souris pour beaucoup de tâches.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7"/>
          <p:cNvSpPr/>
          <p:nvPr/>
        </p:nvSpPr>
        <p:spPr>
          <a:xfrm>
            <a:off x="548640" y="4389120"/>
            <a:ext cx="8046360" cy="2011320"/>
          </a:xfrm>
          <a:prstGeom prst="roundRect">
            <a:avLst>
              <a:gd name="adj" fmla="val 16667"/>
            </a:avLst>
          </a:prstGeom>
          <a:solidFill>
            <a:srgbClr val="E8F4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8"/>
          <p:cNvSpPr/>
          <p:nvPr/>
        </p:nvSpPr>
        <p:spPr>
          <a:xfrm>
            <a:off x="731520" y="4480560"/>
            <a:ext cx="137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0B4D8"/>
                </a:solidFill>
                <a:effectLst/>
                <a:uFillTx/>
                <a:latin typeface="Calibri"/>
              </a:rPr>
              <a:t>Exemple :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9"/>
          <p:cNvSpPr/>
          <p:nvPr/>
        </p:nvSpPr>
        <p:spPr>
          <a:xfrm>
            <a:off x="731520" y="4846320"/>
            <a:ext cx="76806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💡 Terminal = interface en mode texte</a:t>
            </a:r>
            <a:br>
              <a:rPr sz="1500"/>
            </a:br>
            <a:r>
              <a:rPr lang="en-US" sz="15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🐚 Shell = le programme qui interprète tes commandes (bash, zsh, PowerShell)</a:t>
            </a:r>
            <a:br>
              <a:rPr sz="1500"/>
            </a:br>
            <a:r>
              <a:rPr lang="en-US" sz="15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📟 Console = l'écran où ça s'affiche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ectangle 10"/>
          <p:cNvSpPr/>
          <p:nvPr/>
        </p:nvSpPr>
        <p:spPr>
          <a:xfrm>
            <a:off x="0" y="6720840"/>
            <a:ext cx="12191400" cy="3636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Rectangle 2"/>
          <p:cNvSpPr/>
          <p:nvPr/>
        </p:nvSpPr>
        <p:spPr>
          <a:xfrm>
            <a:off x="0" y="822960"/>
            <a:ext cx="12191400" cy="36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3"/>
          <p:cNvSpPr/>
          <p:nvPr/>
        </p:nvSpPr>
        <p:spPr>
          <a:xfrm>
            <a:off x="548640" y="1098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Ouvrir le terminal</a:t>
            </a:r>
            <a:endParaRPr lang="fr-F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4"/>
          <p:cNvSpPr/>
          <p:nvPr/>
        </p:nvSpPr>
        <p:spPr>
          <a:xfrm>
            <a:off x="548640" y="1188720"/>
            <a:ext cx="804636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Sur Windows :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Ouvre VS Code, puis Terminal → Nouveau terminal (ou Ctrl+ù)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Tu peux aussi ouvrir PowerShell/CMD directement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Sur macOS :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Terminal (ou iTerm2) dans Applications/Utilitaires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Sur Linux :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Ctrl+Alt+T ou chercher "Terminal" dans les applications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L'invite de commande (prompt) :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Quand tu ouvres le terminal, tu vois :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tonutilisateur@ordinateur:~$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Le $ (ou &gt; sur Windows) signifie que le terminal t'attend !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~ signifie que tu es dans ton dossier personnel (home)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ectangle 5"/>
          <p:cNvSpPr/>
          <p:nvPr/>
        </p:nvSpPr>
        <p:spPr>
          <a:xfrm>
            <a:off x="0" y="6720840"/>
            <a:ext cx="12191400" cy="3636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Rectangle 2"/>
          <p:cNvSpPr/>
          <p:nvPr/>
        </p:nvSpPr>
        <p:spPr>
          <a:xfrm>
            <a:off x="0" y="822960"/>
            <a:ext cx="12191400" cy="36360"/>
          </a:xfrm>
          <a:prstGeom prst="rect">
            <a:avLst/>
          </a:prstGeom>
          <a:solidFill>
            <a:srgbClr val="06D6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3"/>
          <p:cNvSpPr/>
          <p:nvPr/>
        </p:nvSpPr>
        <p:spPr>
          <a:xfrm>
            <a:off x="548640" y="1098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Se déplacer dans les dossiers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4"/>
          <p:cNvSpPr/>
          <p:nvPr/>
        </p:nvSpPr>
        <p:spPr>
          <a:xfrm>
            <a:off x="548640" y="1097280"/>
            <a:ext cx="8046360" cy="41144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5"/>
          <p:cNvSpPr/>
          <p:nvPr/>
        </p:nvSpPr>
        <p:spPr>
          <a:xfrm>
            <a:off x="731520" y="1234440"/>
            <a:ext cx="768060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Afficher le dossier actuel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pwd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→ /home/tom/Documents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Lister les fichiers et dossiers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ls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→ Documents  Images  Musique  test.py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Se déplacer dans un dossier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cd Documents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Revenir au dossier parent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cd ..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Aller directement dans un sous-dossier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cd Documents/Projets/Python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Revenir au dossier personnel (home)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cd ~   (ou juste cd)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6"/>
          <p:cNvSpPr/>
          <p:nvPr/>
        </p:nvSpPr>
        <p:spPr>
          <a:xfrm>
            <a:off x="548640" y="539496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💡 💡 pwd = print working directory</a:t>
            </a:r>
            <a:br>
              <a:rPr sz="1300"/>
            </a:br>
            <a:r>
              <a:rPr lang="en-US" sz="13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ls = list</a:t>
            </a:r>
            <a:br>
              <a:rPr sz="1300"/>
            </a:br>
            <a:r>
              <a:rPr lang="en-US" sz="13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cd = change directory</a:t>
            </a:r>
            <a:br>
              <a:rPr sz="1300"/>
            </a:br>
            <a:r>
              <a:rPr lang="en-US" sz="13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Utilise la touche Tab pour l'autocomplétion !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7"/>
          <p:cNvSpPr/>
          <p:nvPr/>
        </p:nvSpPr>
        <p:spPr>
          <a:xfrm>
            <a:off x="0" y="6720840"/>
            <a:ext cx="12191400" cy="36360"/>
          </a:xfrm>
          <a:prstGeom prst="rect">
            <a:avLst/>
          </a:prstGeom>
          <a:solidFill>
            <a:srgbClr val="06D6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Rectangle 2"/>
          <p:cNvSpPr/>
          <p:nvPr/>
        </p:nvSpPr>
        <p:spPr>
          <a:xfrm>
            <a:off x="0" y="822960"/>
            <a:ext cx="12191400" cy="36360"/>
          </a:xfrm>
          <a:prstGeom prst="rect">
            <a:avLst/>
          </a:prstGeom>
          <a:solidFill>
            <a:srgbClr val="06D6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TextBox 3"/>
          <p:cNvSpPr/>
          <p:nvPr/>
        </p:nvSpPr>
        <p:spPr>
          <a:xfrm>
            <a:off x="548640" y="1098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Créer et manipuler des fichiers/dossiers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4"/>
          <p:cNvSpPr/>
          <p:nvPr/>
        </p:nvSpPr>
        <p:spPr>
          <a:xfrm>
            <a:off x="548640" y="1097280"/>
            <a:ext cx="8046360" cy="41144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Box 5"/>
          <p:cNvSpPr/>
          <p:nvPr/>
        </p:nvSpPr>
        <p:spPr>
          <a:xfrm>
            <a:off x="731520" y="1234440"/>
            <a:ext cx="768060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Créer un dossier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mkdir projet_python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Créer un fichier vide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touch mon_fichier.py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Copier un fichier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cp mon_fichier.py copie.py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Déplacer / Renommer un fichier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mv mon_fichier.py ../autre_dossier/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mv ancien_nom.py nouveau_nom.py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Supprimer un fichier (attention !)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rm fichier_a_supprimer.txt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Supprimer un dossier et tout son contenu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rm -rf dossier_a_supprimer/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6"/>
          <p:cNvSpPr/>
          <p:nvPr/>
        </p:nvSpPr>
        <p:spPr>
          <a:xfrm>
            <a:off x="548640" y="539496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💡 ⚠️  ATTENTION : rm -rf supprime définitivement, sans passer par la corbeille !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7"/>
          <p:cNvSpPr/>
          <p:nvPr/>
        </p:nvSpPr>
        <p:spPr>
          <a:xfrm>
            <a:off x="0" y="6720840"/>
            <a:ext cx="12191400" cy="36360"/>
          </a:xfrm>
          <a:prstGeom prst="rect">
            <a:avLst/>
          </a:prstGeom>
          <a:solidFill>
            <a:srgbClr val="06D6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Rectangle 2"/>
          <p:cNvSpPr/>
          <p:nvPr/>
        </p:nvSpPr>
        <p:spPr>
          <a:xfrm>
            <a:off x="0" y="822960"/>
            <a:ext cx="12191400" cy="36360"/>
          </a:xfrm>
          <a:prstGeom prst="rect">
            <a:avLst/>
          </a:prstGeom>
          <a:solidFill>
            <a:srgbClr val="06D6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3"/>
          <p:cNvSpPr/>
          <p:nvPr/>
        </p:nvSpPr>
        <p:spPr>
          <a:xfrm>
            <a:off x="548640" y="1098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Lire et écrire dans des fichiers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ounded Rectangle 4"/>
          <p:cNvSpPr/>
          <p:nvPr/>
        </p:nvSpPr>
        <p:spPr>
          <a:xfrm>
            <a:off x="548640" y="1097280"/>
            <a:ext cx="8046360" cy="41144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5"/>
          <p:cNvSpPr/>
          <p:nvPr/>
        </p:nvSpPr>
        <p:spPr>
          <a:xfrm>
            <a:off x="731520" y="1234440"/>
            <a:ext cx="768060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Voir le contenu d'un fichier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cat mon_fichier.py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Voir le contenu page par page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less mon_fichier.py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(appuie sur q pour quitter)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Voir les premières lignes (10 par défaut)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head mon_fichier.py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Voir les dernières lignes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tail mon_fichier.py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Chercher un mot dans un fichier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grep "mot_recherche" mon_fichier.py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Compter les lignes, mots, caractères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wc mon_fichier.py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6"/>
          <p:cNvSpPr/>
          <p:nvPr/>
        </p:nvSpPr>
        <p:spPr>
          <a:xfrm>
            <a:off x="548640" y="539496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💡 💡 Toutes ces commandes sont essentielles pour un développeur !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 7"/>
          <p:cNvSpPr/>
          <p:nvPr/>
        </p:nvSpPr>
        <p:spPr>
          <a:xfrm>
            <a:off x="0" y="6720840"/>
            <a:ext cx="12191400" cy="36360"/>
          </a:xfrm>
          <a:prstGeom prst="rect">
            <a:avLst/>
          </a:prstGeom>
          <a:solidFill>
            <a:srgbClr val="06D6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Rectangle 2"/>
          <p:cNvSpPr/>
          <p:nvPr/>
        </p:nvSpPr>
        <p:spPr>
          <a:xfrm>
            <a:off x="0" y="822960"/>
            <a:ext cx="12191400" cy="36360"/>
          </a:xfrm>
          <a:prstGeom prst="rect">
            <a:avLst/>
          </a:prstGeom>
          <a:solidFill>
            <a:srgbClr val="06D6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3"/>
          <p:cNvSpPr/>
          <p:nvPr/>
        </p:nvSpPr>
        <p:spPr>
          <a:xfrm>
            <a:off x="548640" y="1098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Commandes système utiles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ounded Rectangle 4"/>
          <p:cNvSpPr/>
          <p:nvPr/>
        </p:nvSpPr>
        <p:spPr>
          <a:xfrm>
            <a:off x="548640" y="1097280"/>
            <a:ext cx="8046360" cy="41144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TextBox 5"/>
          <p:cNvSpPr/>
          <p:nvPr/>
        </p:nvSpPr>
        <p:spPr>
          <a:xfrm>
            <a:off x="731520" y="1234440"/>
            <a:ext cx="7680600" cy="366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Effacer l'écran du terminal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clear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Voir la date et l'heure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date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Voir qui est connecté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whoami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Voir les processus en cours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ps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Voir l'espace disque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df -h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Voir l'arborescence d'un dossier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ls -R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(affiche TOUS les sous-dossiers récursivement)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Voir les fichiers cachés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ls -a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6"/>
          <p:cNvSpPr/>
          <p:nvPr/>
        </p:nvSpPr>
        <p:spPr>
          <a:xfrm>
            <a:off x="548640" y="539496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💡 💡 Sur Windows, certaines commandes diffèrent. Dans VS Code, le terminal PowerShell accepte dir au lieu de ls.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Rectangle 7"/>
          <p:cNvSpPr/>
          <p:nvPr/>
        </p:nvSpPr>
        <p:spPr>
          <a:xfrm>
            <a:off x="0" y="6720840"/>
            <a:ext cx="12191400" cy="36360"/>
          </a:xfrm>
          <a:prstGeom prst="rect">
            <a:avLst/>
          </a:prstGeom>
          <a:solidFill>
            <a:srgbClr val="06D6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Rectangle 2"/>
          <p:cNvSpPr/>
          <p:nvPr/>
        </p:nvSpPr>
        <p:spPr>
          <a:xfrm>
            <a:off x="0" y="822960"/>
            <a:ext cx="12191400" cy="36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3"/>
          <p:cNvSpPr/>
          <p:nvPr/>
        </p:nvSpPr>
        <p:spPr>
          <a:xfrm>
            <a:off x="548640" y="1098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Les options des commandes</a:t>
            </a:r>
            <a:endParaRPr lang="fr-F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4"/>
          <p:cNvSpPr/>
          <p:nvPr/>
        </p:nvSpPr>
        <p:spPr>
          <a:xfrm>
            <a:off x="548640" y="1188720"/>
            <a:ext cx="804636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La plupart des commandes acceptent des OPTIONS (flags)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Structure : commande -option(s) argument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Exemples :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ls → liste simple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ls -l → liste détaillée (avec permissions, taille, date)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ls -a → liste TOUS les fichiers (y compris cachés)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ls -la → combine -l et -a (liste détaillée de tous les fichiers)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ls -lh → liste détaillée avec tailles lisibles (Ko, Mo)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Commandes avec plusieurs options :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rm -rf dossier/   (-r = récursif, -f = force)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cp -r dossier/ backup/   (-r = copie récursive pour les dossiers)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💡 ls --help ou man ls → affiche toutes les options d'une commande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Rectangle 5"/>
          <p:cNvSpPr/>
          <p:nvPr/>
        </p:nvSpPr>
        <p:spPr>
          <a:xfrm>
            <a:off x="0" y="6720840"/>
            <a:ext cx="12191400" cy="3636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1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Rectangle 2"/>
          <p:cNvSpPr/>
          <p:nvPr/>
        </p:nvSpPr>
        <p:spPr>
          <a:xfrm>
            <a:off x="0" y="822960"/>
            <a:ext cx="12191400" cy="36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3"/>
          <p:cNvSpPr/>
          <p:nvPr/>
        </p:nvSpPr>
        <p:spPr>
          <a:xfrm>
            <a:off x="548640" y="1098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Les raccourcis clavier du terminal</a:t>
            </a:r>
            <a:endParaRPr lang="fr-F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4"/>
          <p:cNvSpPr/>
          <p:nvPr/>
        </p:nvSpPr>
        <p:spPr>
          <a:xfrm>
            <a:off x="548640" y="1188720"/>
            <a:ext cx="804636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Raccourcis INDISPENSABLES :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↑ / ↓ : parcourir l'historique des commandes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Tab : autocomplétion (magique ! tape le début et appuie sur Tab)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Ctrl+C : annuler la commande en cours / arrêter un programme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Ctrl+D : fermer le terminal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Ctrl+L : effacer l'écran (comme clear)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Ctrl+Shift+C : copier (dans le terminal)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Ctrl+Shift+V : coller (dans le terminal)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Ctrl+A : aller au début de la ligne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Ctrl+E : aller à la fin de la ligne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Ctrl+U : effacer toute la ligne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500" b="0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Ctrl+W : effacer le mot avant le curseur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r>
              <a:rPr lang="en-US" sz="1800" b="1" u="none" strike="noStrike">
                <a:solidFill>
                  <a:srgbClr val="0A0A2E"/>
                </a:solidFill>
                <a:effectLst/>
                <a:uFillTx/>
                <a:latin typeface="Calibri"/>
              </a:rPr>
              <a:t>💡 Ces raccourcis te feront gagner BEAUCOUP de temps !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ectangle 5"/>
          <p:cNvSpPr/>
          <p:nvPr/>
        </p:nvSpPr>
        <p:spPr>
          <a:xfrm>
            <a:off x="0" y="6720840"/>
            <a:ext cx="12191400" cy="3636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1"/>
          <p:cNvSpPr/>
          <p:nvPr/>
        </p:nvSpPr>
        <p:spPr>
          <a:xfrm>
            <a:off x="0" y="0"/>
            <a:ext cx="12191400" cy="36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Box 2"/>
          <p:cNvSpPr/>
          <p:nvPr/>
        </p:nvSpPr>
        <p:spPr>
          <a:xfrm>
            <a:off x="731520" y="4572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Ce qu'il faut retenir</a:t>
            </a:r>
            <a:endParaRPr lang="fr-F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3"/>
          <p:cNvSpPr/>
          <p:nvPr/>
        </p:nvSpPr>
        <p:spPr>
          <a:xfrm>
            <a:off x="731520" y="1097280"/>
            <a:ext cx="2742840" cy="3636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4"/>
          <p:cNvSpPr/>
          <p:nvPr/>
        </p:nvSpPr>
        <p:spPr>
          <a:xfrm>
            <a:off x="731520" y="1463040"/>
            <a:ext cx="768060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6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✦  Le terminal permet d'interagir avec l'ordinateur via des commandes textuelles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6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✦  pwd, ls, cd sont les commandes de base pour se déplacer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6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✦  mkdir, touch, cp, mv, rm créent/copient/déplacent/suppriment des fichiers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6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✦  cat, less, head, tail permettent de lire des fichiers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6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✦  Les options (-l, -a, -r, -f, -h) modifient le comportement des commandes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6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✦  Tab = autocomplétion, ↑/↓ = historique, Ctrl+C = annuler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6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✦  Entraîne-toi, le terminal deviendra ton meilleur ami !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Rectangle 5"/>
          <p:cNvSpPr/>
          <p:nvPr/>
        </p:nvSpPr>
        <p:spPr>
          <a:xfrm>
            <a:off x="0" y="6720840"/>
            <a:ext cx="12191400" cy="36360"/>
          </a:xfrm>
          <a:prstGeom prst="rect">
            <a:avLst/>
          </a:prstGeom>
          <a:solidFill>
            <a:srgbClr val="06D6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LibreOffice/26.2.2.2$Linux_X86_64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fr-FR</dc:language>
  <cp:lastModifiedBy/>
  <dcterms:modified xsi:type="dcterms:W3CDTF">2026-05-31T23:53:23Z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