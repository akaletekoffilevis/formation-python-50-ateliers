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</p:sldIdLst>
  <p:sldSz cx="12192000" cy="6858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&lt;date/heure&gt;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451BA6A-E08E-444D-840B-5E630E287507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&lt;numéro&gt;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&lt;date/heure&gt;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D5A8DA64-5880-4225-9D62-BE78A41AD5F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&lt;numéro&gt;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&lt;date/heure&gt;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CFE9A019-CF2A-4363-BA2B-F28DF91C9C6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&lt;numéro&gt;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&lt;date/heure&gt;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71D6A10-3EC6-4152-90FB-A1189C28187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&lt;numéro&gt;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000" b="1" u="none" strike="noStrike" cap="all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  <a:def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000" b="0" u="none" strike="noStrike">
              <a:solidFill>
                <a:schemeClr val="dk1">
                  <a:tint val="75000"/>
                </a:schemeClr>
              </a:solidFill>
              <a:effectLst/>
              <a:uFillTx/>
              <a:latin typeface="Calibri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&lt;date/heure&gt;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F986428-937F-44C3-9DFB-332D7E02B33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&lt;numéro&gt;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&lt;date/heure&gt;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8FD8BB5-17AA-44F0-A281-197914E1DFF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&lt;numéro&gt;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&lt;date/heure&gt;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AA29A25-755A-470C-883D-DA59DC932B2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&lt;numéro&gt;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&lt;date/heure&gt;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E4E13DC-4D2D-424E-85BC-7061DEC0C6C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&lt;numéro&gt;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&lt;date/heure&gt;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93CF6EE-88BA-4BEC-831F-3F1B521049E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&lt;numéro&gt;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 defTabSz="457200"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Cliquez pour éditer le format du texte-titre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Cliquez pour éditer le format du plan de texte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niveau de plan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Troisième niveau de plan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Quatrième niveau de plan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Cinquième niveau de plan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Sixième niveau de plan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Septième niveau de plan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&lt;date/heure&gt;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7E2E5E1-F04E-4F08-B11F-66BAF4FDE8F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&lt;numéro&gt;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457200"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algn="l" defTabSz="457200"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Cliquez pour éditer le format du plan de texte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niveau de plan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914400"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Troisième niveau de plan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371600"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Quatrième niveau de plan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828800"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Cinquième niveau de plan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0"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Sixième niveau de plan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743200"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Septième niveau de plan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&lt;date/heure&gt;</a:t>
            </a:r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&lt;pied de page&gt;</a:t>
            </a:r>
            <a:endParaRPr lang="fr-F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2C94DECB-EFE9-4CAA-ADBE-B99706D9CC2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&lt;numéro&gt;</a:t>
            </a:fld>
            <a:endParaRPr lang="fr-F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Rectangle 1"/>
          <p:cNvSpPr/>
          <p:nvPr/>
        </p:nvSpPr>
        <p:spPr>
          <a:xfrm>
            <a:off x="0" y="0"/>
            <a:ext cx="12191400" cy="54360"/>
          </a:xfrm>
          <a:prstGeom prst="rect">
            <a:avLst/>
          </a:prstGeom>
          <a:solidFill>
            <a:srgbClr val="FF6B3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2" name="Rounded Rectangle 2"/>
          <p:cNvSpPr/>
          <p:nvPr/>
        </p:nvSpPr>
        <p:spPr>
          <a:xfrm>
            <a:off x="914400" y="1371600"/>
            <a:ext cx="10362600" cy="4114440"/>
          </a:xfrm>
          <a:prstGeom prst="roundRect">
            <a:avLst>
              <a:gd name="adj" fmla="val 16667"/>
            </a:avLst>
          </a:prstGeom>
          <a:solidFill>
            <a:srgbClr val="16213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3" name="TextBox 3"/>
          <p:cNvSpPr/>
          <p:nvPr/>
        </p:nvSpPr>
        <p:spPr>
          <a:xfrm>
            <a:off x="1371600" y="1645920"/>
            <a:ext cx="944820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200" b="1" u="none" strike="noStrike">
                <a:solidFill>
                  <a:srgbClr val="FF6B35"/>
                </a:solidFill>
                <a:effectLst/>
                <a:uFillTx/>
                <a:latin typeface="Calibri"/>
              </a:rPr>
              <a:t>Partie 4 - POO &amp; Git</a:t>
            </a:r>
            <a:endParaRPr lang="fr-FR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" name="TextBox 4"/>
          <p:cNvSpPr/>
          <p:nvPr/>
        </p:nvSpPr>
        <p:spPr>
          <a:xfrm>
            <a:off x="1371600" y="2286000"/>
            <a:ext cx="9448200" cy="164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36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Git - Introduction</a:t>
            </a:r>
            <a:endParaRPr lang="fr-FR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" name="TextBox 5"/>
          <p:cNvSpPr/>
          <p:nvPr/>
        </p:nvSpPr>
        <p:spPr>
          <a:xfrm>
            <a:off x="1371600" y="3840480"/>
            <a:ext cx="944820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6C757D"/>
                </a:solidFill>
                <a:effectLst/>
                <a:uFillTx/>
                <a:latin typeface="Calibri"/>
              </a:rPr>
              <a:t>Pourquoi versionner son code ?</a:t>
            </a:r>
            <a:endParaRPr lang="fr-FR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621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Rectangle 1"/>
          <p:cNvSpPr/>
          <p:nvPr/>
        </p:nvSpPr>
        <p:spPr>
          <a:xfrm>
            <a:off x="0" y="0"/>
            <a:ext cx="72720" cy="6857640"/>
          </a:xfrm>
          <a:prstGeom prst="rect">
            <a:avLst/>
          </a:prstGeom>
          <a:solidFill>
            <a:srgbClr val="00B4D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7" name="TextBox 2"/>
          <p:cNvSpPr/>
          <p:nvPr/>
        </p:nvSpPr>
        <p:spPr>
          <a:xfrm>
            <a:off x="731520" y="457200"/>
            <a:ext cx="100580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00B4D8"/>
                </a:solidFill>
                <a:effectLst/>
                <a:uFillTx/>
                <a:latin typeface="Calibri"/>
              </a:rPr>
              <a:t>Objectifs</a:t>
            </a:r>
            <a:endParaRPr lang="fr-FR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" name="Rounded Rectangle 3"/>
          <p:cNvSpPr/>
          <p:nvPr/>
        </p:nvSpPr>
        <p:spPr>
          <a:xfrm>
            <a:off x="914400" y="1463040"/>
            <a:ext cx="10058040" cy="731160"/>
          </a:xfrm>
          <a:prstGeom prst="roundRect">
            <a:avLst>
              <a:gd name="adj" fmla="val 16667"/>
            </a:avLst>
          </a:prstGeom>
          <a:solidFill>
            <a:srgbClr val="1A1A4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9" name="TextBox 4"/>
          <p:cNvSpPr/>
          <p:nvPr/>
        </p:nvSpPr>
        <p:spPr>
          <a:xfrm>
            <a:off x="1188720" y="1554480"/>
            <a:ext cx="96008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✦ Comprendre le versionnage</a:t>
            </a:r>
            <a:endParaRPr lang="fr-FR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" name="Rounded Rectangle 5"/>
          <p:cNvSpPr/>
          <p:nvPr/>
        </p:nvSpPr>
        <p:spPr>
          <a:xfrm>
            <a:off x="914400" y="2468880"/>
            <a:ext cx="10058040" cy="731160"/>
          </a:xfrm>
          <a:prstGeom prst="roundRect">
            <a:avLst>
              <a:gd name="adj" fmla="val 16667"/>
            </a:avLst>
          </a:prstGeom>
          <a:solidFill>
            <a:srgbClr val="1A1A4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1" name="TextBox 6"/>
          <p:cNvSpPr/>
          <p:nvPr/>
        </p:nvSpPr>
        <p:spPr>
          <a:xfrm>
            <a:off x="1188720" y="2560320"/>
            <a:ext cx="96008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✦ Savoir ce qu'est Git</a:t>
            </a:r>
            <a:endParaRPr lang="fr-FR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" name="Rounded Rectangle 7"/>
          <p:cNvSpPr/>
          <p:nvPr/>
        </p:nvSpPr>
        <p:spPr>
          <a:xfrm>
            <a:off x="914400" y="3474720"/>
            <a:ext cx="10058040" cy="731160"/>
          </a:xfrm>
          <a:prstGeom prst="roundRect">
            <a:avLst>
              <a:gd name="adj" fmla="val 16667"/>
            </a:avLst>
          </a:prstGeom>
          <a:solidFill>
            <a:srgbClr val="1A1A4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3" name="TextBox 8"/>
          <p:cNvSpPr/>
          <p:nvPr/>
        </p:nvSpPr>
        <p:spPr>
          <a:xfrm>
            <a:off x="1188720" y="3566160"/>
            <a:ext cx="96008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✦ Installer et configurer Git</a:t>
            </a:r>
            <a:endParaRPr lang="fr-FR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" name="Rounded Rectangle 9"/>
          <p:cNvSpPr/>
          <p:nvPr/>
        </p:nvSpPr>
        <p:spPr>
          <a:xfrm>
            <a:off x="914400" y="4480560"/>
            <a:ext cx="10058040" cy="731160"/>
          </a:xfrm>
          <a:prstGeom prst="roundRect">
            <a:avLst>
              <a:gd name="adj" fmla="val 16667"/>
            </a:avLst>
          </a:prstGeom>
          <a:solidFill>
            <a:srgbClr val="1A1A4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5" name="TextBox 10"/>
          <p:cNvSpPr/>
          <p:nvPr/>
        </p:nvSpPr>
        <p:spPr>
          <a:xfrm>
            <a:off x="1188720" y="4572000"/>
            <a:ext cx="96008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✦ Créer son premier dépôt</a:t>
            </a:r>
            <a:endParaRPr lang="fr-FR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621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Rectangle 1"/>
          <p:cNvSpPr/>
          <p:nvPr/>
        </p:nvSpPr>
        <p:spPr>
          <a:xfrm>
            <a:off x="0" y="0"/>
            <a:ext cx="12191400" cy="54360"/>
          </a:xfrm>
          <a:prstGeom prst="rect">
            <a:avLst/>
          </a:prstGeom>
          <a:solidFill>
            <a:srgbClr val="FF6B3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7" name="TextBox 2"/>
          <p:cNvSpPr/>
          <p:nvPr/>
        </p:nvSpPr>
        <p:spPr>
          <a:xfrm>
            <a:off x="731520" y="365760"/>
            <a:ext cx="100580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600" b="1" u="none" strike="noStrike">
                <a:solidFill>
                  <a:srgbClr val="FF6B35"/>
                </a:solidFill>
                <a:effectLst/>
                <a:uFillTx/>
                <a:latin typeface="Calibri"/>
              </a:rPr>
              <a:t>Pourquoi versionner son code ?</a:t>
            </a:r>
            <a:endParaRPr lang="fr-FR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" name="TextBox 3"/>
          <p:cNvSpPr/>
          <p:nvPr/>
        </p:nvSpPr>
        <p:spPr>
          <a:xfrm>
            <a:off x="731520" y="1280160"/>
            <a:ext cx="10515240" cy="50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Tu as déjà eu ce problème ?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❌ "mon_projet_final.py" puis "mon_projet_final2.py"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❌ "J'ai supprimé une fonction par erreur et je ne peux pas revenir"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❌ "Je veux essayer une nouvelle idée sans casser mon code"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❌ "Comment travailler à plusieurs sur le même projet ?"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✅ Git résout TOUS ces problèmes !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Git = un système de contrôle de version (VCS)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• Sauvegarde l'HISTORIQUE de chaque fichier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• Permet de REVENIR en arrière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• Permet de CRÉER DES BRANCHES pour expérimenter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• Facilite le TRAVAIL EN ÉQUIPE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Créé par Linus Torvalds (créateur de Linux) en 2005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Aujourd'hui utilisé par presque TOUS les développeurs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621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Rectangle 1"/>
          <p:cNvSpPr/>
          <p:nvPr/>
        </p:nvSpPr>
        <p:spPr>
          <a:xfrm>
            <a:off x="0" y="0"/>
            <a:ext cx="12191400" cy="54360"/>
          </a:xfrm>
          <a:prstGeom prst="rect">
            <a:avLst/>
          </a:prstGeom>
          <a:solidFill>
            <a:srgbClr val="FF6B3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0" name="TextBox 2"/>
          <p:cNvSpPr/>
          <p:nvPr/>
        </p:nvSpPr>
        <p:spPr>
          <a:xfrm>
            <a:off x="731520" y="365760"/>
            <a:ext cx="100580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600" b="1" u="none" strike="noStrike">
                <a:solidFill>
                  <a:srgbClr val="FF6B35"/>
                </a:solidFill>
                <a:effectLst/>
                <a:uFillTx/>
                <a:latin typeface="Calibri"/>
              </a:rPr>
              <a:t>Concepts clés</a:t>
            </a:r>
            <a:endParaRPr lang="fr-FR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" name="TextBox 3"/>
          <p:cNvSpPr/>
          <p:nvPr/>
        </p:nvSpPr>
        <p:spPr>
          <a:xfrm>
            <a:off x="731520" y="1280160"/>
            <a:ext cx="10515240" cy="50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Dépôt (Repository/Repo) : dossier suivi par Git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• LOCAL : sur ton ordinateur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• DISTANT (remote) : sur GitHub, GitLab, etc.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Commit : un INSTANTANÉ (snapshot) de ton projet à un moment T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• Comme une sauvegarde d'un jeu vidéo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• Chaque commit a un message qui décrit les changements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📸 Commit 1 → 📸 Commit 2 → 📸 Commit 3 → ...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Index (Staging Area) : zone intermédiaire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• Tu prépares quels fichiers seront dans le prochain commit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• Tu peux ajouter des fichiers UN PAR UN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📝 Modifier → ➕ Stage → 📸 Commit → 🔄 Push (distant)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Rectangle 1"/>
          <p:cNvSpPr/>
          <p:nvPr/>
        </p:nvSpPr>
        <p:spPr>
          <a:xfrm>
            <a:off x="0" y="0"/>
            <a:ext cx="12191400" cy="54360"/>
          </a:xfrm>
          <a:prstGeom prst="rect">
            <a:avLst/>
          </a:prstGeom>
          <a:solidFill>
            <a:srgbClr val="FF6B3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3" name="TextBox 2"/>
          <p:cNvSpPr/>
          <p:nvPr/>
        </p:nvSpPr>
        <p:spPr>
          <a:xfrm>
            <a:off x="731520" y="274320"/>
            <a:ext cx="100580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6B35"/>
                </a:solidFill>
                <a:effectLst/>
                <a:uFillTx/>
                <a:latin typeface="Calibri"/>
              </a:rPr>
              <a:t>Installer et configurer Git</a:t>
            </a:r>
            <a:endParaRPr lang="fr-FR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" name="Rounded Rectangle 3"/>
          <p:cNvSpPr/>
          <p:nvPr/>
        </p:nvSpPr>
        <p:spPr>
          <a:xfrm>
            <a:off x="731520" y="1097280"/>
            <a:ext cx="10515240" cy="5028840"/>
          </a:xfrm>
          <a:prstGeom prst="roundRect">
            <a:avLst>
              <a:gd name="adj" fmla="val 16667"/>
            </a:avLst>
          </a:prstGeom>
          <a:solidFill>
            <a:srgbClr val="1E1E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5" name="TextBox 4"/>
          <p:cNvSpPr/>
          <p:nvPr/>
        </p:nvSpPr>
        <p:spPr>
          <a:xfrm>
            <a:off x="1005840" y="1234440"/>
            <a:ext cx="9966600" cy="47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# 1. Vérifier si Git est installé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git --version  # git version 2.x.x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# Si pas installé :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# sudo apt install git  (Ubuntu/Debian)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# sudo dnf install git (Fedora)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# https://git-scm.com/  (Windows/macOS)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# 2. Configurer son identité (À FAIRE UNE FOIS)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git config --global user.name "Ton Pseudo"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git config --global user.email "ton.email@example.com"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# 3. Configurer l'éditeur (optionnel)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git config --global core.editor "code --wait"  # VS Code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# 4. Voir la configuration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git config --list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# 5. Couleurs (plus lisible)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git config --global color.ui auto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# Ces infos sont incluses dans chaque commit (d'où l'importance)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Rectangle 1"/>
          <p:cNvSpPr/>
          <p:nvPr/>
        </p:nvSpPr>
        <p:spPr>
          <a:xfrm>
            <a:off x="0" y="0"/>
            <a:ext cx="12191400" cy="54360"/>
          </a:xfrm>
          <a:prstGeom prst="rect">
            <a:avLst/>
          </a:prstGeom>
          <a:solidFill>
            <a:srgbClr val="FF6B3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7" name="TextBox 2"/>
          <p:cNvSpPr/>
          <p:nvPr/>
        </p:nvSpPr>
        <p:spPr>
          <a:xfrm>
            <a:off x="731520" y="274320"/>
            <a:ext cx="100580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6B35"/>
                </a:solidFill>
                <a:effectLst/>
                <a:uFillTx/>
                <a:latin typeface="Calibri"/>
              </a:rPr>
              <a:t>Premier dépôt</a:t>
            </a:r>
            <a:endParaRPr lang="fr-FR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" name="Rounded Rectangle 3"/>
          <p:cNvSpPr/>
          <p:nvPr/>
        </p:nvSpPr>
        <p:spPr>
          <a:xfrm>
            <a:off x="731520" y="1097280"/>
            <a:ext cx="10515240" cy="5028840"/>
          </a:xfrm>
          <a:prstGeom prst="roundRect">
            <a:avLst>
              <a:gd name="adj" fmla="val 16667"/>
            </a:avLst>
          </a:prstGeom>
          <a:solidFill>
            <a:srgbClr val="1E1E2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9" name="TextBox 4"/>
          <p:cNvSpPr/>
          <p:nvPr/>
        </p:nvSpPr>
        <p:spPr>
          <a:xfrm>
            <a:off x="1005840" y="1234440"/>
            <a:ext cx="9966600" cy="47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# 1. Créer un dossier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mkdir mon_premier_projet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cd mon_premier_projet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# 2. Initialiser Git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git init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# Crée un dossier caché .git/ qui contient tout l'historique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# 3. Créer un fichier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echo "print("Hello Git!")" &gt; main.py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# 4. Voir l'état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git status  # main.py est en rouge = non suivi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# 5. Ajouter au stage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git add main.py  # main.py passe en vert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# 6. Premier commit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git commit -m "Premier commit : Hello Git"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# 7. Voir l'historique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CDD6F4"/>
                </a:solidFill>
                <a:effectLst/>
                <a:uFillTx/>
                <a:latin typeface="Consolas"/>
              </a:rPr>
              <a:t>git log  # affiche le commit avec auteur, date, message</a:t>
            </a:r>
            <a:endParaRPr lang="fr-FR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621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Rectangle 1"/>
          <p:cNvSpPr/>
          <p:nvPr/>
        </p:nvSpPr>
        <p:spPr>
          <a:xfrm>
            <a:off x="0" y="0"/>
            <a:ext cx="12191400" cy="54360"/>
          </a:xfrm>
          <a:prstGeom prst="rect">
            <a:avLst/>
          </a:prstGeom>
          <a:solidFill>
            <a:srgbClr val="FF6B3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1" name="TextBox 2"/>
          <p:cNvSpPr/>
          <p:nvPr/>
        </p:nvSpPr>
        <p:spPr>
          <a:xfrm>
            <a:off x="731520" y="365760"/>
            <a:ext cx="100580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600" b="1" u="none" strike="noStrike">
                <a:solidFill>
                  <a:srgbClr val="FF6B35"/>
                </a:solidFill>
                <a:effectLst/>
                <a:uFillTx/>
                <a:latin typeface="Calibri"/>
              </a:rPr>
              <a:t>.gitignore - Ignorer des fichiers</a:t>
            </a:r>
            <a:endParaRPr lang="fr-FR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" name="TextBox 3"/>
          <p:cNvSpPr/>
          <p:nvPr/>
        </p:nvSpPr>
        <p:spPr>
          <a:xfrm>
            <a:off x="731520" y="1280160"/>
            <a:ext cx="10515240" cy="50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Parfois, il ne faut PAS versionner certains fichiers :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❌ Dossier __pycache__/ (cache Python)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❌ .env (clés API, mots de passe)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❌ *.pyc (fichiers compilés)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❌ venv/ (environnement virtuel)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❌ .DS_Store (macOS)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❌ node_modules/ (JavaScript)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❌ Fichiers volumineux (&gt;100 Mo)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Solution : fichier .gitignore à la racine du projet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# .gitignore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__pycache__/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*.pyc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.env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venv/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  *.log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Git ignore automatiquement ces fichiers/dossiers.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621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Rectangle 1"/>
          <p:cNvSpPr/>
          <p:nvPr/>
        </p:nvSpPr>
        <p:spPr>
          <a:xfrm>
            <a:off x="0" y="0"/>
            <a:ext cx="12191400" cy="54360"/>
          </a:xfrm>
          <a:prstGeom prst="rect">
            <a:avLst/>
          </a:prstGeom>
          <a:solidFill>
            <a:srgbClr val="06D6A0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9720" rIns="90000" bIns="9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4" name="TextBox 2"/>
          <p:cNvSpPr/>
          <p:nvPr/>
        </p:nvSpPr>
        <p:spPr>
          <a:xfrm>
            <a:off x="731520" y="365760"/>
            <a:ext cx="100580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600" b="1" u="none" strike="noStrike">
                <a:solidFill>
                  <a:srgbClr val="06D6A0"/>
                </a:solidFill>
                <a:effectLst/>
                <a:uFillTx/>
                <a:latin typeface="Calibri"/>
              </a:rPr>
              <a:t>Exercice : Premier dépôt Git</a:t>
            </a:r>
            <a:endParaRPr lang="fr-FR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" name="Rounded Rectangle 3"/>
          <p:cNvSpPr/>
          <p:nvPr/>
        </p:nvSpPr>
        <p:spPr>
          <a:xfrm>
            <a:off x="731520" y="1097280"/>
            <a:ext cx="10515240" cy="5202720"/>
          </a:xfrm>
          <a:prstGeom prst="roundRect">
            <a:avLst>
              <a:gd name="adj" fmla="val 16667"/>
            </a:avLst>
          </a:prstGeom>
          <a:solidFill>
            <a:srgbClr val="1A1A4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6" name="TextBox 4"/>
          <p:cNvSpPr/>
          <p:nvPr/>
        </p:nvSpPr>
        <p:spPr>
          <a:xfrm>
            <a:off x="1188720" y="1280160"/>
            <a:ext cx="9600840" cy="489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1. Crée un dossier "apprentissage_git"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br>
              <a:rPr sz="1500"/>
            </a:b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2. Initialise un dépôt Git</a:t>
            </a:r>
            <a:br>
              <a:rPr sz="1500"/>
            </a:b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3. Crée 3 fichiers Python : hello.py, calcul.py, et .gitignore</a:t>
            </a:r>
            <a:br>
              <a:rPr sz="1500"/>
            </a:b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4. Dans hello.py : print("Hello!")</a:t>
            </a:r>
            <a:br>
              <a:rPr sz="1500"/>
            </a:b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5. Dans calcul.py : print(2+2)</a:t>
            </a:r>
            <a:br>
              <a:rPr sz="1500"/>
            </a:b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6. Dans .gitignore : ignore __pycache__/ et *.pyc</a:t>
            </a:r>
            <a:br>
              <a:rPr sz="1500"/>
            </a:b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7. Fait git status → observe les fichiers non suivis</a:t>
            </a:r>
            <a:br>
              <a:rPr sz="1500"/>
            </a:b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8. Fait git add . (ajoute tout)</a:t>
            </a:r>
            <a:br>
              <a:rPr sz="1500"/>
            </a:b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9. Fait git commit -m "Premier commit"</a:t>
            </a:r>
            <a:br>
              <a:rPr sz="1500"/>
            </a:b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10. Fait git log pour voir l'historique</a:t>
            </a:r>
            <a:br>
              <a:rPr sz="1500"/>
            </a:b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11. Modifie hello.py et recommence : add + commit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A0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Rectangle 1"/>
          <p:cNvSpPr/>
          <p:nvPr/>
        </p:nvSpPr>
        <p:spPr>
          <a:xfrm>
            <a:off x="0" y="0"/>
            <a:ext cx="72720" cy="6857640"/>
          </a:xfrm>
          <a:prstGeom prst="rect">
            <a:avLst/>
          </a:prstGeom>
          <a:solidFill>
            <a:srgbClr val="FF6B35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8" name="TextBox 2"/>
          <p:cNvSpPr/>
          <p:nvPr/>
        </p:nvSpPr>
        <p:spPr>
          <a:xfrm>
            <a:off x="731520" y="365760"/>
            <a:ext cx="10058040" cy="639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800" b="1" u="none" strike="noStrike">
                <a:solidFill>
                  <a:srgbClr val="FF6B35"/>
                </a:solidFill>
                <a:effectLst/>
                <a:uFillTx/>
                <a:latin typeface="Calibri"/>
              </a:rPr>
              <a:t>À retenir</a:t>
            </a:r>
            <a:endParaRPr lang="fr-FR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" name="Rounded Rectangle 3"/>
          <p:cNvSpPr/>
          <p:nvPr/>
        </p:nvSpPr>
        <p:spPr>
          <a:xfrm>
            <a:off x="914400" y="1371600"/>
            <a:ext cx="10058040" cy="594000"/>
          </a:xfrm>
          <a:prstGeom prst="roundRect">
            <a:avLst>
              <a:gd name="adj" fmla="val 16667"/>
            </a:avLst>
          </a:prstGeom>
          <a:solidFill>
            <a:srgbClr val="16213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0" name="TextBox 4"/>
          <p:cNvSpPr/>
          <p:nvPr/>
        </p:nvSpPr>
        <p:spPr>
          <a:xfrm>
            <a:off x="1188720" y="1417320"/>
            <a:ext cx="96008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DEE2E6"/>
                </a:solidFill>
                <a:effectLst/>
                <a:uFillTx/>
                <a:latin typeface="Calibri"/>
              </a:rPr>
              <a:t>✓ Git = système de contrôle de version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" name="Rounded Rectangle 5"/>
          <p:cNvSpPr/>
          <p:nvPr/>
        </p:nvSpPr>
        <p:spPr>
          <a:xfrm>
            <a:off x="914400" y="2194560"/>
            <a:ext cx="10058040" cy="594000"/>
          </a:xfrm>
          <a:prstGeom prst="roundRect">
            <a:avLst>
              <a:gd name="adj" fmla="val 16667"/>
            </a:avLst>
          </a:prstGeom>
          <a:solidFill>
            <a:srgbClr val="16213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2" name="TextBox 6"/>
          <p:cNvSpPr/>
          <p:nvPr/>
        </p:nvSpPr>
        <p:spPr>
          <a:xfrm>
            <a:off x="1188720" y="2240280"/>
            <a:ext cx="96008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DEE2E6"/>
                </a:solidFill>
                <a:effectLst/>
                <a:uFillTx/>
                <a:latin typeface="Calibri"/>
              </a:rPr>
              <a:t>✓ Dépôt (repo) = dossier suivi par Git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" name="Rounded Rectangle 7"/>
          <p:cNvSpPr/>
          <p:nvPr/>
        </p:nvSpPr>
        <p:spPr>
          <a:xfrm>
            <a:off x="914400" y="3017520"/>
            <a:ext cx="10058040" cy="594000"/>
          </a:xfrm>
          <a:prstGeom prst="roundRect">
            <a:avLst>
              <a:gd name="adj" fmla="val 16667"/>
            </a:avLst>
          </a:prstGeom>
          <a:solidFill>
            <a:srgbClr val="16213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4" name="TextBox 8"/>
          <p:cNvSpPr/>
          <p:nvPr/>
        </p:nvSpPr>
        <p:spPr>
          <a:xfrm>
            <a:off x="1188720" y="3063240"/>
            <a:ext cx="96008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DEE2E6"/>
                </a:solidFill>
                <a:effectLst/>
                <a:uFillTx/>
                <a:latin typeface="Calibri"/>
              </a:rPr>
              <a:t>✓ Commit = instantané du projet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" name="Rounded Rectangle 9"/>
          <p:cNvSpPr/>
          <p:nvPr/>
        </p:nvSpPr>
        <p:spPr>
          <a:xfrm>
            <a:off x="914400" y="3840480"/>
            <a:ext cx="10058040" cy="594000"/>
          </a:xfrm>
          <a:prstGeom prst="roundRect">
            <a:avLst>
              <a:gd name="adj" fmla="val 16667"/>
            </a:avLst>
          </a:prstGeom>
          <a:solidFill>
            <a:srgbClr val="16213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6" name="TextBox 10"/>
          <p:cNvSpPr/>
          <p:nvPr/>
        </p:nvSpPr>
        <p:spPr>
          <a:xfrm>
            <a:off x="1188720" y="3886200"/>
            <a:ext cx="96008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DEE2E6"/>
                </a:solidFill>
                <a:effectLst/>
                <a:uFillTx/>
                <a:latin typeface="Calibri"/>
              </a:rPr>
              <a:t>✓ git init → git add → git commit : cycle de base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" name="Rounded Rectangle 11"/>
          <p:cNvSpPr/>
          <p:nvPr/>
        </p:nvSpPr>
        <p:spPr>
          <a:xfrm>
            <a:off x="914400" y="4663440"/>
            <a:ext cx="10058040" cy="594000"/>
          </a:xfrm>
          <a:prstGeom prst="roundRect">
            <a:avLst>
              <a:gd name="adj" fmla="val 16667"/>
            </a:avLst>
          </a:prstGeom>
          <a:solidFill>
            <a:srgbClr val="16213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8" name="TextBox 12"/>
          <p:cNvSpPr/>
          <p:nvPr/>
        </p:nvSpPr>
        <p:spPr>
          <a:xfrm>
            <a:off x="1188720" y="4709160"/>
            <a:ext cx="96008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DEE2E6"/>
                </a:solidFill>
                <a:effectLst/>
                <a:uFillTx/>
                <a:latin typeface="Calibri"/>
              </a:rPr>
              <a:t>✓ .gitignore = fichiers à ne PAS versionner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" name="Rounded Rectangle 13"/>
          <p:cNvSpPr/>
          <p:nvPr/>
        </p:nvSpPr>
        <p:spPr>
          <a:xfrm>
            <a:off x="914400" y="5486400"/>
            <a:ext cx="10058040" cy="594000"/>
          </a:xfrm>
          <a:prstGeom prst="roundRect">
            <a:avLst>
              <a:gd name="adj" fmla="val 16667"/>
            </a:avLst>
          </a:prstGeom>
          <a:solidFill>
            <a:srgbClr val="16213E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0" name="TextBox 14"/>
          <p:cNvSpPr/>
          <p:nvPr/>
        </p:nvSpPr>
        <p:spPr>
          <a:xfrm>
            <a:off x="1188720" y="5532120"/>
            <a:ext cx="96008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DEE2E6"/>
                </a:solidFill>
                <a:effectLst/>
                <a:uFillTx/>
                <a:latin typeface="Calibri"/>
              </a:rPr>
              <a:t>✓ git log pour voir l'historique</a:t>
            </a:r>
            <a:endParaRPr lang="fr-FR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</TotalTime>
  <Application>LibreOffice/26.2.2.2$Linux_X86_64 LibreOffice_project/620$Build-2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fr-FR</dc:language>
  <cp:lastModifiedBy/>
  <dcterms:modified xsi:type="dcterms:W3CDTF">2026-05-31T23:55:59Z</dcterms:modified>
  <cp:revision>3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