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914400" y="1371600"/>
            <a:ext cx="10362895" cy="4114800"/>
          </a:xfrm>
          <a:prstGeom prst="round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371600" y="1645920"/>
            <a:ext cx="94484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6B35"/>
                </a:solidFill>
                <a:latin typeface="Calibri"/>
              </a:defRPr>
            </a:pPr>
            <a:r>
              <a:t>Partie 4 - POO &amp; Git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2286000"/>
            <a:ext cx="9448495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t>Git - Introduction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3840480"/>
            <a:ext cx="94484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6C757D"/>
                </a:solidFill>
                <a:latin typeface="Calibri"/>
              </a:defRPr>
            </a:pPr>
            <a:r>
              <a:t>Pourquoi versionner son code ?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6213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0B4D8"/>
                </a:solidFill>
                <a:latin typeface="Calibri"/>
              </a:defRPr>
            </a:pPr>
            <a:r>
              <a:t>Objectifs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1463040"/>
            <a:ext cx="10058400" cy="731520"/>
          </a:xfrm>
          <a:prstGeom prst="roundRect">
            <a:avLst/>
          </a:prstGeom>
          <a:solidFill>
            <a:srgbClr val="1A1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88720" y="1554480"/>
            <a:ext cx="9601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FFFFF"/>
                </a:solidFill>
                <a:latin typeface="Calibri"/>
              </a:defRPr>
            </a:pPr>
            <a:r>
              <a:t>✦ Comprendre le versionnage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" y="2468880"/>
            <a:ext cx="10058400" cy="731520"/>
          </a:xfrm>
          <a:prstGeom prst="roundRect">
            <a:avLst/>
          </a:prstGeom>
          <a:solidFill>
            <a:srgbClr val="1A1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88720" y="2560320"/>
            <a:ext cx="9601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FFFFF"/>
                </a:solidFill>
                <a:latin typeface="Calibri"/>
              </a:defRPr>
            </a:pPr>
            <a:r>
              <a:t>✦ Savoir ce qu'est Git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14400" y="3474720"/>
            <a:ext cx="10058400" cy="731520"/>
          </a:xfrm>
          <a:prstGeom prst="roundRect">
            <a:avLst/>
          </a:prstGeom>
          <a:solidFill>
            <a:srgbClr val="1A1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88720" y="3566160"/>
            <a:ext cx="9601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FFFFF"/>
                </a:solidFill>
                <a:latin typeface="Calibri"/>
              </a:defRPr>
            </a:pPr>
            <a:r>
              <a:t>✦ Installer et configurer Git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14400" y="4480560"/>
            <a:ext cx="10058400" cy="731520"/>
          </a:xfrm>
          <a:prstGeom prst="roundRect">
            <a:avLst/>
          </a:prstGeom>
          <a:solidFill>
            <a:srgbClr val="1A1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88720" y="4572000"/>
            <a:ext cx="9601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FFFFF"/>
                </a:solidFill>
                <a:latin typeface="Calibri"/>
              </a:defRPr>
            </a:pPr>
            <a:r>
              <a:t>✦ Créer son premier dépôt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6213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6B35"/>
                </a:solidFill>
                <a:latin typeface="Calibri"/>
              </a:defRPr>
            </a:pPr>
            <a:r>
              <a:t>Pourquoi versionner son code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FFFFFF"/>
                </a:solidFill>
                <a:latin typeface="Calibri"/>
              </a:defRPr>
            </a:pPr>
            <a:r>
              <a:t>Tu as déjà eu ce problème ?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FFFFFF"/>
                </a:solidFill>
                <a:latin typeface="Calibri"/>
              </a:defRPr>
            </a:pPr>
          </a:p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FFFFFF"/>
                </a:solidFill>
                <a:latin typeface="Calibri"/>
              </a:defRPr>
            </a:pPr>
            <a:r>
              <a:t>❌ "mon_projet_final.py" puis "mon_projet_final2.py"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FFFFFF"/>
                </a:solidFill>
                <a:latin typeface="Calibri"/>
              </a:defRPr>
            </a:pPr>
            <a:r>
              <a:t>❌ "J'ai supprimé une fonction par erreur et je ne peux pas revenir"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FFFFFF"/>
                </a:solidFill>
                <a:latin typeface="Calibri"/>
              </a:defRPr>
            </a:pPr>
            <a:r>
              <a:t>❌ "Je veux essayer une nouvelle idée sans casser mon code"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FFFFFF"/>
                </a:solidFill>
                <a:latin typeface="Calibri"/>
              </a:defRPr>
            </a:pPr>
            <a:r>
              <a:t>❌ "Comment travailler à plusieurs sur le même projet ?"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FFFFFF"/>
                </a:solidFill>
                <a:latin typeface="Calibri"/>
              </a:defRPr>
            </a:pPr>
          </a:p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FFFFFF"/>
                </a:solidFill>
                <a:latin typeface="Calibri"/>
              </a:defRPr>
            </a:pPr>
            <a:r>
              <a:t>✅ Git résout TOUS ces problèmes !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FFFFFF"/>
                </a:solidFill>
                <a:latin typeface="Calibri"/>
              </a:defRPr>
            </a:pPr>
          </a:p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FFFFFF"/>
                </a:solidFill>
                <a:latin typeface="Calibri"/>
              </a:defRPr>
            </a:pPr>
            <a:r>
              <a:t>Git = un système de contrôle de version (VCS)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FFFFFF"/>
                </a:solidFill>
                <a:latin typeface="Calibri"/>
              </a:defRPr>
            </a:pPr>
            <a:r>
              <a:t>  • Sauvegarde l'HISTORIQUE de chaque fichier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FFFFFF"/>
                </a:solidFill>
                <a:latin typeface="Calibri"/>
              </a:defRPr>
            </a:pPr>
            <a:r>
              <a:t>  • Permet de REVENIR en arrière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FFFFFF"/>
                </a:solidFill>
                <a:latin typeface="Calibri"/>
              </a:defRPr>
            </a:pPr>
            <a:r>
              <a:t>  • Permet de CRÉER DES BRANCHES pour expérimenter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FFFFFF"/>
                </a:solidFill>
                <a:latin typeface="Calibri"/>
              </a:defRPr>
            </a:pPr>
            <a:r>
              <a:t>  • Facilite le TRAVAIL EN ÉQUIPE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FFFFFF"/>
                </a:solidFill>
                <a:latin typeface="Calibri"/>
              </a:defRPr>
            </a:pPr>
          </a:p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FFFFFF"/>
                </a:solidFill>
                <a:latin typeface="Calibri"/>
              </a:defRPr>
            </a:pPr>
            <a:r>
              <a:t>Créé par Linus Torvalds (créateur de Linux) en 2005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FFFFFF"/>
                </a:solidFill>
                <a:latin typeface="Calibri"/>
              </a:defRPr>
            </a:pPr>
            <a:r>
              <a:t>Aujourd'hui utilisé par presque TOUS les développeurs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6213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6B35"/>
                </a:solidFill>
                <a:latin typeface="Calibri"/>
              </a:defRPr>
            </a:pPr>
            <a:r>
              <a:t>Concepts clés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FFFFFF"/>
                </a:solidFill>
                <a:latin typeface="Calibri"/>
              </a:defRPr>
            </a:pPr>
            <a:r>
              <a:t>Dépôt (Repository/Repo) : dossier suivi par Git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FFFFFF"/>
                </a:solidFill>
                <a:latin typeface="Calibri"/>
              </a:defRPr>
            </a:pPr>
          </a:p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FFFFFF"/>
                </a:solidFill>
                <a:latin typeface="Calibri"/>
              </a:defRPr>
            </a:pPr>
            <a:r>
              <a:t>  • LOCAL : sur ton ordinateur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FFFFFF"/>
                </a:solidFill>
                <a:latin typeface="Calibri"/>
              </a:defRPr>
            </a:pPr>
            <a:r>
              <a:t>  • DISTANT (remote) : sur GitHub, GitLab, etc.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FFFFFF"/>
                </a:solidFill>
                <a:latin typeface="Calibri"/>
              </a:defRPr>
            </a:pPr>
          </a:p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FFFFFF"/>
                </a:solidFill>
                <a:latin typeface="Calibri"/>
              </a:defRPr>
            </a:pPr>
            <a:r>
              <a:t>Commit : un INSTANTANÉ (snapshot) de ton projet à un moment T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FFFFFF"/>
                </a:solidFill>
                <a:latin typeface="Calibri"/>
              </a:defRPr>
            </a:pPr>
            <a:r>
              <a:t>  • Comme une sauvegarde d'un jeu vidéo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FFFFFF"/>
                </a:solidFill>
                <a:latin typeface="Calibri"/>
              </a:defRPr>
            </a:pPr>
            <a:r>
              <a:t>  • Chaque commit a un message qui décrit les changements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FFFFFF"/>
                </a:solidFill>
                <a:latin typeface="Calibri"/>
              </a:defRPr>
            </a:pPr>
          </a:p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FFFFFF"/>
                </a:solidFill>
                <a:latin typeface="Calibri"/>
              </a:defRPr>
            </a:pPr>
            <a:r>
              <a:t>  📸 Commit 1 → 📸 Commit 2 → 📸 Commit 3 → ...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FFFFFF"/>
                </a:solidFill>
                <a:latin typeface="Calibri"/>
              </a:defRPr>
            </a:pPr>
          </a:p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FFFFFF"/>
                </a:solidFill>
                <a:latin typeface="Calibri"/>
              </a:defRPr>
            </a:pPr>
            <a:r>
              <a:t>Index (Staging Area) : zone intermédiaire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FFFFFF"/>
                </a:solidFill>
                <a:latin typeface="Calibri"/>
              </a:defRPr>
            </a:pPr>
            <a:r>
              <a:t>  • Tu prépares quels fichiers seront dans le prochain commit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FFFFFF"/>
                </a:solidFill>
                <a:latin typeface="Calibri"/>
              </a:defRPr>
            </a:pPr>
            <a:r>
              <a:t>  • Tu peux ajouter des fichiers UN PAR UN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FFFFFF"/>
                </a:solidFill>
                <a:latin typeface="Calibri"/>
              </a:defRPr>
            </a:pPr>
          </a:p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FFFFFF"/>
                </a:solidFill>
                <a:latin typeface="Calibri"/>
              </a:defRPr>
            </a:pPr>
            <a:r>
              <a:t>  📝 Modifier → ➕ Stage → 📸 Commit → 🔄 Push (distant)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6B35"/>
                </a:solidFill>
                <a:latin typeface="Calibri"/>
              </a:defRPr>
            </a:pPr>
            <a:r>
              <a:t>Installer et configurer Git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097280"/>
            <a:ext cx="10515600" cy="5029200"/>
          </a:xfrm>
          <a:prstGeom prst="round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1234440"/>
            <a:ext cx="99669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CDD6F4"/>
                </a:solidFill>
                <a:latin typeface="Consolas"/>
              </a:defRPr>
            </a:pPr>
            <a:r>
              <a:t># 1. Vérifier si Git est installé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CDD6F4"/>
                </a:solidFill>
                <a:latin typeface="Consolas"/>
              </a:defRPr>
            </a:pPr>
            <a:r>
              <a:t>git --version  # git version 2.x.x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CDD6F4"/>
                </a:solidFill>
                <a:latin typeface="Consolas"/>
              </a:defRPr>
            </a:pPr>
          </a:p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CDD6F4"/>
                </a:solidFill>
                <a:latin typeface="Consolas"/>
              </a:defRPr>
            </a:pPr>
            <a:r>
              <a:t># Si pas installé :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CDD6F4"/>
                </a:solidFill>
                <a:latin typeface="Consolas"/>
              </a:defRPr>
            </a:pPr>
            <a:r>
              <a:t># sudo apt install git  (Ubuntu/Debian)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CDD6F4"/>
                </a:solidFill>
                <a:latin typeface="Consolas"/>
              </a:defRPr>
            </a:pPr>
            <a:r>
              <a:t># sudo dnf install git (Fedora)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CDD6F4"/>
                </a:solidFill>
                <a:latin typeface="Consolas"/>
              </a:defRPr>
            </a:pPr>
            <a:r>
              <a:t># https://git-scm.com/  (Windows/macOS)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CDD6F4"/>
                </a:solidFill>
                <a:latin typeface="Consolas"/>
              </a:defRPr>
            </a:pPr>
          </a:p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CDD6F4"/>
                </a:solidFill>
                <a:latin typeface="Consolas"/>
              </a:defRPr>
            </a:pPr>
            <a:r>
              <a:t># 2. Configurer son identité (À FAIRE UNE FOIS)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CDD6F4"/>
                </a:solidFill>
                <a:latin typeface="Consolas"/>
              </a:defRPr>
            </a:pPr>
            <a:r>
              <a:t>git config --global user.name "Ton Pseudo"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CDD6F4"/>
                </a:solidFill>
                <a:latin typeface="Consolas"/>
              </a:defRPr>
            </a:pPr>
            <a:r>
              <a:t>git config --global user.email "ton.email@example.com"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CDD6F4"/>
                </a:solidFill>
                <a:latin typeface="Consolas"/>
              </a:defRPr>
            </a:pPr>
          </a:p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CDD6F4"/>
                </a:solidFill>
                <a:latin typeface="Consolas"/>
              </a:defRPr>
            </a:pPr>
            <a:r>
              <a:t># 3. Configurer l'éditeur (optionnel)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CDD6F4"/>
                </a:solidFill>
                <a:latin typeface="Consolas"/>
              </a:defRPr>
            </a:pPr>
            <a:r>
              <a:t>git config --global core.editor "code --wait"  # VS Code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CDD6F4"/>
                </a:solidFill>
                <a:latin typeface="Consolas"/>
              </a:defRPr>
            </a:pPr>
          </a:p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CDD6F4"/>
                </a:solidFill>
                <a:latin typeface="Consolas"/>
              </a:defRPr>
            </a:pPr>
            <a:r>
              <a:t># 4. Voir la configuration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CDD6F4"/>
                </a:solidFill>
                <a:latin typeface="Consolas"/>
              </a:defRPr>
            </a:pPr>
            <a:r>
              <a:t>git config --list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CDD6F4"/>
                </a:solidFill>
                <a:latin typeface="Consolas"/>
              </a:defRPr>
            </a:pPr>
          </a:p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CDD6F4"/>
                </a:solidFill>
                <a:latin typeface="Consolas"/>
              </a:defRPr>
            </a:pPr>
            <a:r>
              <a:t># 5. Couleurs (plus lisible)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CDD6F4"/>
                </a:solidFill>
                <a:latin typeface="Consolas"/>
              </a:defRPr>
            </a:pPr>
            <a:r>
              <a:t>git config --global color.ui auto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CDD6F4"/>
                </a:solidFill>
                <a:latin typeface="Consolas"/>
              </a:defRPr>
            </a:pPr>
          </a:p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CDD6F4"/>
                </a:solidFill>
                <a:latin typeface="Consolas"/>
              </a:defRPr>
            </a:pPr>
            <a:r>
              <a:t># Ces infos sont incluses dans chaque commit (d'où l'importance)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6B35"/>
                </a:solidFill>
                <a:latin typeface="Calibri"/>
              </a:defRPr>
            </a:pPr>
            <a:r>
              <a:t>Premier dépôt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097280"/>
            <a:ext cx="10515600" cy="5029200"/>
          </a:xfrm>
          <a:prstGeom prst="round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1234440"/>
            <a:ext cx="99669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CDD6F4"/>
                </a:solidFill>
                <a:latin typeface="Consolas"/>
              </a:defRPr>
            </a:pPr>
            <a:r>
              <a:t># 1. Créer un dossier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CDD6F4"/>
                </a:solidFill>
                <a:latin typeface="Consolas"/>
              </a:defRPr>
            </a:pPr>
            <a:r>
              <a:t>mkdir mon_premier_projet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CDD6F4"/>
                </a:solidFill>
                <a:latin typeface="Consolas"/>
              </a:defRPr>
            </a:pPr>
            <a:r>
              <a:t>cd mon_premier_projet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CDD6F4"/>
                </a:solidFill>
                <a:latin typeface="Consolas"/>
              </a:defRPr>
            </a:pPr>
          </a:p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CDD6F4"/>
                </a:solidFill>
                <a:latin typeface="Consolas"/>
              </a:defRPr>
            </a:pPr>
            <a:r>
              <a:t># 2. Initialiser Git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CDD6F4"/>
                </a:solidFill>
                <a:latin typeface="Consolas"/>
              </a:defRPr>
            </a:pPr>
            <a:r>
              <a:t>git init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CDD6F4"/>
                </a:solidFill>
                <a:latin typeface="Consolas"/>
              </a:defRPr>
            </a:pPr>
            <a:r>
              <a:t># Crée un dossier caché .git/ qui contient tout l'historique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CDD6F4"/>
                </a:solidFill>
                <a:latin typeface="Consolas"/>
              </a:defRPr>
            </a:pPr>
          </a:p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CDD6F4"/>
                </a:solidFill>
                <a:latin typeface="Consolas"/>
              </a:defRPr>
            </a:pPr>
            <a:r>
              <a:t># 3. Créer un fichier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CDD6F4"/>
                </a:solidFill>
                <a:latin typeface="Consolas"/>
              </a:defRPr>
            </a:pPr>
            <a:r>
              <a:t>echo "print("Hello Git!")" &gt; main.py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CDD6F4"/>
                </a:solidFill>
                <a:latin typeface="Consolas"/>
              </a:defRPr>
            </a:pPr>
          </a:p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CDD6F4"/>
                </a:solidFill>
                <a:latin typeface="Consolas"/>
              </a:defRPr>
            </a:pPr>
            <a:r>
              <a:t># 4. Voir l'état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CDD6F4"/>
                </a:solidFill>
                <a:latin typeface="Consolas"/>
              </a:defRPr>
            </a:pPr>
            <a:r>
              <a:t>git status  # main.py est en rouge = non suivi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CDD6F4"/>
                </a:solidFill>
                <a:latin typeface="Consolas"/>
              </a:defRPr>
            </a:pPr>
          </a:p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CDD6F4"/>
                </a:solidFill>
                <a:latin typeface="Consolas"/>
              </a:defRPr>
            </a:pPr>
            <a:r>
              <a:t># 5. Ajouter au stage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CDD6F4"/>
                </a:solidFill>
                <a:latin typeface="Consolas"/>
              </a:defRPr>
            </a:pPr>
            <a:r>
              <a:t>git add main.py  # main.py passe en vert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CDD6F4"/>
                </a:solidFill>
                <a:latin typeface="Consolas"/>
              </a:defRPr>
            </a:pPr>
          </a:p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CDD6F4"/>
                </a:solidFill>
                <a:latin typeface="Consolas"/>
              </a:defRPr>
            </a:pPr>
            <a:r>
              <a:t># 6. Premier commit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CDD6F4"/>
                </a:solidFill>
                <a:latin typeface="Consolas"/>
              </a:defRPr>
            </a:pPr>
            <a:r>
              <a:t>git commit -m "Premier commit : Hello Git"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CDD6F4"/>
                </a:solidFill>
                <a:latin typeface="Consolas"/>
              </a:defRPr>
            </a:pPr>
          </a:p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CDD6F4"/>
                </a:solidFill>
                <a:latin typeface="Consolas"/>
              </a:defRPr>
            </a:pPr>
            <a:r>
              <a:t># 7. Voir l'historique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CDD6F4"/>
                </a:solidFill>
                <a:latin typeface="Consolas"/>
              </a:defRPr>
            </a:pPr>
            <a:r>
              <a:t>git log  # affiche le commit avec auteur, date, message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6213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6B35"/>
                </a:solidFill>
                <a:latin typeface="Calibri"/>
              </a:defRPr>
            </a:pPr>
            <a:r>
              <a:t>.gitignore - Ignorer des fichiers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FFFFFF"/>
                </a:solidFill>
                <a:latin typeface="Calibri"/>
              </a:defRPr>
            </a:pPr>
            <a:r>
              <a:t>Parfois, il ne faut PAS versionner certains fichiers :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FFFFFF"/>
                </a:solidFill>
                <a:latin typeface="Calibri"/>
              </a:defRPr>
            </a:pPr>
          </a:p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FFFFFF"/>
                </a:solidFill>
                <a:latin typeface="Calibri"/>
              </a:defRPr>
            </a:pPr>
            <a:r>
              <a:t>❌ Dossier __pycache__/ (cache Python)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FFFFFF"/>
                </a:solidFill>
                <a:latin typeface="Calibri"/>
              </a:defRPr>
            </a:pPr>
            <a:r>
              <a:t>❌ .env (clés API, mots de passe)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FFFFFF"/>
                </a:solidFill>
                <a:latin typeface="Calibri"/>
              </a:defRPr>
            </a:pPr>
            <a:r>
              <a:t>❌ *.pyc (fichiers compilés)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FFFFFF"/>
                </a:solidFill>
                <a:latin typeface="Calibri"/>
              </a:defRPr>
            </a:pPr>
            <a:r>
              <a:t>❌ venv/ (environnement virtuel)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FFFFFF"/>
                </a:solidFill>
                <a:latin typeface="Calibri"/>
              </a:defRPr>
            </a:pPr>
            <a:r>
              <a:t>❌ .DS_Store (macOS)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FFFFFF"/>
                </a:solidFill>
                <a:latin typeface="Calibri"/>
              </a:defRPr>
            </a:pPr>
            <a:r>
              <a:t>❌ node_modules/ (JavaScript)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FFFFFF"/>
                </a:solidFill>
                <a:latin typeface="Calibri"/>
              </a:defRPr>
            </a:pPr>
            <a:r>
              <a:t>❌ Fichiers volumineux (&gt;100 Mo)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FFFFFF"/>
                </a:solidFill>
                <a:latin typeface="Calibri"/>
              </a:defRPr>
            </a:pPr>
          </a:p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FFFFFF"/>
                </a:solidFill>
                <a:latin typeface="Calibri"/>
              </a:defRPr>
            </a:pPr>
            <a:r>
              <a:t>Solution : fichier .gitignore à la racine du projet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FFFFFF"/>
                </a:solidFill>
                <a:latin typeface="Calibri"/>
              </a:defRPr>
            </a:pPr>
          </a:p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FFFFFF"/>
                </a:solidFill>
                <a:latin typeface="Calibri"/>
              </a:defRPr>
            </a:pPr>
            <a:r>
              <a:t>  # .gitignore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FFFFFF"/>
                </a:solidFill>
                <a:latin typeface="Calibri"/>
              </a:defRPr>
            </a:pPr>
            <a:r>
              <a:t>  __pycache__/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FFFFFF"/>
                </a:solidFill>
                <a:latin typeface="Calibri"/>
              </a:defRPr>
            </a:pPr>
            <a:r>
              <a:t>  *.pyc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FFFFFF"/>
                </a:solidFill>
                <a:latin typeface="Calibri"/>
              </a:defRPr>
            </a:pPr>
            <a:r>
              <a:t>  .env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FFFFFF"/>
                </a:solidFill>
                <a:latin typeface="Calibri"/>
              </a:defRPr>
            </a:pPr>
            <a:r>
              <a:t>  venv/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FFFFFF"/>
                </a:solidFill>
                <a:latin typeface="Calibri"/>
              </a:defRPr>
            </a:pPr>
            <a:r>
              <a:t>  *.log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FFFFFF"/>
                </a:solidFill>
                <a:latin typeface="Calibri"/>
              </a:defRPr>
            </a:pPr>
          </a:p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FFFFFF"/>
                </a:solidFill>
                <a:latin typeface="Calibri"/>
              </a:defRPr>
            </a:pPr>
            <a:r>
              <a:t>Git ignore automatiquement ces fichiers/dossiers.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6213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6D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06D6A0"/>
                </a:solidFill>
                <a:latin typeface="Calibri"/>
              </a:defRPr>
            </a:pPr>
            <a:r>
              <a:t>Exercice : Premier dépôt Git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097280"/>
            <a:ext cx="10515600" cy="3200400"/>
          </a:xfrm>
          <a:prstGeom prst="roundRect">
            <a:avLst/>
          </a:prstGeom>
          <a:solidFill>
            <a:srgbClr val="1A1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88720" y="1280160"/>
            <a:ext cx="960120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FFFFFF"/>
                </a:solidFill>
                <a:latin typeface="Calibri"/>
              </a:defRPr>
            </a:pPr>
            <a:r>
              <a:t>1. Crée un dossier "apprentissage_git"</a:t>
            </a:r>
            <a:br/>
            <a:r>
              <a:t>2. Initialise un dépôt Git</a:t>
            </a:r>
            <a:br/>
            <a:r>
              <a:t>3. Crée 3 fichiers Python : hello.py, calcul.py, et .gitignore</a:t>
            </a:r>
            <a:br/>
            <a:r>
              <a:t>4. Dans hello.py : print("Hello!")</a:t>
            </a:r>
            <a:br/>
            <a:r>
              <a:t>5. Dans calcul.py : print(2+2)</a:t>
            </a:r>
            <a:br/>
            <a:r>
              <a:t>6. Dans .gitignore : ignore __pycache__/ et *.pyc</a:t>
            </a:r>
            <a:br/>
            <a:r>
              <a:t>7. Fait git status → observe les fichiers non suivis</a:t>
            </a:r>
            <a:br/>
            <a:r>
              <a:t>8. Fait git add . (ajoute tout)</a:t>
            </a:r>
            <a:br/>
            <a:r>
              <a:t>9. Fait git commit -m "Premier commit"</a:t>
            </a:r>
            <a:br/>
            <a:r>
              <a:t>10. Fait git log pour voir l'historique</a:t>
            </a:r>
            <a:br/>
            <a:r>
              <a:t>11. Modifie hello.py et recommence : add + commit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6B35"/>
                </a:solidFill>
                <a:latin typeface="Calibri"/>
              </a:defRPr>
            </a:pPr>
            <a:r>
              <a:t>À retenir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1371600"/>
            <a:ext cx="10058400" cy="594360"/>
          </a:xfrm>
          <a:prstGeom prst="round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88720" y="1417320"/>
            <a:ext cx="9601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DEE2E6"/>
                </a:solidFill>
                <a:latin typeface="Calibri"/>
              </a:defRPr>
            </a:pPr>
            <a:r>
              <a:t>✓ Git = système de contrôle de version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" y="2194560"/>
            <a:ext cx="10058400" cy="594360"/>
          </a:xfrm>
          <a:prstGeom prst="round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88720" y="2240280"/>
            <a:ext cx="9601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DEE2E6"/>
                </a:solidFill>
                <a:latin typeface="Calibri"/>
              </a:defRPr>
            </a:pPr>
            <a:r>
              <a:t>✓ Dépôt (repo) = dossier suivi par Git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14400" y="3017520"/>
            <a:ext cx="10058400" cy="594360"/>
          </a:xfrm>
          <a:prstGeom prst="round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88720" y="3063240"/>
            <a:ext cx="9601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DEE2E6"/>
                </a:solidFill>
                <a:latin typeface="Calibri"/>
              </a:defRPr>
            </a:pPr>
            <a:r>
              <a:t>✓ Commit = instantané du projet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14400" y="3840480"/>
            <a:ext cx="10058400" cy="594360"/>
          </a:xfrm>
          <a:prstGeom prst="round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88720" y="3886200"/>
            <a:ext cx="9601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DEE2E6"/>
                </a:solidFill>
                <a:latin typeface="Calibri"/>
              </a:defRPr>
            </a:pPr>
            <a:r>
              <a:t>✓ git init → git add → git commit : cycle de base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14400" y="4663440"/>
            <a:ext cx="10058400" cy="594360"/>
          </a:xfrm>
          <a:prstGeom prst="round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88720" y="4709160"/>
            <a:ext cx="9601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DEE2E6"/>
                </a:solidFill>
                <a:latin typeface="Calibri"/>
              </a:defRPr>
            </a:pPr>
            <a:r>
              <a:t>✓ .gitignore = fichiers à ne PAS versionner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14400" y="5486400"/>
            <a:ext cx="10058400" cy="594360"/>
          </a:xfrm>
          <a:prstGeom prst="round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188720" y="5532120"/>
            <a:ext cx="9601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DEE2E6"/>
                </a:solidFill>
                <a:latin typeface="Calibri"/>
              </a:defRPr>
            </a:pPr>
            <a:r>
              <a:t>✓ git log pour voir l'historique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