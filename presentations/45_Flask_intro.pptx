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2A20028-1288-45E7-AED6-B90A6914B6A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9696CF0-0049-425E-91E0-A603BABBB3E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0F199A0-01F8-42C6-83B7-BBDC420317C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3F3E90B-08E7-4312-B4B7-E4BBD5E2D2E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DBBCA97-9326-4DD1-9AF0-41FE1E82A85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7161E38-6146-4AA1-9C3A-F76B261A970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EEEEAF4-3AE8-4587-81DF-F4F354D1E63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0C32DB9-0963-49DE-80B1-4282D3D674A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95116C1-A435-4799-8000-B239781FEB5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format du texte-titre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format du plan de texte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niveau de plan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Troisième niveau de plan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Quatrième niveau de plan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Cinquième niveau de plan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Sixième niveau de plan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Septième niveau de plan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6C2C668-63D4-4434-A2D7-1BAEAED3DD3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format du plan de texte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niveau de plan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Troisième niveau de plan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Quatrième niveau de plan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Cinquième niveau de plan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Sixième niveau de plan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Septième niveau de plan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E225FB2-5173-4CEC-BEDA-3593093AD7F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12191400" cy="54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Rounded Rectangle 2"/>
          <p:cNvSpPr/>
          <p:nvPr/>
        </p:nvSpPr>
        <p:spPr>
          <a:xfrm>
            <a:off x="914400" y="1371600"/>
            <a:ext cx="10362600" cy="4114440"/>
          </a:xfrm>
          <a:prstGeom prst="roundRect">
            <a:avLst>
              <a:gd name="adj" fmla="val 16667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1371600" y="1645920"/>
            <a:ext cx="94482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Partie 5 - Projets Avancés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1371600" y="2286000"/>
            <a:ext cx="944820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Introduction à Flask</a:t>
            </a:r>
            <a:endParaRPr lang="fr-FR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5"/>
          <p:cNvSpPr/>
          <p:nvPr/>
        </p:nvSpPr>
        <p:spPr>
          <a:xfrm>
            <a:off x="1371600" y="3840480"/>
            <a:ext cx="94482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Créer des applications web avec Python</a:t>
            </a:r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1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00B4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" name="TextBox 2"/>
          <p:cNvSpPr/>
          <p:nvPr/>
        </p:nvSpPr>
        <p:spPr>
          <a:xfrm>
            <a:off x="731520" y="457200"/>
            <a:ext cx="100580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0B4D8"/>
                </a:solidFill>
                <a:effectLst/>
                <a:uFillTx/>
                <a:latin typeface="Calibri"/>
              </a:rPr>
              <a:t>Objectifs</a:t>
            </a:r>
            <a:endParaRPr lang="fr-F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Rounded Rectangle 3"/>
          <p:cNvSpPr/>
          <p:nvPr/>
        </p:nvSpPr>
        <p:spPr>
          <a:xfrm>
            <a:off x="914400" y="1463040"/>
            <a:ext cx="10058040" cy="731160"/>
          </a:xfrm>
          <a:prstGeom prst="roundRect">
            <a:avLst>
              <a:gd name="adj" fmla="val 16667"/>
            </a:avLst>
          </a:prstGeom>
          <a:solidFill>
            <a:srgbClr val="1A1A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" name="TextBox 4"/>
          <p:cNvSpPr/>
          <p:nvPr/>
        </p:nvSpPr>
        <p:spPr>
          <a:xfrm>
            <a:off x="1188720" y="1554480"/>
            <a:ext cx="9600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✦ Comprendre le web (côté serveur)</a:t>
            </a:r>
            <a:endParaRPr lang="fr-F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Rounded Rectangle 5"/>
          <p:cNvSpPr/>
          <p:nvPr/>
        </p:nvSpPr>
        <p:spPr>
          <a:xfrm>
            <a:off x="914400" y="2468880"/>
            <a:ext cx="10058040" cy="731160"/>
          </a:xfrm>
          <a:prstGeom prst="roundRect">
            <a:avLst>
              <a:gd name="adj" fmla="val 16667"/>
            </a:avLst>
          </a:prstGeom>
          <a:solidFill>
            <a:srgbClr val="1A1A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6"/>
          <p:cNvSpPr/>
          <p:nvPr/>
        </p:nvSpPr>
        <p:spPr>
          <a:xfrm>
            <a:off x="1188720" y="2560320"/>
            <a:ext cx="9600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✦ Installer Flask</a:t>
            </a:r>
            <a:endParaRPr lang="fr-F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Rounded Rectangle 7"/>
          <p:cNvSpPr/>
          <p:nvPr/>
        </p:nvSpPr>
        <p:spPr>
          <a:xfrm>
            <a:off x="914400" y="3474720"/>
            <a:ext cx="10058040" cy="731160"/>
          </a:xfrm>
          <a:prstGeom prst="roundRect">
            <a:avLst>
              <a:gd name="adj" fmla="val 16667"/>
            </a:avLst>
          </a:prstGeom>
          <a:solidFill>
            <a:srgbClr val="1A1A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8"/>
          <p:cNvSpPr/>
          <p:nvPr/>
        </p:nvSpPr>
        <p:spPr>
          <a:xfrm>
            <a:off x="1188720" y="3566160"/>
            <a:ext cx="9600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✦ Créer des routes et vues</a:t>
            </a:r>
            <a:endParaRPr lang="fr-F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Rounded Rectangle 9"/>
          <p:cNvSpPr/>
          <p:nvPr/>
        </p:nvSpPr>
        <p:spPr>
          <a:xfrm>
            <a:off x="914400" y="4480560"/>
            <a:ext cx="10058040" cy="731160"/>
          </a:xfrm>
          <a:prstGeom prst="roundRect">
            <a:avLst>
              <a:gd name="adj" fmla="val 16667"/>
            </a:avLst>
          </a:prstGeom>
          <a:solidFill>
            <a:srgbClr val="1A1A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TextBox 10"/>
          <p:cNvSpPr/>
          <p:nvPr/>
        </p:nvSpPr>
        <p:spPr>
          <a:xfrm>
            <a:off x="1188720" y="4572000"/>
            <a:ext cx="9600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✦ Afficher des pages HTML</a:t>
            </a:r>
            <a:endParaRPr lang="fr-F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 1"/>
          <p:cNvSpPr/>
          <p:nvPr/>
        </p:nvSpPr>
        <p:spPr>
          <a:xfrm>
            <a:off x="0" y="0"/>
            <a:ext cx="12191400" cy="54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TextBox 2"/>
          <p:cNvSpPr/>
          <p:nvPr/>
        </p:nvSpPr>
        <p:spPr>
          <a:xfrm>
            <a:off x="731520" y="365760"/>
            <a:ext cx="100580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Du code console au web</a:t>
            </a:r>
            <a:endParaRPr lang="fr-F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3"/>
          <p:cNvSpPr/>
          <p:nvPr/>
        </p:nvSpPr>
        <p:spPr>
          <a:xfrm>
            <a:off x="731520" y="1280160"/>
            <a:ext cx="1051524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Jusqu'à présent : programmes en LIGNE DE COMMANDE.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Terminal : python main.py → l'utilisateur tape des réponses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Avec Flask : on crée un SITE WEB !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Navigateur : http://localhost:5000 → clics, formulaires, pages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Flask = micro-framework web Python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Léger, simple à apprendre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Suffisant pour faire des vrais sites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Extensible avec des extensions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Comment ça marche :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1. Tu définis des ROUTES (URLs) dans ton code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2. Chaque route est liée à une FONCTION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3. La fonction retourne du HTML à afficher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/ (accueil) → def accueil(): return "&lt;h1&gt;Bonjour !&lt;/h1&gt;"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1"/>
          <p:cNvSpPr/>
          <p:nvPr/>
        </p:nvSpPr>
        <p:spPr>
          <a:xfrm>
            <a:off x="0" y="0"/>
            <a:ext cx="12191400" cy="54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2"/>
          <p:cNvSpPr/>
          <p:nvPr/>
        </p:nvSpPr>
        <p:spPr>
          <a:xfrm>
            <a:off x="731520" y="365760"/>
            <a:ext cx="100580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Installation et première app</a:t>
            </a:r>
            <a:endParaRPr lang="fr-F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"/>
          <p:cNvSpPr/>
          <p:nvPr/>
        </p:nvSpPr>
        <p:spPr>
          <a:xfrm>
            <a:off x="731520" y="1280160"/>
            <a:ext cx="1051524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Prérequis :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pip install flask  # (dans un venv !)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Plus simple d'installer :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# Créer un venv d'abord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python -m venv .venv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source .venv/bin/activate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pip install flask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Première app (app.py) :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from flask import Flask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app = Flask(__name__)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@app.route("/")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def accueil():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   return "Hello, Web !"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if __name__ == "__main__":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   app.run(debug=True)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Lancer : python app.py → http://localhost:5000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1"/>
          <p:cNvSpPr/>
          <p:nvPr/>
        </p:nvSpPr>
        <p:spPr>
          <a:xfrm>
            <a:off x="0" y="0"/>
            <a:ext cx="12191400" cy="54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" name="TextBox 2"/>
          <p:cNvSpPr/>
          <p:nvPr/>
        </p:nvSpPr>
        <p:spPr>
          <a:xfrm>
            <a:off x="731520" y="27432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Routes et paramètres</a:t>
            </a:r>
            <a:endParaRPr lang="fr-F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Rounded Rectangle 3"/>
          <p:cNvSpPr/>
          <p:nvPr/>
        </p:nvSpPr>
        <p:spPr>
          <a:xfrm>
            <a:off x="731520" y="1097280"/>
            <a:ext cx="10515240" cy="5028840"/>
          </a:xfrm>
          <a:prstGeom prst="roundRect">
            <a:avLst>
              <a:gd name="adj" fmla="val 16667"/>
            </a:avLst>
          </a:prstGeom>
          <a:solidFill>
            <a:srgbClr val="1E1E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TextBox 4"/>
          <p:cNvSpPr/>
          <p:nvPr/>
        </p:nvSpPr>
        <p:spPr>
          <a:xfrm>
            <a:off x="1005840" y="1234440"/>
            <a:ext cx="996660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from flask import Flask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app = Flask(__name__)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Route simple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@app.route("/")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def accueil():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return "&lt;h1&gt;Bienvenue !&lt;/h1&gt;"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Plusieurs routes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@app.route("/a-propos")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def a_propos():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return "&lt;p&gt;Apprentissage Python&lt;/p&gt;"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Route avec paramètre dans l'URL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@app.route("/utilisateur/&lt;nom&gt;")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def profil(nom):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return f"&lt;h2&gt;Profil de {nom}&lt;/h2&gt;"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Route avec paramètre typé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@app.route("/carrer/&lt;int:nombre&gt;")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def carre(nombre):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return f"&lt;p&gt;{nombre}² = {nombre**2}&lt;/p&gt;"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Routes avec plusieurs paramètres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@app.route("/addition/&lt;int:a&gt;/&lt;int:b&gt;")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def addition(a, b):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return f"{a} + {b} = {a+b}"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Rectangle 1"/>
          <p:cNvSpPr/>
          <p:nvPr/>
        </p:nvSpPr>
        <p:spPr>
          <a:xfrm>
            <a:off x="0" y="0"/>
            <a:ext cx="12191400" cy="54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Box 2"/>
          <p:cNvSpPr/>
          <p:nvPr/>
        </p:nvSpPr>
        <p:spPr>
          <a:xfrm>
            <a:off x="731520" y="27432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Afficher du vrai HTML</a:t>
            </a:r>
            <a:endParaRPr lang="fr-F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Rounded Rectangle 3"/>
          <p:cNvSpPr/>
          <p:nvPr/>
        </p:nvSpPr>
        <p:spPr>
          <a:xfrm>
            <a:off x="731520" y="1097280"/>
            <a:ext cx="10515240" cy="5028840"/>
          </a:xfrm>
          <a:prstGeom prst="roundRect">
            <a:avLst>
              <a:gd name="adj" fmla="val 16667"/>
            </a:avLst>
          </a:prstGeom>
          <a:solidFill>
            <a:srgbClr val="1E1E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TextBox 4"/>
          <p:cNvSpPr/>
          <p:nvPr/>
        </p:nvSpPr>
        <p:spPr>
          <a:xfrm>
            <a:off x="1005840" y="1234440"/>
            <a:ext cx="996660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from flask import Flask, render_template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app = Flask(__name__)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Les templates HTML vont dans dossier templates/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@app.route("/")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def accueil():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return render_template("accueil.html")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@app.route("/bonjour/&lt;nom&gt;")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def bonjour(nom):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return render_template("bonjour.html", nom=nom, age=25)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templates/accueil.html :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&lt;!DOCTYPE html&gt;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&lt;html&gt;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&lt;head&gt;&lt;title&gt;Accueil&lt;/title&gt;&lt;/head&gt;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&lt;body&gt;&lt;h1&gt;Bienvenue !&lt;/h1&gt;&lt;/body&gt;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&lt;/html&gt;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templates/bonjour.html :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&lt;h1&gt;Bonjour {{ nom }} !&lt;/h1&gt;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&lt;p&gt;Tu as {{ age }} ans.&lt;/p&gt;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{{ variable }} = Jinja2 (moteur de templates)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On peut aussi faire : {% if %} {% for %}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tangle 1"/>
          <p:cNvSpPr/>
          <p:nvPr/>
        </p:nvSpPr>
        <p:spPr>
          <a:xfrm>
            <a:off x="0" y="0"/>
            <a:ext cx="12191400" cy="54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TextBox 2"/>
          <p:cNvSpPr/>
          <p:nvPr/>
        </p:nvSpPr>
        <p:spPr>
          <a:xfrm>
            <a:off x="731520" y="365760"/>
            <a:ext cx="100580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Jinja2 - Templates dynamiques</a:t>
            </a:r>
            <a:endParaRPr lang="fr-F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3"/>
          <p:cNvSpPr/>
          <p:nvPr/>
        </p:nvSpPr>
        <p:spPr>
          <a:xfrm>
            <a:off x="731520" y="1280160"/>
            <a:ext cx="1051524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Jinja2 = moteur de templates intégré à Flask.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&lt;h1&gt;Bonjour {{ nom }}!&lt;/h1&gt;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{% if age &gt;= 18 %}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 &lt;p&gt;Tu es majeur.&lt;/p&gt;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{% else %}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 &lt;p&gt;Tu es mineur.&lt;/p&gt;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{% endif %}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&lt;ul&gt;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{% for item in liste %}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 &lt;li&gt;{{ item }}&lt;/li&gt;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{% endfor %}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&lt;/ul&gt;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Exemple complet dans python :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@app.route("/liste")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def liste():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   fruits = ["Pomme", "Banane", "Cerise"]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   return render_template("liste.html", fruits=fruits)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"/>
          <p:cNvSpPr/>
          <p:nvPr/>
        </p:nvSpPr>
        <p:spPr>
          <a:xfrm>
            <a:off x="0" y="0"/>
            <a:ext cx="12191400" cy="54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TextBox 2"/>
          <p:cNvSpPr/>
          <p:nvPr/>
        </p:nvSpPr>
        <p:spPr>
          <a:xfrm>
            <a:off x="731520" y="27432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Formulaires et méthodes GET/POST</a:t>
            </a:r>
            <a:endParaRPr lang="fr-F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Rounded Rectangle 3"/>
          <p:cNvSpPr/>
          <p:nvPr/>
        </p:nvSpPr>
        <p:spPr>
          <a:xfrm>
            <a:off x="731520" y="1097280"/>
            <a:ext cx="10515240" cy="5028840"/>
          </a:xfrm>
          <a:prstGeom prst="roundRect">
            <a:avLst>
              <a:gd name="adj" fmla="val 16667"/>
            </a:avLst>
          </a:prstGeom>
          <a:solidFill>
            <a:srgbClr val="1E1E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" name="TextBox 4"/>
          <p:cNvSpPr/>
          <p:nvPr/>
        </p:nvSpPr>
        <p:spPr>
          <a:xfrm>
            <a:off x="1005840" y="1234440"/>
            <a:ext cx="996660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from flask import Flask, request, render_template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app = Flask(__name__)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@app.route("/", methods=["GET", "POST"])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def accueil():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if request.method == "POST":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    nom = request.form["nom"]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    return f"Bonjour {nom}!"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return """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    &lt;form method="POST"&gt;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        &lt;input name="nom" placeholder="Ton nom"&gt;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        &lt;button type="submit"&gt;Valider&lt;/button&gt;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    &lt;/form&gt;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"""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request.form = données POST du formulaire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request.args = paramètres GET (dans l'URL)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Exemple avec GET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@app.route("/search")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def search():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q = request.args.get("q", "")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    return f"Recherche: {q}"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http://localhost:5000/search?q=python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angle 1"/>
          <p:cNvSpPr/>
          <p:nvPr/>
        </p:nvSpPr>
        <p:spPr>
          <a:xfrm>
            <a:off x="0" y="0"/>
            <a:ext cx="12191400" cy="54360"/>
          </a:xfrm>
          <a:prstGeom prst="rect">
            <a:avLst/>
          </a:prstGeom>
          <a:solidFill>
            <a:srgbClr val="06D6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TextBox 2"/>
          <p:cNvSpPr/>
          <p:nvPr/>
        </p:nvSpPr>
        <p:spPr>
          <a:xfrm>
            <a:off x="731520" y="36576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06D6A0"/>
                </a:solidFill>
                <a:effectLst/>
                <a:uFillTx/>
                <a:latin typeface="Calibri"/>
              </a:rPr>
              <a:t>Exercice : Premier site Flask</a:t>
            </a:r>
            <a:endParaRPr lang="fr-F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Rounded Rectangle 3"/>
          <p:cNvSpPr/>
          <p:nvPr/>
        </p:nvSpPr>
        <p:spPr>
          <a:xfrm>
            <a:off x="731520" y="1097280"/>
            <a:ext cx="10515240" cy="4482720"/>
          </a:xfrm>
          <a:prstGeom prst="roundRect">
            <a:avLst>
              <a:gd name="adj" fmla="val 16667"/>
            </a:avLst>
          </a:prstGeom>
          <a:solidFill>
            <a:srgbClr val="1A1A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" name="TextBox 4"/>
          <p:cNvSpPr/>
          <p:nvPr/>
        </p:nvSpPr>
        <p:spPr>
          <a:xfrm>
            <a:off x="1188720" y="1280160"/>
            <a:ext cx="9600840" cy="29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 Crée un dossier "mon_site" avec venv + flask installé</a:t>
            </a:r>
            <a:br>
              <a:rPr sz="1500"/>
            </a:b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2. Crée app.py avec routes :</a:t>
            </a:r>
            <a:br>
              <a:rPr sz="1500"/>
            </a:b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- / → page d'accueil ("Bienvenue sur mon site !")</a:t>
            </a:r>
            <a:br>
              <a:rPr sz="1500"/>
            </a:b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- /salut/&lt;nom&gt; → "Salut nom !"</a:t>
            </a:r>
            <a:br>
              <a:rPr sz="1500"/>
            </a:b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- /age/&lt;int:age&gt; → dit si majeur ou mineur</a:t>
            </a:r>
            <a:br>
              <a:rPr sz="1500"/>
            </a:b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- /table/&lt;int:n&gt; → table de multiplication de n</a:t>
            </a:r>
            <a:br>
              <a:rPr sz="1500"/>
            </a:br>
            <a:br>
              <a:rPr sz="1500"/>
            </a:b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3. Crée le dossier templates/ avec :</a:t>
            </a:r>
            <a:br>
              <a:rPr sz="1500"/>
            </a:b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- base.html (structure HTML commune)</a:t>
            </a:r>
            <a:br>
              <a:rPr sz="1500"/>
            </a:b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 - accueil.html qui hérite de base.html</a:t>
            </a:r>
            <a:br>
              <a:rPr sz="1500"/>
            </a:br>
            <a:br>
              <a:rPr sz="1500"/>
            </a:b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4. Lance : python app.py</a:t>
            </a:r>
            <a:br>
              <a:rPr sz="1500"/>
            </a:b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5. Va sur http://localhost:5000/table/7</a:t>
            </a:r>
            <a:br>
              <a:rPr sz="1500"/>
            </a:br>
            <a:br>
              <a:rPr sz="1500"/>
            </a:b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BONUS : Ajoute du CSS (fichier static/style.css)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ectangle 1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TextBox 2"/>
          <p:cNvSpPr/>
          <p:nvPr/>
        </p:nvSpPr>
        <p:spPr>
          <a:xfrm>
            <a:off x="731520" y="365760"/>
            <a:ext cx="100580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À retenir</a:t>
            </a:r>
            <a:endParaRPr lang="fr-F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Rounded Rectangle 3"/>
          <p:cNvSpPr/>
          <p:nvPr/>
        </p:nvSpPr>
        <p:spPr>
          <a:xfrm>
            <a:off x="914400" y="1371600"/>
            <a:ext cx="10058040" cy="594000"/>
          </a:xfrm>
          <a:prstGeom prst="roundRect">
            <a:avLst>
              <a:gd name="adj" fmla="val 16667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Box 4"/>
          <p:cNvSpPr/>
          <p:nvPr/>
        </p:nvSpPr>
        <p:spPr>
          <a:xfrm>
            <a:off x="1188720" y="141732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DEE2E6"/>
                </a:solidFill>
                <a:effectLst/>
                <a:uFillTx/>
                <a:latin typeface="Calibri"/>
              </a:rPr>
              <a:t>✓ Flask = micro-framework web Python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Rounded Rectangle 5"/>
          <p:cNvSpPr/>
          <p:nvPr/>
        </p:nvSpPr>
        <p:spPr>
          <a:xfrm>
            <a:off x="914400" y="2194560"/>
            <a:ext cx="10058040" cy="594000"/>
          </a:xfrm>
          <a:prstGeom prst="roundRect">
            <a:avLst>
              <a:gd name="adj" fmla="val 16667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" name="TextBox 6"/>
          <p:cNvSpPr/>
          <p:nvPr/>
        </p:nvSpPr>
        <p:spPr>
          <a:xfrm>
            <a:off x="1188720" y="224028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DEE2E6"/>
                </a:solidFill>
                <a:effectLst/>
                <a:uFillTx/>
                <a:latin typeface="Calibri"/>
              </a:rPr>
              <a:t>✓ Route = URL liée à une fonction (décorateur @app.route)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Rounded Rectangle 7"/>
          <p:cNvSpPr/>
          <p:nvPr/>
        </p:nvSpPr>
        <p:spPr>
          <a:xfrm>
            <a:off x="914400" y="3017520"/>
            <a:ext cx="10058040" cy="594000"/>
          </a:xfrm>
          <a:prstGeom prst="roundRect">
            <a:avLst>
              <a:gd name="adj" fmla="val 16667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Box 8"/>
          <p:cNvSpPr/>
          <p:nvPr/>
        </p:nvSpPr>
        <p:spPr>
          <a:xfrm>
            <a:off x="1188720" y="306324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DEE2E6"/>
                </a:solidFill>
                <a:effectLst/>
                <a:uFillTx/>
                <a:latin typeface="Calibri"/>
              </a:rPr>
              <a:t>✓ render_template() pour afficher du HTML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Rounded Rectangle 9"/>
          <p:cNvSpPr/>
          <p:nvPr/>
        </p:nvSpPr>
        <p:spPr>
          <a:xfrm>
            <a:off x="914400" y="3840480"/>
            <a:ext cx="10058040" cy="594000"/>
          </a:xfrm>
          <a:prstGeom prst="roundRect">
            <a:avLst>
              <a:gd name="adj" fmla="val 16667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TextBox 10"/>
          <p:cNvSpPr/>
          <p:nvPr/>
        </p:nvSpPr>
        <p:spPr>
          <a:xfrm>
            <a:off x="1188720" y="388620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DEE2E6"/>
                </a:solidFill>
                <a:effectLst/>
                <a:uFillTx/>
                <a:latin typeface="Calibri"/>
              </a:rPr>
              <a:t>✓ Jinja2 : {{ variable }}, {% if %}, {% for %}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Rounded Rectangle 11"/>
          <p:cNvSpPr/>
          <p:nvPr/>
        </p:nvSpPr>
        <p:spPr>
          <a:xfrm>
            <a:off x="914400" y="4663440"/>
            <a:ext cx="10058040" cy="594000"/>
          </a:xfrm>
          <a:prstGeom prst="roundRect">
            <a:avLst>
              <a:gd name="adj" fmla="val 16667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Box 12"/>
          <p:cNvSpPr/>
          <p:nvPr/>
        </p:nvSpPr>
        <p:spPr>
          <a:xfrm>
            <a:off x="1188720" y="470916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DEE2E6"/>
                </a:solidFill>
                <a:effectLst/>
                <a:uFillTx/>
                <a:latin typeface="Calibri"/>
              </a:rPr>
              <a:t>✓ request.form pour les formulaires POST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Rounded Rectangle 13"/>
          <p:cNvSpPr/>
          <p:nvPr/>
        </p:nvSpPr>
        <p:spPr>
          <a:xfrm>
            <a:off x="914400" y="5486400"/>
            <a:ext cx="10058040" cy="594000"/>
          </a:xfrm>
          <a:prstGeom prst="roundRect">
            <a:avLst>
              <a:gd name="adj" fmla="val 16667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TextBox 14"/>
          <p:cNvSpPr/>
          <p:nvPr/>
        </p:nvSpPr>
        <p:spPr>
          <a:xfrm>
            <a:off x="1188720" y="553212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DEE2E6"/>
                </a:solidFill>
                <a:effectLst/>
                <a:uFillTx/>
                <a:latin typeface="Calibri"/>
              </a:rPr>
              <a:t>✓ Flask ouvre la porte aux applications WEB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</TotalTime>
  <Application>LibreOffice/26.2.2.2$Linux_X86_64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fr-FR</dc:language>
  <cp:lastModifiedBy/>
  <dcterms:modified xsi:type="dcterms:W3CDTF">2026-05-31T23:58:47Z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