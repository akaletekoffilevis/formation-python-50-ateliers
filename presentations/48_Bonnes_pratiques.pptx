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0" y="1371600"/>
            <a:ext cx="10362895" cy="4114800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645920"/>
            <a:ext cx="94484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6B35"/>
                </a:solidFill>
                <a:latin typeface="Calibri"/>
              </a:defRPr>
            </a:pPr>
            <a:r>
              <a:t>Partie 5 - Projets Avancés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286000"/>
            <a:ext cx="94484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Bonnes Pratiques Python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3840480"/>
            <a:ext cx="94484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6C757D"/>
                </a:solidFill>
                <a:latin typeface="Calibri"/>
              </a:defRPr>
            </a:pPr>
            <a:r>
              <a:t>Écrire du code professionnel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1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B4D8"/>
                </a:solidFill>
                <a:latin typeface="Calibri"/>
              </a:defRPr>
            </a:pPr>
            <a:r>
              <a:t>Objectifs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463040"/>
            <a:ext cx="10058400" cy="731520"/>
          </a:xfrm>
          <a:prstGeom prst="roundRect">
            <a:avLst/>
          </a:prstGeom>
          <a:solidFill>
            <a:srgbClr val="1A1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1554480"/>
            <a:ext cx="9601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✦ Suivre PEP 8 (style de code)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468880"/>
            <a:ext cx="10058400" cy="731520"/>
          </a:xfrm>
          <a:prstGeom prst="roundRect">
            <a:avLst/>
          </a:prstGeom>
          <a:solidFill>
            <a:srgbClr val="1A1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2560320"/>
            <a:ext cx="9601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✦ Écrire des docstrings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3474720"/>
            <a:ext cx="10058400" cy="731520"/>
          </a:xfrm>
          <a:prstGeom prst="roundRect">
            <a:avLst/>
          </a:prstGeom>
          <a:solidFill>
            <a:srgbClr val="1A1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3566160"/>
            <a:ext cx="9601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✦ Respecter DRY, KISS, SOLID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4480560"/>
            <a:ext cx="10058400" cy="731520"/>
          </a:xfrm>
          <a:prstGeom prst="roundRect">
            <a:avLst/>
          </a:prstGeom>
          <a:solidFill>
            <a:srgbClr val="1A1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4572000"/>
            <a:ext cx="9601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✦ Organiser un projet Python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1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6B35"/>
                </a:solidFill>
                <a:latin typeface="Calibri"/>
              </a:defRPr>
            </a:pPr>
            <a:r>
              <a:t>PEP 8 - Le style Python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Calibri"/>
              </a:defRPr>
            </a:pPr>
            <a:r>
              <a:t>PEP 8 = Python Enhancement Proposal 8 = guide de style officiel.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Calibri"/>
              </a:defRPr>
            </a:pPr>
          </a:p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Calibri"/>
              </a:defRPr>
            </a:pPr>
            <a:r>
              <a:t>Règles principales :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Calibri"/>
              </a:defRPr>
            </a:pPr>
          </a:p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Calibri"/>
              </a:defRPr>
            </a:pPr>
            <a:r>
              <a:t>✅ Indentation : 4 espaces (PAS de tabulations)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Calibri"/>
              </a:defRPr>
            </a:pPr>
            <a:r>
              <a:t>   def fonction():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Calibri"/>
              </a:defRPr>
            </a:pPr>
            <a:r>
              <a:t>       return 42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Calibri"/>
              </a:defRPr>
            </a:pPr>
            <a:r>
              <a:t>✅ Limite de ligne : 79 caractères max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Calibri"/>
              </a:defRPr>
            </a:pPr>
            <a:r>
              <a:t>   resultat = calcul_complexe(parametre1, parametre2,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Calibri"/>
              </a:defRPr>
            </a:pPr>
            <a:r>
              <a:t>                            parametre3)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Calibri"/>
              </a:defRPr>
            </a:pPr>
            <a:r>
              <a:t>✅ Espaces autour des opérateurs :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Calibri"/>
              </a:defRPr>
            </a:pPr>
            <a:r>
              <a:t>   x = 1 + 2  # ✅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Calibri"/>
              </a:defRPr>
            </a:pPr>
            <a:r>
              <a:t>   y=1+2      # ❌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Calibri"/>
              </a:defRPr>
            </a:pPr>
            <a:r>
              <a:t>✅ Noms de variables : snake_case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Calibri"/>
              </a:defRPr>
            </a:pPr>
            <a:r>
              <a:t>   nom_utilisateur = "Alice"  # ✅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Calibri"/>
              </a:defRPr>
            </a:pPr>
            <a:r>
              <a:t>   nomUtilisateur = "Alice"  # ❌ (camelCase en Java)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Calibri"/>
              </a:defRPr>
            </a:pPr>
            <a:r>
              <a:t>✅ Noms de classes : PascalCase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Calibri"/>
              </a:defRPr>
            </a:pPr>
            <a:r>
              <a:t>   class CompteBancaire:  # ✅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Calibri"/>
              </a:defRPr>
            </a:pPr>
            <a:r>
              <a:t>   class compte_bancaire:  # ❌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1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6B35"/>
                </a:solidFill>
                <a:latin typeface="Calibri"/>
              </a:defRPr>
            </a:pPr>
            <a:r>
              <a:t>Règles de nommage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Calibri"/>
              </a:defRPr>
            </a:pPr>
            <a:r>
              <a:t>Conventions Python :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Calibri"/>
              </a:defRPr>
            </a:pPr>
          </a:p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Calibri"/>
              </a:defRPr>
            </a:pPr>
            <a:r>
              <a:t>  Variables / fonctions : snake_case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Calibri"/>
              </a:defRPr>
            </a:pPr>
            <a:r>
              <a:t>    nom_utilisateur, calculer_moyenne()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Calibri"/>
              </a:defRPr>
            </a:pPr>
            <a:r>
              <a:t>  Constantes : MAJUSCULES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Calibri"/>
              </a:defRPr>
            </a:pPr>
            <a:r>
              <a:t>    TAUX_TVA = 0.20, VITESSE_LUMIERE = 3e8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Calibri"/>
              </a:defRPr>
            </a:pPr>
            <a:r>
              <a:t>  Classes : PascalCase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Calibri"/>
              </a:defRPr>
            </a:pPr>
            <a:r>
              <a:t>    MonException, CompteBancaire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Calibri"/>
              </a:defRPr>
            </a:pPr>
            <a:r>
              <a:t>  Méthodes privées : _prefixe (convention)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Calibri"/>
              </a:defRPr>
            </a:pPr>
            <a:r>
              <a:t>    def _valider_donnees(self):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Calibri"/>
              </a:defRPr>
            </a:pPr>
            <a:r>
              <a:t>  Variables privées : __double_prefixe (name mangling)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Calibri"/>
              </a:defRPr>
            </a:pPr>
            <a:r>
              <a:t>    self.__mot_de_passe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Calibri"/>
              </a:defRPr>
            </a:pPr>
            <a:r>
              <a:t>  Fichiers : snake_case.py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Calibri"/>
              </a:defRPr>
            </a:pPr>
            <a:r>
              <a:t>    mon_module.py, test_calculs.py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Calibri"/>
              </a:defRPr>
            </a:pPr>
            <a:r>
              <a:t>  Dossiers : snake_case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Calibri"/>
              </a:defRPr>
            </a:pPr>
            <a:r>
              <a:t>    mes_outils/, tests/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Calibri"/>
              </a:defRPr>
            </a:pPr>
          </a:p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Calibri"/>
              </a:defRPr>
            </a:pPr>
            <a:r>
              <a:t>🔑 Consistance &gt; tout : choisis un style et applique-le PARTOUT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6B35"/>
                </a:solidFill>
                <a:latin typeface="Calibri"/>
              </a:defRPr>
            </a:pPr>
            <a:r>
              <a:t>Docstrings - Documenter son code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097280"/>
            <a:ext cx="10515600" cy="5029200"/>
          </a:xfrm>
          <a:prstGeom prst="round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234440"/>
            <a:ext cx="99669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DD6F4"/>
                </a:solidFill>
                <a:latin typeface="Consolas"/>
              </a:defRPr>
            </a:pPr>
            <a:r>
              <a:t># Docstring = string multi-lignes après def/class/module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DD6F4"/>
                </a:solidFill>
                <a:latin typeface="Consolas"/>
              </a:defRPr>
            </a:pPr>
            <a:r>
              <a:t>def calculer_moyenne(notes):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DD6F4"/>
                </a:solidFill>
                <a:latin typeface="Consolas"/>
              </a:defRPr>
            </a:pPr>
            <a:r>
              <a:t>    """Calcule la moyenne d'une liste de notes.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DD6F4"/>
                </a:solidFill>
                <a:latin typeface="Consolas"/>
              </a:defRPr>
            </a:pP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DD6F4"/>
                </a:solidFill>
                <a:latin typeface="Consolas"/>
              </a:defRPr>
            </a:pPr>
            <a:r>
              <a:t>    Args: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DD6F4"/>
                </a:solidFill>
                <a:latin typeface="Consolas"/>
              </a:defRPr>
            </a:pPr>
            <a:r>
              <a:t>        notes: Liste de nombres (0-20).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DD6F4"/>
                </a:solidFill>
                <a:latin typeface="Consolas"/>
              </a:defRPr>
            </a:pP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DD6F4"/>
                </a:solidFill>
                <a:latin typeface="Consolas"/>
              </a:defRPr>
            </a:pPr>
            <a:r>
              <a:t>    Returns: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DD6F4"/>
                </a:solidFill>
                <a:latin typeface="Consolas"/>
              </a:defRPr>
            </a:pPr>
            <a:r>
              <a:t>        float: La moyenne des notes.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DD6F4"/>
                </a:solidFill>
                <a:latin typeface="Consolas"/>
              </a:defRPr>
            </a:pP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DD6F4"/>
                </a:solidFill>
                <a:latin typeface="Consolas"/>
              </a:defRPr>
            </a:pPr>
            <a:r>
              <a:t>    Raises: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DD6F4"/>
                </a:solidFill>
                <a:latin typeface="Consolas"/>
              </a:defRPr>
            </a:pPr>
            <a:r>
              <a:t>        ValueError: Si la liste est vide.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DD6F4"/>
                </a:solidFill>
                <a:latin typeface="Consolas"/>
              </a:defRPr>
            </a:pPr>
            <a:r>
              <a:t>    """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DD6F4"/>
                </a:solidFill>
                <a:latin typeface="Consolas"/>
              </a:defRPr>
            </a:pPr>
            <a:r>
              <a:t>    if not notes: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DD6F4"/>
                </a:solidFill>
                <a:latin typeface="Consolas"/>
              </a:defRPr>
            </a:pPr>
            <a:r>
              <a:t>        raise ValueError("Liste vide")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DD6F4"/>
                </a:solidFill>
                <a:latin typeface="Consolas"/>
              </a:defRPr>
            </a:pPr>
            <a:r>
              <a:t>    return sum(notes) / len(notes)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DD6F4"/>
                </a:solidFill>
                <a:latin typeface="Consolas"/>
              </a:defRPr>
            </a:pP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DD6F4"/>
                </a:solidFill>
                <a:latin typeface="Consolas"/>
              </a:defRPr>
            </a:pPr>
            <a:r>
              <a:t># Voir la doc :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DD6F4"/>
                </a:solidFill>
                <a:latin typeface="Consolas"/>
              </a:defRPr>
            </a:pPr>
            <a:r>
              <a:t>help(calculer_moyenne)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DD6F4"/>
                </a:solidFill>
                <a:latin typeface="Consolas"/>
              </a:defRPr>
            </a:pPr>
            <a:r>
              <a:t>print(calculer_moyenne.__doc__)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DD6F4"/>
                </a:solidFill>
                <a:latin typeface="Consolas"/>
              </a:defRPr>
            </a:pP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DD6F4"/>
                </a:solidFill>
                <a:latin typeface="Consolas"/>
              </a:defRPr>
            </a:pPr>
            <a:r>
              <a:t># Docstring de module (en haut du fichier)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DD6F4"/>
                </a:solidFill>
                <a:latin typeface="Consolas"/>
              </a:defRPr>
            </a:pPr>
            <a:r>
              <a:t>"""Module pour les calculs mathématiques du projet."""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DD6F4"/>
                </a:solidFill>
                <a:latin typeface="Consolas"/>
              </a:defRPr>
            </a:pPr>
            <a:r>
              <a:t># Docstring de classe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DD6F4"/>
                </a:solidFill>
                <a:latin typeface="Consolas"/>
              </a:defRPr>
            </a:pPr>
            <a:r>
              <a:t>class Chien: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DD6F4"/>
                </a:solidFill>
                <a:latin typeface="Consolas"/>
              </a:defRPr>
            </a:pPr>
            <a:r>
              <a:t>    """Représente un chien avec son nom et son âge."""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DD6F4"/>
                </a:solidFill>
                <a:latin typeface="Consolas"/>
              </a:defRPr>
            </a:pPr>
            <a:r>
              <a:t>    pass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1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6B35"/>
                </a:solidFill>
                <a:latin typeface="Calibri"/>
              </a:defRPr>
            </a:pPr>
            <a:r>
              <a:t>Principes DRY, KISS, YAGNI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Calibri"/>
              </a:defRPr>
            </a:pPr>
            <a:r>
              <a:t>DRY = Don't Repeat Yourself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Calibri"/>
              </a:defRPr>
            </a:pPr>
            <a:r>
              <a:t>  ❌ NE COPIE PAS le même code à plusieurs endroits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Calibri"/>
              </a:defRPr>
            </a:pPr>
            <a:r>
              <a:t>  ✅ Crée une FONCTION réutilisable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Calibri"/>
              </a:defRPr>
            </a:pPr>
          </a:p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Calibri"/>
              </a:defRPr>
            </a:pPr>
            <a:r>
              <a:t>  ❌ (calcul TVA partout)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Calibri"/>
              </a:defRPr>
            </a:pPr>
            <a:r>
              <a:t>  ✅ def appliquer_tva(prix): return prix * 1.20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Calibri"/>
              </a:defRPr>
            </a:pPr>
          </a:p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Calibri"/>
              </a:defRPr>
            </a:pPr>
            <a:r>
              <a:t>KISS = Keep It Simple, Stupid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Calibri"/>
              </a:defRPr>
            </a:pPr>
            <a:r>
              <a:t>  ❌ Code trop complexe avec 15 conditions imbriquées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Calibri"/>
              </a:defRPr>
            </a:pPr>
            <a:r>
              <a:t>  ✅ Simple, lisible, compréhensible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Calibri"/>
              </a:defRPr>
            </a:pPr>
          </a:p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Calibri"/>
              </a:defRPr>
            </a:pPr>
            <a:r>
              <a:t>YAGNI = You Ain't Gonna Need It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Calibri"/>
              </a:defRPr>
            </a:pPr>
            <a:r>
              <a:t>  ❌ Ajouter des fonctionnalités "au cas où"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Calibri"/>
              </a:defRPr>
            </a:pPr>
            <a:r>
              <a:t>  ✅ N'ajoute que ce dont tu as BESOIN MAINTENANT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Calibri"/>
              </a:defRPr>
            </a:pPr>
          </a:p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Calibri"/>
              </a:defRPr>
            </a:pPr>
            <a:r>
              <a:t>  "Le débogage est deux fois plus dur que l'écriture de code."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Calibri"/>
              </a:defRPr>
            </a:pPr>
            <a:r>
              <a:t>  "Donc si tu écris le code le plus malin possible,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Calibri"/>
              </a:defRPr>
            </a:pPr>
            <a:r>
              <a:t>   tu es par définition incapable de le débuguer." — Kernighan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1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6B35"/>
                </a:solidFill>
                <a:latin typeface="Calibri"/>
              </a:defRPr>
            </a:pPr>
            <a:r>
              <a:t>Structure de projet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Calibri"/>
              </a:defRPr>
            </a:pPr>
            <a:r>
              <a:t>Structure recommandée pour un projet :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Calibri"/>
              </a:defRPr>
            </a:pPr>
          </a:p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Calibri"/>
              </a:defRPr>
            </a:pPr>
            <a:r>
              <a:t>mon_projet/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Calibri"/>
              </a:defRPr>
            </a:pPr>
            <a:r>
              <a:t>├── README.md          # Description du projet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Calibri"/>
              </a:defRPr>
            </a:pPr>
            <a:r>
              <a:t>├── .gitignore          # Fichiers ignorés par Git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Calibri"/>
              </a:defRPr>
            </a:pPr>
            <a:r>
              <a:t>├── requirements.txt    # Dépendances pip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Calibri"/>
              </a:defRPr>
            </a:pPr>
            <a:r>
              <a:t>├── .venv/              # Environnement virtuel (ignoré)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Calibri"/>
              </a:defRPr>
            </a:pPr>
            <a:r>
              <a:t>├── config.py          # Configuration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Calibri"/>
              </a:defRPr>
            </a:pPr>
            <a:r>
              <a:t>├── main.py             # Point d'entrée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Calibri"/>
              </a:defRPr>
            </a:pPr>
            <a:r>
              <a:t>├── mon_module/         # Code source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Calibri"/>
              </a:defRPr>
            </a:pPr>
            <a:r>
              <a:t>│   ├── __init__.py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Calibri"/>
              </a:defRPr>
            </a:pPr>
            <a:r>
              <a:t>│   ├── utils.py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Calibri"/>
              </a:defRPr>
            </a:pPr>
            <a:r>
              <a:t>│   └── classes.py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Calibri"/>
              </a:defRPr>
            </a:pPr>
            <a:r>
              <a:t>└── tests/            # Tests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Calibri"/>
              </a:defRPr>
            </a:pPr>
            <a:r>
              <a:t>    ├── __init__.py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Calibri"/>
              </a:defRPr>
            </a:pPr>
            <a:r>
              <a:t>    ├── test_utils.py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Calibri"/>
              </a:defRPr>
            </a:pPr>
            <a:r>
              <a:t>    └── test_classes.py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Calibri"/>
              </a:defRPr>
            </a:pPr>
          </a:p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Calibri"/>
              </a:defRPr>
            </a:pPr>
            <a:r>
              <a:t>💡 Un projet bien organisé est plus FACILE à maintenir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Calibri"/>
              </a:defRPr>
            </a:pPr>
            <a:r>
              <a:t>  et plus AGRÉABLE à reprendre après 6 mois d'absence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1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6D6A0"/>
                </a:solidFill>
                <a:latin typeface="Calibri"/>
              </a:defRPr>
            </a:pPr>
            <a:r>
              <a:t>Exercice : Refactoring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097280"/>
            <a:ext cx="10515600" cy="3200400"/>
          </a:xfrm>
          <a:prstGeom prst="roundRect">
            <a:avLst/>
          </a:prstGeom>
          <a:solidFill>
            <a:srgbClr val="1A1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1280160"/>
            <a:ext cx="96012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Calibri"/>
              </a:defRPr>
            </a:pPr>
            <a:r>
              <a:t>Refactore ce code (rends-le propre) :</a:t>
            </a:r>
            <a:br/>
            <a:br/>
            <a:r>
              <a:t>def m(a,b,c):</a:t>
            </a:r>
            <a:br/>
            <a:r>
              <a:t>    x=a+b+c;y=x/3;print("moy:"+str(y))</a:t>
            </a:r>
            <a:br/>
            <a:r>
              <a:t>    if y&gt;=10:print("pass");print("bravo")</a:t>
            </a:r>
            <a:br/>
            <a:r>
              <a:t>    else:print("echec");return y</a:t>
            </a:r>
            <a:br/>
            <a:br/>
            <a:r>
              <a:t>Corrige :</a:t>
            </a:r>
            <a:br/>
            <a:r>
              <a:t>1. Renomme la fonction et les variables correctement</a:t>
            </a:r>
            <a:br/>
            <a:r>
              <a:t>2. Ajoute une docstring complète</a:t>
            </a:r>
            <a:br/>
            <a:r>
              <a:t>3. Sépare les responsabilités (calcul ≠ affichage)</a:t>
            </a:r>
            <a:br/>
            <a:r>
              <a:t>4. Utilise f-string au lieu de +</a:t>
            </a:r>
            <a:br/>
            <a:r>
              <a:t>5. Ajoute des annotations de type</a:t>
            </a:r>
            <a:br/>
            <a:r>
              <a:t>6. Ajoute la gestion d'erreurs</a:t>
            </a:r>
            <a:br/>
            <a:r>
              <a:t>7. Écris un test pour la fonction</a:t>
            </a:r>
            <a:br/>
            <a:br/>
            <a:r>
              <a:t>def calculer_moyenne(notes: list[float]) -&gt; float:</a:t>
            </a:r>
            <a:br/>
            <a:r>
              <a:t>    """Calcule..."""</a:t>
            </a:r>
            <a:br/>
            <a:r>
              <a:t>    ...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6B35"/>
                </a:solidFill>
                <a:latin typeface="Calibri"/>
              </a:defRPr>
            </a:pPr>
            <a:r>
              <a:t>À retenir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371600"/>
            <a:ext cx="10058400" cy="594360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14173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DEE2E6"/>
                </a:solidFill>
                <a:latin typeface="Calibri"/>
              </a:defRPr>
            </a:pPr>
            <a:r>
              <a:t>✓ PEP 8 : 4 espaces, snake_case, 79 caractères, espaces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194560"/>
            <a:ext cx="10058400" cy="594360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224028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DEE2E6"/>
                </a:solidFill>
                <a:latin typeface="Calibri"/>
              </a:defRPr>
            </a:pPr>
            <a:r>
              <a:t>✓ Docstrings : documente TOUT ce qui est réutilisable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3017520"/>
            <a:ext cx="10058400" cy="594360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DEE2E6"/>
                </a:solidFill>
                <a:latin typeface="Calibri"/>
              </a:defRPr>
            </a:pPr>
            <a:r>
              <a:t>✓ DRY : ne te répète pas, crée des fonctions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3840480"/>
            <a:ext cx="10058400" cy="594360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388620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DEE2E6"/>
                </a:solidFill>
                <a:latin typeface="Calibri"/>
              </a:defRPr>
            </a:pPr>
            <a:r>
              <a:t>✓ KISS : simple &gt; complexe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4663440"/>
            <a:ext cx="10058400" cy="594360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470916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DEE2E6"/>
                </a:solidFill>
                <a:latin typeface="Calibri"/>
              </a:defRPr>
            </a:pPr>
            <a:r>
              <a:t>✓ YAGNI : pas de fonctionnalités inutiles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" y="5486400"/>
            <a:ext cx="10058400" cy="594360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55321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DEE2E6"/>
                </a:solidFill>
                <a:latin typeface="Calibri"/>
              </a:defRPr>
            </a:pPr>
            <a:r>
              <a:t>✓ Un code propre = un développeur heureux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