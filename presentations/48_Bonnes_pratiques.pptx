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857EF18-FA9F-46F3-9C76-924A6E15A85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4EED614-48FF-40C0-9F4C-28D00973393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2E0A5D6-69F4-4BBB-9EA4-17B8A710C4F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50E2271-D1AE-4662-859B-4F78CAD18B8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B043A07-F83F-41C6-8070-2F4CA14B384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996DC40-B9FC-4E0E-BD11-8EFAB898494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B009843-05D5-4295-9971-48CF31757D2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F0DD91C-BA9D-434E-BD6D-F562E32127A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7244276-F47E-4204-8244-F7B1C21EF20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texte-titre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plan de texte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niveau de plan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59F0912-C20C-47CE-866A-9219ABD42E3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plan de texte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niveau de plan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FCF300B-2B1C-4ADC-9939-63FB893BF97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Rounded Rectangle 2"/>
          <p:cNvSpPr/>
          <p:nvPr/>
        </p:nvSpPr>
        <p:spPr>
          <a:xfrm>
            <a:off x="914400" y="1371600"/>
            <a:ext cx="10362600" cy="411444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1371600" y="1645920"/>
            <a:ext cx="94482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6B35"/>
                </a:solidFill>
                <a:effectLst/>
                <a:uFillTx/>
                <a:latin typeface="Calibri"/>
              </a:rPr>
              <a:t>Partie 5 - Projets Avancés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1371600" y="2286000"/>
            <a:ext cx="944820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Bonnes Pratiques Python</a:t>
            </a:r>
            <a:endParaRPr lang="fr-F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1371600" y="3840480"/>
            <a:ext cx="94482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6C757D"/>
                </a:solidFill>
                <a:effectLst/>
                <a:uFillTx/>
                <a:latin typeface="Calibri"/>
              </a:rPr>
              <a:t>Écrire du code professionnel</a:t>
            </a: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1"/>
          <p:cNvSpPr/>
          <p:nvPr/>
        </p:nvSpPr>
        <p:spPr>
          <a:xfrm>
            <a:off x="0" y="0"/>
            <a:ext cx="72720" cy="685764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Box 2"/>
          <p:cNvSpPr/>
          <p:nvPr/>
        </p:nvSpPr>
        <p:spPr>
          <a:xfrm>
            <a:off x="731520" y="457200"/>
            <a:ext cx="10058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Objectifs</a:t>
            </a:r>
            <a:endParaRPr lang="fr-F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Rounded Rectangle 3"/>
          <p:cNvSpPr/>
          <p:nvPr/>
        </p:nvSpPr>
        <p:spPr>
          <a:xfrm>
            <a:off x="914400" y="1463040"/>
            <a:ext cx="10058040" cy="731160"/>
          </a:xfrm>
          <a:prstGeom prst="roundRect">
            <a:avLst>
              <a:gd name="adj" fmla="val 16667"/>
            </a:avLst>
          </a:prstGeom>
          <a:solidFill>
            <a:srgbClr val="1A1A4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TextBox 4"/>
          <p:cNvSpPr/>
          <p:nvPr/>
        </p:nvSpPr>
        <p:spPr>
          <a:xfrm>
            <a:off x="1188720" y="1554480"/>
            <a:ext cx="9600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✦ Suivre PEP 8 (style de code)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Rounded Rectangle 5"/>
          <p:cNvSpPr/>
          <p:nvPr/>
        </p:nvSpPr>
        <p:spPr>
          <a:xfrm>
            <a:off x="914400" y="2468880"/>
            <a:ext cx="10058040" cy="731160"/>
          </a:xfrm>
          <a:prstGeom prst="roundRect">
            <a:avLst>
              <a:gd name="adj" fmla="val 16667"/>
            </a:avLst>
          </a:prstGeom>
          <a:solidFill>
            <a:srgbClr val="1A1A4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Box 6"/>
          <p:cNvSpPr/>
          <p:nvPr/>
        </p:nvSpPr>
        <p:spPr>
          <a:xfrm>
            <a:off x="1188720" y="2560320"/>
            <a:ext cx="9600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✦ Écrire des docstrings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Rounded Rectangle 7"/>
          <p:cNvSpPr/>
          <p:nvPr/>
        </p:nvSpPr>
        <p:spPr>
          <a:xfrm>
            <a:off x="914400" y="3474720"/>
            <a:ext cx="10058040" cy="731160"/>
          </a:xfrm>
          <a:prstGeom prst="roundRect">
            <a:avLst>
              <a:gd name="adj" fmla="val 16667"/>
            </a:avLst>
          </a:prstGeom>
          <a:solidFill>
            <a:srgbClr val="1A1A4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TextBox 8"/>
          <p:cNvSpPr/>
          <p:nvPr/>
        </p:nvSpPr>
        <p:spPr>
          <a:xfrm>
            <a:off x="1188720" y="3566160"/>
            <a:ext cx="9600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✦ Respecter DRY, KISS, SOLID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Rounded Rectangle 9"/>
          <p:cNvSpPr/>
          <p:nvPr/>
        </p:nvSpPr>
        <p:spPr>
          <a:xfrm>
            <a:off x="914400" y="4480560"/>
            <a:ext cx="10058040" cy="731160"/>
          </a:xfrm>
          <a:prstGeom prst="roundRect">
            <a:avLst>
              <a:gd name="adj" fmla="val 16667"/>
            </a:avLst>
          </a:prstGeom>
          <a:solidFill>
            <a:srgbClr val="1A1A4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Box 10"/>
          <p:cNvSpPr/>
          <p:nvPr/>
        </p:nvSpPr>
        <p:spPr>
          <a:xfrm>
            <a:off x="1188720" y="4572000"/>
            <a:ext cx="9600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✦ Organiser un projet Python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TextBox 2"/>
          <p:cNvSpPr/>
          <p:nvPr/>
        </p:nvSpPr>
        <p:spPr>
          <a:xfrm>
            <a:off x="731520" y="365760"/>
            <a:ext cx="10058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6B35"/>
                </a:solidFill>
                <a:effectLst/>
                <a:uFillTx/>
                <a:latin typeface="Calibri"/>
              </a:rPr>
              <a:t>PEP 8 - Le style Python</a:t>
            </a:r>
            <a:endParaRPr lang="fr-F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3"/>
          <p:cNvSpPr/>
          <p:nvPr/>
        </p:nvSpPr>
        <p:spPr>
          <a:xfrm>
            <a:off x="731520" y="128016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PEP 8 = Python Enhancement Proposal 8 = guide de style officiel.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Règles principales :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✅ Indentation : 4 espaces (PAS de tabulations)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 def fonction():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     return 42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✅ Limite de ligne : 79 caractères max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 resultat = calcul_complexe(parametre1, parametre2,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                          parametre3)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✅ Espaces autour des opérateurs :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 x = 1 + 2  # ✅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 y=1+2      # ❌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✅ Noms de variables : snake_case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 nom_utilisateur = "Alice"  # ✅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 nomUtilisateur = "Alice"  # ❌ (camelCase en Java)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✅ Noms de classes : PascalCase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 class CompteBancaire:  # ✅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 class compte_bancaire:  # ❌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Box 2"/>
          <p:cNvSpPr/>
          <p:nvPr/>
        </p:nvSpPr>
        <p:spPr>
          <a:xfrm>
            <a:off x="731520" y="365760"/>
            <a:ext cx="10058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6B35"/>
                </a:solidFill>
                <a:effectLst/>
                <a:uFillTx/>
                <a:latin typeface="Calibri"/>
              </a:rPr>
              <a:t>Règles de nommage</a:t>
            </a:r>
            <a:endParaRPr lang="fr-F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3"/>
          <p:cNvSpPr/>
          <p:nvPr/>
        </p:nvSpPr>
        <p:spPr>
          <a:xfrm>
            <a:off x="731520" y="128016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Conventions Python :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Variables / fonctions : snake_case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  nom_utilisateur, calculer_moyenne()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Constantes : MAJUSCULES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  TAUX_TVA = 0.20, VITESSE_LUMIERE = 3e8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Classes : PascalCase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  MonException, CompteBancaire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Méthodes privées : _prefixe (convention)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  def _valider_donnees(self):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Variables privées : __double_prefixe (name mangling)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  self.__mot_de_passe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Fichiers : snake_case.py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  mon_module.py, test_calculs.py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Dossiers : snake_case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  mes_outils/, tests/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🔑 Consistance &gt; tout : choisis un style et applique-le PARTOUT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TextBox 2"/>
          <p:cNvSpPr/>
          <p:nvPr/>
        </p:nvSpPr>
        <p:spPr>
          <a:xfrm>
            <a:off x="731520" y="27432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6B35"/>
                </a:solidFill>
                <a:effectLst/>
                <a:uFillTx/>
                <a:latin typeface="Calibri"/>
              </a:rPr>
              <a:t>Docstrings - Documenter son code</a:t>
            </a:r>
            <a:endParaRPr lang="fr-F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Rounded Rectangle 3"/>
          <p:cNvSpPr/>
          <p:nvPr/>
        </p:nvSpPr>
        <p:spPr>
          <a:xfrm>
            <a:off x="731520" y="1097280"/>
            <a:ext cx="10515240" cy="5028840"/>
          </a:xfrm>
          <a:prstGeom prst="roundRect">
            <a:avLst>
              <a:gd name="adj" fmla="val 16667"/>
            </a:avLst>
          </a:prstGeom>
          <a:solidFill>
            <a:srgbClr val="1E1E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TextBox 4"/>
          <p:cNvSpPr/>
          <p:nvPr/>
        </p:nvSpPr>
        <p:spPr>
          <a:xfrm>
            <a:off x="1005840" y="1234440"/>
            <a:ext cx="9966600" cy="47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# Docstring = string multi-lignes après def/class/module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def calculer_moyenne(notes):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    """Calcule la moyenne d'une liste de notes.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    Args: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        notes: Liste de nombres (0-20).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    Returns: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        float: La moyenne des notes.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    Raises: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        ValueError: Si la liste est vide.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    """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    if not notes: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        raise ValueError("Liste vide")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    return sum(notes) / len(notes)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# Voir la doc :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help(calculer_moyenne)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print(calculer_moyenne.__doc__)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# Docstring de module (en haut du fichier)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"""Module pour les calculs mathématiques du projet."""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# Docstring de classe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class Chien: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    """Représente un chien avec son nom et son âge."""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    pass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" name="TextBox 2"/>
          <p:cNvSpPr/>
          <p:nvPr/>
        </p:nvSpPr>
        <p:spPr>
          <a:xfrm>
            <a:off x="731520" y="365760"/>
            <a:ext cx="10058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6B35"/>
                </a:solidFill>
                <a:effectLst/>
                <a:uFillTx/>
                <a:latin typeface="Calibri"/>
              </a:rPr>
              <a:t>Principes DRY, KISS, YAGNI</a:t>
            </a:r>
            <a:endParaRPr lang="fr-F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3"/>
          <p:cNvSpPr/>
          <p:nvPr/>
        </p:nvSpPr>
        <p:spPr>
          <a:xfrm>
            <a:off x="731520" y="128016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DRY = Don't Repeat Yourself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❌ NE COPIE PAS le même code à plusieurs endroits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✅ Crée une FONCTION réutilisable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❌ (calcul TVA partout)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✅ def appliquer_tva(prix): return prix * 1.20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KISS = Keep It Simple, Stupid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❌ Code trop complexe avec 15 conditions imbriquées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✅ Simple, lisible, compréhensible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YAGNI = You Ain't Gonna Need It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❌ Ajouter des fonctionnalités "au cas où"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✅ N'ajoute que ce dont tu as BESOIN MAINTENANT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"Le débogage est deux fois plus dur que l'écriture de code."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"Donc si tu écris le code le plus malin possible,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 tu es par définition incapable de le débuguer." — Kernighan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Box 2"/>
          <p:cNvSpPr/>
          <p:nvPr/>
        </p:nvSpPr>
        <p:spPr>
          <a:xfrm>
            <a:off x="731520" y="365760"/>
            <a:ext cx="10058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6B35"/>
                </a:solidFill>
                <a:effectLst/>
                <a:uFillTx/>
                <a:latin typeface="Calibri"/>
              </a:rPr>
              <a:t>Structure de projet</a:t>
            </a:r>
            <a:endParaRPr lang="fr-F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3"/>
          <p:cNvSpPr/>
          <p:nvPr/>
        </p:nvSpPr>
        <p:spPr>
          <a:xfrm>
            <a:off x="731520" y="128016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Structure recommandée pour un projet :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mon_projet/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├── README.md          # Description du projet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├── .gitignore          # Fichiers ignorés par Git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├── requirements.txt    # Dépendances pip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├── .venv/              # Environnement virtuel (ignoré)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├── config.py          # Configuration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├── main.py             # Point d'entrée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├── mon_module/         # Code source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│   ├── __init__.py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│   ├── utils.py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│   └── classes.py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└── tests/            # Tests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  ├── __init__.py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  ├── test_utils.py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  └── test_classes.py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💡 Un projet bien organisé est plus FACILE à maintenir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et plus AGRÉABLE à reprendre après 6 mois d'absence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06D6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TextBox 2"/>
          <p:cNvSpPr/>
          <p:nvPr/>
        </p:nvSpPr>
        <p:spPr>
          <a:xfrm>
            <a:off x="731520" y="36576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06D6A0"/>
                </a:solidFill>
                <a:effectLst/>
                <a:uFillTx/>
                <a:latin typeface="Calibri"/>
              </a:rPr>
              <a:t>Exercice : Refactoring</a:t>
            </a:r>
            <a:endParaRPr lang="fr-F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Rounded Rectangle 3"/>
          <p:cNvSpPr/>
          <p:nvPr/>
        </p:nvSpPr>
        <p:spPr>
          <a:xfrm rot="21555000">
            <a:off x="766080" y="1027800"/>
            <a:ext cx="10515240" cy="5023800"/>
          </a:xfrm>
          <a:prstGeom prst="roundRect">
            <a:avLst>
              <a:gd name="adj" fmla="val 16667"/>
            </a:avLst>
          </a:prstGeom>
          <a:solidFill>
            <a:srgbClr val="1A1A4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TextBox 4"/>
          <p:cNvSpPr/>
          <p:nvPr/>
        </p:nvSpPr>
        <p:spPr>
          <a:xfrm>
            <a:off x="1188720" y="1280160"/>
            <a:ext cx="9600840" cy="443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Refactore ce code (rends-le propre) :</a:t>
            </a:r>
            <a:br>
              <a:rPr sz="1500"/>
            </a:br>
            <a:br>
              <a:rPr sz="1500"/>
            </a:b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def m(a,b,c):</a:t>
            </a:r>
            <a:br>
              <a:rPr sz="1500"/>
            </a:b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  x=a+b+c;y=x/3;print("moy:"+str(y))</a:t>
            </a:r>
            <a:br>
              <a:rPr sz="1500"/>
            </a:b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  if y&gt;=10:print("pass");print("bravo")</a:t>
            </a:r>
            <a:br>
              <a:rPr sz="1500"/>
            </a:b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  else:print("echec");return y</a:t>
            </a:r>
            <a:br>
              <a:rPr sz="1500"/>
            </a:br>
            <a:br>
              <a:rPr sz="1500"/>
            </a:b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Corrige :</a:t>
            </a:r>
            <a:br>
              <a:rPr sz="1500"/>
            </a:b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1. Renomme la fonction et les variables correctement</a:t>
            </a:r>
            <a:br>
              <a:rPr sz="1500"/>
            </a:b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2. Ajoute une docstring complète</a:t>
            </a:r>
            <a:br>
              <a:rPr sz="1500"/>
            </a:b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3. Sépare les responsabilités (calcul ≠ affichage)</a:t>
            </a:r>
            <a:br>
              <a:rPr sz="1500"/>
            </a:b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4. Utilise f-string au lieu de +</a:t>
            </a:r>
            <a:br>
              <a:rPr sz="1500"/>
            </a:b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5. Ajoute des annotations de type</a:t>
            </a:r>
            <a:br>
              <a:rPr sz="1500"/>
            </a:b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6. Ajoute la gestion d'erreurs</a:t>
            </a:r>
            <a:br>
              <a:rPr sz="1500"/>
            </a:b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7. Écris un test pour la fonction</a:t>
            </a:r>
            <a:br>
              <a:rPr sz="1500"/>
            </a:br>
            <a:br>
              <a:rPr sz="1500"/>
            </a:b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def calculer_moyenne(notes: list[float]) -&gt; float:</a:t>
            </a:r>
            <a:br>
              <a:rPr sz="1500"/>
            </a:b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  """Calcule..."""</a:t>
            </a:r>
            <a:br>
              <a:rPr sz="1500"/>
            </a:b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  ...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 1"/>
          <p:cNvSpPr/>
          <p:nvPr/>
        </p:nvSpPr>
        <p:spPr>
          <a:xfrm>
            <a:off x="0" y="0"/>
            <a:ext cx="72720" cy="6857640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TextBox 2"/>
          <p:cNvSpPr/>
          <p:nvPr/>
        </p:nvSpPr>
        <p:spPr>
          <a:xfrm>
            <a:off x="731520" y="365760"/>
            <a:ext cx="10058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6B35"/>
                </a:solidFill>
                <a:effectLst/>
                <a:uFillTx/>
                <a:latin typeface="Calibri"/>
              </a:rPr>
              <a:t>À retenir</a:t>
            </a:r>
            <a:endParaRPr lang="fr-F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Rounded Rectangle 3"/>
          <p:cNvSpPr/>
          <p:nvPr/>
        </p:nvSpPr>
        <p:spPr>
          <a:xfrm>
            <a:off x="914400" y="1371600"/>
            <a:ext cx="10058040" cy="59400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TextBox 4"/>
          <p:cNvSpPr/>
          <p:nvPr/>
        </p:nvSpPr>
        <p:spPr>
          <a:xfrm>
            <a:off x="1188720" y="141732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DEE2E6"/>
                </a:solidFill>
                <a:effectLst/>
                <a:uFillTx/>
                <a:latin typeface="Calibri"/>
              </a:rPr>
              <a:t>✓ PEP 8 : 4 espaces, snake_case, 79 caractères, espaces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Rounded Rectangle 5"/>
          <p:cNvSpPr/>
          <p:nvPr/>
        </p:nvSpPr>
        <p:spPr>
          <a:xfrm>
            <a:off x="914400" y="2194560"/>
            <a:ext cx="10058040" cy="59400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TextBox 6"/>
          <p:cNvSpPr/>
          <p:nvPr/>
        </p:nvSpPr>
        <p:spPr>
          <a:xfrm>
            <a:off x="1188720" y="224028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DEE2E6"/>
                </a:solidFill>
                <a:effectLst/>
                <a:uFillTx/>
                <a:latin typeface="Calibri"/>
              </a:rPr>
              <a:t>✓ Docstrings : documente TOUT ce qui est réutilisable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Rounded Rectangle 7"/>
          <p:cNvSpPr/>
          <p:nvPr/>
        </p:nvSpPr>
        <p:spPr>
          <a:xfrm>
            <a:off x="914400" y="3017520"/>
            <a:ext cx="10058040" cy="59400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TextBox 8"/>
          <p:cNvSpPr/>
          <p:nvPr/>
        </p:nvSpPr>
        <p:spPr>
          <a:xfrm>
            <a:off x="1188720" y="306324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DEE2E6"/>
                </a:solidFill>
                <a:effectLst/>
                <a:uFillTx/>
                <a:latin typeface="Calibri"/>
              </a:rPr>
              <a:t>✓ DRY : ne te répète pas, crée des fonctions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Rounded Rectangle 9"/>
          <p:cNvSpPr/>
          <p:nvPr/>
        </p:nvSpPr>
        <p:spPr>
          <a:xfrm>
            <a:off x="914400" y="3840480"/>
            <a:ext cx="10058040" cy="59400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TextBox 10"/>
          <p:cNvSpPr/>
          <p:nvPr/>
        </p:nvSpPr>
        <p:spPr>
          <a:xfrm>
            <a:off x="1188720" y="388620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DEE2E6"/>
                </a:solidFill>
                <a:effectLst/>
                <a:uFillTx/>
                <a:latin typeface="Calibri"/>
              </a:rPr>
              <a:t>✓ KISS : simple &gt; complexe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Rounded Rectangle 11"/>
          <p:cNvSpPr/>
          <p:nvPr/>
        </p:nvSpPr>
        <p:spPr>
          <a:xfrm>
            <a:off x="914400" y="4663440"/>
            <a:ext cx="10058040" cy="59400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TextBox 12"/>
          <p:cNvSpPr/>
          <p:nvPr/>
        </p:nvSpPr>
        <p:spPr>
          <a:xfrm>
            <a:off x="1188720" y="470916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DEE2E6"/>
                </a:solidFill>
                <a:effectLst/>
                <a:uFillTx/>
                <a:latin typeface="Calibri"/>
              </a:rPr>
              <a:t>✓ YAGNI : pas de fonctionnalités inutiles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Rounded Rectangle 13"/>
          <p:cNvSpPr/>
          <p:nvPr/>
        </p:nvSpPr>
        <p:spPr>
          <a:xfrm>
            <a:off x="914400" y="5486400"/>
            <a:ext cx="10058040" cy="59400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TextBox 14"/>
          <p:cNvSpPr/>
          <p:nvPr/>
        </p:nvSpPr>
        <p:spPr>
          <a:xfrm>
            <a:off x="1188720" y="553212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DEE2E6"/>
                </a:solidFill>
                <a:effectLst/>
                <a:uFillTx/>
                <a:latin typeface="Calibri"/>
              </a:rPr>
              <a:t>✓ Un code propre = un développeur heureux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LibreOffice/26.2.2.2$Linux_X86_64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fr-FR</dc:language>
  <cp:lastModifiedBy/>
  <dcterms:modified xsi:type="dcterms:W3CDTF">2026-05-31T23:45:00Z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