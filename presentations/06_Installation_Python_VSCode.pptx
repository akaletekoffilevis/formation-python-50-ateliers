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AF26D25-D2B3-4F1B-BA9A-2FCB8D5A33F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10A3776-7645-4E63-9211-B396C7F69D4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4C0C553-1E8B-4036-BFED-A6D72AB6C98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8C5ABC1-6DC7-495C-ABE7-640217400ED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4ED5C5D-F6D7-4093-B770-EE2A7E46C79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9E4900C-03DE-4337-AD75-61068A6C7AC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8F396C2-9A40-49B0-9438-A058A17BA3D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DFFDCE3-2837-4AFA-9EBA-9911A178924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1F0CC01-E45D-4DA9-83F5-91790FDE8B9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Cliquez pour éditer le format du texte-titre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Cliquez pour éditer le format du plan de texte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niveau de plan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Troisième niveau de plan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Quatrième niveau de plan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Cinquième niveau de plan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Sixième niveau de plan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Septième niveau de plan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169AB13-F5F7-45DD-97A8-F9B86858190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Cliquez pour éditer le format du plan de texte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niveau de plan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Troisième niveau de plan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Quatrième niveau de plan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Cinquième niveau de plan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Sixième niveau de plan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Septième niveau de plan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0EBDB30-0ABA-4CD4-B3F2-B4AC2C4BF26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1"/>
          <p:cNvSpPr/>
          <p:nvPr/>
        </p:nvSpPr>
        <p:spPr>
          <a:xfrm>
            <a:off x="0" y="0"/>
            <a:ext cx="12191400" cy="54360"/>
          </a:xfrm>
          <a:prstGeom prst="rect">
            <a:avLst/>
          </a:prstGeom>
          <a:solidFill>
            <a:srgbClr val="FF6B3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" name="Rectangle 2"/>
          <p:cNvSpPr/>
          <p:nvPr/>
        </p:nvSpPr>
        <p:spPr>
          <a:xfrm>
            <a:off x="0" y="0"/>
            <a:ext cx="54360" cy="6857640"/>
          </a:xfrm>
          <a:prstGeom prst="rect">
            <a:avLst/>
          </a:prstGeom>
          <a:solidFill>
            <a:srgbClr val="00B4D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" name="TextBox 3"/>
          <p:cNvSpPr/>
          <p:nvPr/>
        </p:nvSpPr>
        <p:spPr>
          <a:xfrm>
            <a:off x="1371600" y="1828800"/>
            <a:ext cx="7314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6B35"/>
                </a:solidFill>
                <a:effectLst/>
                <a:uFillTx/>
                <a:latin typeface="Calibri"/>
              </a:rPr>
              <a:t>Partie 1 - Culture Informatique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4"/>
          <p:cNvSpPr/>
          <p:nvPr/>
        </p:nvSpPr>
        <p:spPr>
          <a:xfrm>
            <a:off x="1371600" y="2377440"/>
            <a:ext cx="73148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Installation de Python et VS Code</a:t>
            </a:r>
            <a:endParaRPr lang="fr-FR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TextBox 5"/>
          <p:cNvSpPr/>
          <p:nvPr/>
        </p:nvSpPr>
        <p:spPr>
          <a:xfrm>
            <a:off x="1371600" y="3840480"/>
            <a:ext cx="73148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6C757D"/>
                </a:solidFill>
                <a:effectLst/>
                <a:uFillTx/>
                <a:latin typeface="Calibri"/>
              </a:rPr>
              <a:t>Préparer ton environnement de développement pas à pas</a:t>
            </a:r>
            <a:endParaRPr lang="fr-F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Rectangle 6"/>
          <p:cNvSpPr/>
          <p:nvPr/>
        </p:nvSpPr>
        <p:spPr>
          <a:xfrm>
            <a:off x="1371600" y="4754880"/>
            <a:ext cx="2742840" cy="36360"/>
          </a:xfrm>
          <a:prstGeom prst="rect">
            <a:avLst/>
          </a:prstGeom>
          <a:solidFill>
            <a:srgbClr val="FF6B3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8280" rIns="90000" bIns="-8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7" name="TextBox 7"/>
          <p:cNvSpPr/>
          <p:nvPr/>
        </p:nvSpPr>
        <p:spPr>
          <a:xfrm>
            <a:off x="1371600" y="5943600"/>
            <a:ext cx="7314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C757D"/>
                </a:solidFill>
                <a:effectLst/>
                <a:uFillTx/>
                <a:latin typeface="Calibri"/>
              </a:rPr>
              <a:t>Cours de Programmation Python - Fondamentaux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1"/>
          <p:cNvSpPr/>
          <p:nvPr/>
        </p:nvSpPr>
        <p:spPr>
          <a:xfrm>
            <a:off x="0" y="0"/>
            <a:ext cx="12191400" cy="822600"/>
          </a:xfrm>
          <a:prstGeom prst="rect">
            <a:avLst/>
          </a:prstGeom>
          <a:solidFill>
            <a:srgbClr val="1A1A4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9" name="Rectangle 2"/>
          <p:cNvSpPr/>
          <p:nvPr/>
        </p:nvSpPr>
        <p:spPr>
          <a:xfrm>
            <a:off x="0" y="822960"/>
            <a:ext cx="12191400" cy="36360"/>
          </a:xfrm>
          <a:prstGeom prst="rect">
            <a:avLst/>
          </a:prstGeom>
          <a:solidFill>
            <a:srgbClr val="FF6B3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8280" rIns="90000" bIns="-8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0" name="TextBox 3"/>
          <p:cNvSpPr/>
          <p:nvPr/>
        </p:nvSpPr>
        <p:spPr>
          <a:xfrm>
            <a:off x="548640" y="10980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Objectifs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4"/>
          <p:cNvSpPr/>
          <p:nvPr/>
        </p:nvSpPr>
        <p:spPr>
          <a:xfrm>
            <a:off x="548640" y="1188720"/>
            <a:ext cx="804636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Bef>
                <a:spcPts val="799"/>
              </a:spcBef>
              <a:spcAft>
                <a:spcPts val="400"/>
              </a:spcAft>
            </a:pPr>
            <a:r>
              <a:rPr lang="en-US" sz="1700" b="0" u="none" strike="noStrike">
                <a:solidFill>
                  <a:srgbClr val="0A0A2E"/>
                </a:solidFill>
                <a:effectLst/>
                <a:uFillTx/>
                <a:latin typeface="Calibri"/>
              </a:rPr>
              <a:t>✅  Installer Python sur ton ordinateur</a:t>
            </a:r>
            <a:endParaRPr lang="fr-F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  <a:spcAft>
                <a:spcPts val="400"/>
              </a:spcAft>
            </a:pPr>
            <a:r>
              <a:rPr lang="en-US" sz="1700" b="0" u="none" strike="noStrike">
                <a:solidFill>
                  <a:srgbClr val="0A0A2E"/>
                </a:solidFill>
                <a:effectLst/>
                <a:uFillTx/>
                <a:latin typeface="Calibri"/>
              </a:rPr>
              <a:t>✅  Installer VS Code (l'éditeur de code)</a:t>
            </a:r>
            <a:endParaRPr lang="fr-F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  <a:spcAft>
                <a:spcPts val="400"/>
              </a:spcAft>
            </a:pPr>
            <a:r>
              <a:rPr lang="en-US" sz="1700" b="0" u="none" strike="noStrike">
                <a:solidFill>
                  <a:srgbClr val="0A0A2E"/>
                </a:solidFill>
                <a:effectLst/>
                <a:uFillTx/>
                <a:latin typeface="Calibri"/>
              </a:rPr>
              <a:t>✅  Configurer VS Code pour Python</a:t>
            </a:r>
            <a:endParaRPr lang="fr-F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  <a:spcAft>
                <a:spcPts val="400"/>
              </a:spcAft>
            </a:pPr>
            <a:r>
              <a:rPr lang="en-US" sz="1700" b="0" u="none" strike="noStrike">
                <a:solidFill>
                  <a:srgbClr val="0A0A2E"/>
                </a:solidFill>
                <a:effectLst/>
                <a:uFillTx/>
                <a:latin typeface="Calibri"/>
              </a:rPr>
              <a:t>✅  Vérifier que tout fonctionne correctement</a:t>
            </a:r>
            <a:endParaRPr lang="fr-F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Rectangle 5"/>
          <p:cNvSpPr/>
          <p:nvPr/>
        </p:nvSpPr>
        <p:spPr>
          <a:xfrm>
            <a:off x="0" y="6720840"/>
            <a:ext cx="12191400" cy="36360"/>
          </a:xfrm>
          <a:prstGeom prst="rect">
            <a:avLst/>
          </a:prstGeom>
          <a:solidFill>
            <a:srgbClr val="00B4D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8280" rIns="90000" bIns="-8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1"/>
          <p:cNvSpPr/>
          <p:nvPr/>
        </p:nvSpPr>
        <p:spPr>
          <a:xfrm>
            <a:off x="0" y="0"/>
            <a:ext cx="12191400" cy="822600"/>
          </a:xfrm>
          <a:prstGeom prst="rect">
            <a:avLst/>
          </a:prstGeom>
          <a:solidFill>
            <a:srgbClr val="1A1A4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4" name="Rectangle 2"/>
          <p:cNvSpPr/>
          <p:nvPr/>
        </p:nvSpPr>
        <p:spPr>
          <a:xfrm>
            <a:off x="0" y="822960"/>
            <a:ext cx="12191400" cy="36360"/>
          </a:xfrm>
          <a:prstGeom prst="rect">
            <a:avLst/>
          </a:prstGeom>
          <a:solidFill>
            <a:srgbClr val="FF6B3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8280" rIns="90000" bIns="-8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5" name="TextBox 3"/>
          <p:cNvSpPr/>
          <p:nvPr/>
        </p:nvSpPr>
        <p:spPr>
          <a:xfrm>
            <a:off x="548640" y="10980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Définition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Box 4"/>
          <p:cNvSpPr/>
          <p:nvPr/>
        </p:nvSpPr>
        <p:spPr>
          <a:xfrm>
            <a:off x="548640" y="1371600"/>
            <a:ext cx="80463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FF6B35"/>
                </a:solidFill>
                <a:effectLst/>
                <a:uFillTx/>
                <a:latin typeface="Calibri"/>
              </a:rPr>
              <a:t>Environnement de développement</a:t>
            </a:r>
            <a:endParaRPr lang="fr-F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Rectangle 5"/>
          <p:cNvSpPr/>
          <p:nvPr/>
        </p:nvSpPr>
        <p:spPr>
          <a:xfrm>
            <a:off x="548640" y="2103120"/>
            <a:ext cx="1828440" cy="27000"/>
          </a:xfrm>
          <a:prstGeom prst="rect">
            <a:avLst/>
          </a:prstGeom>
          <a:solidFill>
            <a:srgbClr val="00B4D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7640" rIns="90000" bIns="-17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8" name="TextBox 6"/>
          <p:cNvSpPr/>
          <p:nvPr/>
        </p:nvSpPr>
        <p:spPr>
          <a:xfrm>
            <a:off x="548640" y="2377440"/>
            <a:ext cx="804636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0A0A2E"/>
                </a:solidFill>
                <a:effectLst/>
                <a:uFillTx/>
                <a:latin typeface="Calibri"/>
              </a:rPr>
              <a:t>C'est l'ensemble des outils que tu utilises pour écrire, tester et exécuter du code. Un bon environnement rend le développement plus facile et efficace.</a:t>
            </a:r>
            <a:endParaRPr lang="fr-F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Rounded Rectangle 7"/>
          <p:cNvSpPr/>
          <p:nvPr/>
        </p:nvSpPr>
        <p:spPr>
          <a:xfrm>
            <a:off x="548640" y="4389120"/>
            <a:ext cx="8046360" cy="2011320"/>
          </a:xfrm>
          <a:prstGeom prst="roundRect">
            <a:avLst>
              <a:gd name="adj" fmla="val 16667"/>
            </a:avLst>
          </a:prstGeom>
          <a:solidFill>
            <a:srgbClr val="E8F4F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" name="TextBox 8"/>
          <p:cNvSpPr/>
          <p:nvPr/>
        </p:nvSpPr>
        <p:spPr>
          <a:xfrm>
            <a:off x="731520" y="4480560"/>
            <a:ext cx="1371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0B4D8"/>
                </a:solidFill>
                <a:effectLst/>
                <a:uFillTx/>
                <a:latin typeface="Calibri"/>
              </a:rPr>
              <a:t>Exemple :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Box 9"/>
          <p:cNvSpPr/>
          <p:nvPr/>
        </p:nvSpPr>
        <p:spPr>
          <a:xfrm>
            <a:off x="731520" y="4846320"/>
            <a:ext cx="768060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0A0A2E"/>
                </a:solidFill>
                <a:effectLst/>
                <a:uFillTx/>
                <a:latin typeface="Calibri"/>
              </a:rPr>
              <a:t>Notre environnement :</a:t>
            </a:r>
            <a:br>
              <a:rPr sz="1500"/>
            </a:br>
            <a:r>
              <a:rPr lang="en-US" sz="1500" b="0" u="none" strike="noStrike">
                <a:solidFill>
                  <a:srgbClr val="0A0A2E"/>
                </a:solidFill>
                <a:effectLst/>
                <a:uFillTx/>
                <a:latin typeface="Calibri"/>
              </a:rPr>
              <a:t>🐍 Python (le langage)</a:t>
            </a:r>
            <a:br>
              <a:rPr sz="1500"/>
            </a:br>
            <a:r>
              <a:rPr lang="en-US" sz="1500" b="0" u="none" strike="noStrike">
                <a:solidFill>
                  <a:srgbClr val="0A0A2E"/>
                </a:solidFill>
                <a:effectLst/>
                <a:uFillTx/>
                <a:latin typeface="Calibri"/>
              </a:rPr>
              <a:t>📝 VS Code (l'éditeur)</a:t>
            </a:r>
            <a:br>
              <a:rPr sz="1500"/>
            </a:br>
            <a:r>
              <a:rPr lang="en-US" sz="1500" b="0" u="none" strike="noStrike">
                <a:solidFill>
                  <a:srgbClr val="0A0A2E"/>
                </a:solidFill>
                <a:effectLst/>
                <a:uFillTx/>
                <a:latin typeface="Calibri"/>
              </a:rPr>
              <a:t>⚡ Le terminal (pour exécuter les commandes)</a:t>
            </a:r>
            <a:br>
              <a:rPr sz="1500"/>
            </a:br>
            <a:r>
              <a:rPr lang="en-US" sz="1500" b="0" u="none" strike="noStrike">
                <a:solidFill>
                  <a:srgbClr val="0A0A2E"/>
                </a:solidFill>
                <a:effectLst/>
                <a:uFillTx/>
                <a:latin typeface="Calibri"/>
              </a:rPr>
              <a:t>🔧 Les extensions VS Code (pour les fonctionnalités supplémentaires)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Rectangle 10"/>
          <p:cNvSpPr/>
          <p:nvPr/>
        </p:nvSpPr>
        <p:spPr>
          <a:xfrm>
            <a:off x="0" y="6720840"/>
            <a:ext cx="12191400" cy="36360"/>
          </a:xfrm>
          <a:prstGeom prst="rect">
            <a:avLst/>
          </a:prstGeom>
          <a:solidFill>
            <a:srgbClr val="00B4D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8280" rIns="90000" bIns="-8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Rectangle 1"/>
          <p:cNvSpPr/>
          <p:nvPr/>
        </p:nvSpPr>
        <p:spPr>
          <a:xfrm>
            <a:off x="0" y="0"/>
            <a:ext cx="12191400" cy="822600"/>
          </a:xfrm>
          <a:prstGeom prst="rect">
            <a:avLst/>
          </a:prstGeom>
          <a:solidFill>
            <a:srgbClr val="1A1A4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4" name="Rectangle 2"/>
          <p:cNvSpPr/>
          <p:nvPr/>
        </p:nvSpPr>
        <p:spPr>
          <a:xfrm>
            <a:off x="0" y="822960"/>
            <a:ext cx="12191400" cy="36360"/>
          </a:xfrm>
          <a:prstGeom prst="rect">
            <a:avLst/>
          </a:prstGeom>
          <a:solidFill>
            <a:srgbClr val="FF6B3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8280" rIns="90000" bIns="-8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5" name="TextBox 3"/>
          <p:cNvSpPr/>
          <p:nvPr/>
        </p:nvSpPr>
        <p:spPr>
          <a:xfrm>
            <a:off x="548640" y="10980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Télécharger et installer Python</a:t>
            </a:r>
            <a:endParaRPr lang="fr-F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Box 4"/>
          <p:cNvSpPr/>
          <p:nvPr/>
        </p:nvSpPr>
        <p:spPr>
          <a:xfrm>
            <a:off x="548640" y="1188720"/>
            <a:ext cx="804636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201"/>
              </a:spcAft>
            </a:pPr>
            <a:r>
              <a:rPr lang="en-US" sz="1800" b="1" u="none" strike="noStrike">
                <a:solidFill>
                  <a:srgbClr val="0A0A2E"/>
                </a:solidFill>
                <a:effectLst/>
                <a:uFillTx/>
                <a:latin typeface="Calibri"/>
              </a:rPr>
              <a:t>Étape 1 : Aller sur python.org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201"/>
              </a:spcAft>
            </a:pPr>
            <a:r>
              <a:rPr lang="en-US" sz="1800" b="1" u="none" strike="noStrike">
                <a:solidFill>
                  <a:srgbClr val="0A0A2E"/>
                </a:solidFill>
                <a:effectLst/>
                <a:uFillTx/>
                <a:latin typeface="Calibri"/>
              </a:rPr>
              <a:t>Ouvre ton navigateur et va sur https://www.python.org/downloads/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201"/>
              </a:spcAft>
            </a:pPr>
            <a:r>
              <a:rPr lang="en-US" sz="1800" b="1" u="none" strike="noStrike">
                <a:solidFill>
                  <a:srgbClr val="0A0A2E"/>
                </a:solidFill>
                <a:effectLst/>
                <a:uFillTx/>
                <a:latin typeface="Calibri"/>
              </a:rPr>
              <a:t>Clique sur le bouton "Download Python 3.xx" (la dernière version)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201"/>
              </a:spcAft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201"/>
              </a:spcAft>
            </a:pPr>
            <a:r>
              <a:rPr lang="en-US" sz="1800" b="1" u="none" strike="noStrike">
                <a:solidFill>
                  <a:srgbClr val="0A0A2E"/>
                </a:solidFill>
                <a:effectLst/>
                <a:uFillTx/>
                <a:latin typeface="Calibri"/>
              </a:rPr>
              <a:t>Étape 2 : Installer Python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Bef>
                <a:spcPts val="201"/>
              </a:spcBef>
              <a:spcAft>
                <a:spcPts val="201"/>
              </a:spcAft>
            </a:pPr>
            <a:r>
              <a:rPr lang="en-US" sz="1500" b="0" u="none" strike="noStrike">
                <a:solidFill>
                  <a:srgbClr val="0A0A2E"/>
                </a:solidFill>
                <a:effectLst/>
                <a:uFillTx/>
                <a:latin typeface="Calibri"/>
              </a:rPr>
              <a:t>Lance le fichier téléchargé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Bef>
                <a:spcPts val="201"/>
              </a:spcBef>
              <a:spcAft>
                <a:spcPts val="201"/>
              </a:spcAft>
            </a:pPr>
            <a:r>
              <a:rPr lang="en-US" sz="1500" b="0" u="none" strike="noStrike">
                <a:solidFill>
                  <a:srgbClr val="0A0A2E"/>
                </a:solidFill>
                <a:effectLst/>
                <a:uFillTx/>
                <a:latin typeface="Calibri"/>
              </a:rPr>
              <a:t>IMPORTANT : Coche "Add Python to PATH" (sinon ça ne marchera pas !)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Bef>
                <a:spcPts val="201"/>
              </a:spcBef>
              <a:spcAft>
                <a:spcPts val="201"/>
              </a:spcAft>
            </a:pPr>
            <a:r>
              <a:rPr lang="en-US" sz="1500" b="0" u="none" strike="noStrike">
                <a:solidFill>
                  <a:srgbClr val="0A0A2E"/>
                </a:solidFill>
                <a:effectLst/>
                <a:uFillTx/>
                <a:latin typeface="Calibri"/>
              </a:rPr>
              <a:t>Clique sur "Install Now" (ou "Customize" si tu veux changer le dossier)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Bef>
                <a:spcPts val="201"/>
              </a:spcBef>
              <a:spcAft>
                <a:spcPts val="201"/>
              </a:spcAft>
            </a:pPr>
            <a:r>
              <a:rPr lang="en-US" sz="1500" b="0" u="none" strike="noStrike">
                <a:solidFill>
                  <a:srgbClr val="0A0A2E"/>
                </a:solidFill>
                <a:effectLst/>
                <a:uFillTx/>
                <a:latin typeface="Calibri"/>
              </a:rPr>
              <a:t>Attends la fin de l'installation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201"/>
              </a:spcAft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201"/>
              </a:spcAft>
            </a:pPr>
            <a:r>
              <a:rPr lang="en-US" sz="1800" b="1" u="none" strike="noStrike">
                <a:solidFill>
                  <a:srgbClr val="0A0A2E"/>
                </a:solidFill>
                <a:effectLst/>
                <a:uFillTx/>
                <a:latin typeface="Calibri"/>
              </a:rPr>
              <a:t>Étape 3 : Vérifier l'installation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201"/>
              </a:spcAft>
            </a:pPr>
            <a:r>
              <a:rPr lang="en-US" sz="1800" b="1" u="none" strike="noStrike">
                <a:solidFill>
                  <a:srgbClr val="0A0A2E"/>
                </a:solidFill>
                <a:effectLst/>
                <a:uFillTx/>
                <a:latin typeface="Calibri"/>
              </a:rPr>
              <a:t>Ouvre un terminal (CMD sur Windows, Terminal sur Mac/Linux)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201"/>
              </a:spcAft>
            </a:pPr>
            <a:r>
              <a:rPr lang="en-US" sz="1800" b="1" u="none" strike="noStrike">
                <a:solidFill>
                  <a:srgbClr val="0A0A2E"/>
                </a:solidFill>
                <a:effectLst/>
                <a:uFillTx/>
                <a:latin typeface="Calibri"/>
              </a:rPr>
              <a:t>Tape : python --version  (ou python3 --version)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201"/>
              </a:spcAft>
            </a:pPr>
            <a:r>
              <a:rPr lang="en-US" sz="1800" b="1" u="none" strike="noStrike">
                <a:solidFill>
                  <a:srgbClr val="0A0A2E"/>
                </a:solidFill>
                <a:effectLst/>
                <a:uFillTx/>
                <a:latin typeface="Calibri"/>
              </a:rPr>
              <a:t>Tu devrais voir : Python 3.xx.xx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Rectangle 5"/>
          <p:cNvSpPr/>
          <p:nvPr/>
        </p:nvSpPr>
        <p:spPr>
          <a:xfrm>
            <a:off x="0" y="6720840"/>
            <a:ext cx="12191400" cy="36360"/>
          </a:xfrm>
          <a:prstGeom prst="rect">
            <a:avLst/>
          </a:prstGeom>
          <a:solidFill>
            <a:srgbClr val="00B4D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8280" rIns="90000" bIns="-8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Rectangle 1"/>
          <p:cNvSpPr/>
          <p:nvPr/>
        </p:nvSpPr>
        <p:spPr>
          <a:xfrm>
            <a:off x="0" y="0"/>
            <a:ext cx="12191400" cy="822600"/>
          </a:xfrm>
          <a:prstGeom prst="rect">
            <a:avLst/>
          </a:prstGeom>
          <a:solidFill>
            <a:srgbClr val="1A1A4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9" name="Rectangle 2"/>
          <p:cNvSpPr/>
          <p:nvPr/>
        </p:nvSpPr>
        <p:spPr>
          <a:xfrm>
            <a:off x="0" y="822960"/>
            <a:ext cx="12191400" cy="36360"/>
          </a:xfrm>
          <a:prstGeom prst="rect">
            <a:avLst/>
          </a:prstGeom>
          <a:solidFill>
            <a:srgbClr val="FF6B3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8280" rIns="90000" bIns="-8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0" name="TextBox 3"/>
          <p:cNvSpPr/>
          <p:nvPr/>
        </p:nvSpPr>
        <p:spPr>
          <a:xfrm>
            <a:off x="548640" y="10980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Télécharger et installer VS Code</a:t>
            </a:r>
            <a:endParaRPr lang="fr-F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Box 4"/>
          <p:cNvSpPr/>
          <p:nvPr/>
        </p:nvSpPr>
        <p:spPr>
          <a:xfrm>
            <a:off x="548640" y="1188720"/>
            <a:ext cx="804636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201"/>
              </a:spcAft>
            </a:pPr>
            <a:r>
              <a:rPr lang="en-US" sz="1800" b="1" u="none" strike="noStrike">
                <a:solidFill>
                  <a:srgbClr val="0A0A2E"/>
                </a:solidFill>
                <a:effectLst/>
                <a:uFillTx/>
                <a:latin typeface="Calibri"/>
              </a:rPr>
              <a:t>Étape 1 : Aller sur code.visualstudio.com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201"/>
              </a:spcAft>
            </a:pPr>
            <a:r>
              <a:rPr lang="en-US" sz="1800" b="1" u="none" strike="noStrike">
                <a:solidFill>
                  <a:srgbClr val="0A0A2E"/>
                </a:solidFill>
                <a:effectLst/>
                <a:uFillTx/>
                <a:latin typeface="Calibri"/>
              </a:rPr>
              <a:t>Va sur https://code.visualstudio.com/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201"/>
              </a:spcAft>
            </a:pPr>
            <a:r>
              <a:rPr lang="en-US" sz="1800" b="1" u="none" strike="noStrike">
                <a:solidFill>
                  <a:srgbClr val="0A0A2E"/>
                </a:solidFill>
                <a:effectLst/>
                <a:uFillTx/>
                <a:latin typeface="Calibri"/>
              </a:rPr>
              <a:t>Clique sur "Download for ..." (selon ton système)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201"/>
              </a:spcAft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201"/>
              </a:spcAft>
            </a:pPr>
            <a:r>
              <a:rPr lang="en-US" sz="1800" b="1" u="none" strike="noStrike">
                <a:solidFill>
                  <a:srgbClr val="0A0A2E"/>
                </a:solidFill>
                <a:effectLst/>
                <a:uFillTx/>
                <a:latin typeface="Calibri"/>
              </a:rPr>
              <a:t>Étape 2 : Installer VS Code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Bef>
                <a:spcPts val="201"/>
              </a:spcBef>
              <a:spcAft>
                <a:spcPts val="201"/>
              </a:spcAft>
            </a:pPr>
            <a:r>
              <a:rPr lang="en-US" sz="1500" b="0" u="none" strike="noStrike">
                <a:solidFill>
                  <a:srgbClr val="0A0A2E"/>
                </a:solidFill>
                <a:effectLst/>
                <a:uFillTx/>
                <a:latin typeface="Calibri"/>
              </a:rPr>
              <a:t>Lance l'installateur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Bef>
                <a:spcPts val="201"/>
              </a:spcBef>
              <a:spcAft>
                <a:spcPts val="201"/>
              </a:spcAft>
            </a:pPr>
            <a:r>
              <a:rPr lang="en-US" sz="1500" b="0" u="none" strike="noStrike">
                <a:solidFill>
                  <a:srgbClr val="0A0A2E"/>
                </a:solidFill>
                <a:effectLst/>
                <a:uFillTx/>
                <a:latin typeface="Calibri"/>
              </a:rPr>
              <a:t>Accepte les conditions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Bef>
                <a:spcPts val="201"/>
              </a:spcBef>
              <a:spcAft>
                <a:spcPts val="201"/>
              </a:spcAft>
            </a:pPr>
            <a:r>
              <a:rPr lang="en-US" sz="1500" b="0" u="none" strike="noStrike">
                <a:solidFill>
                  <a:srgbClr val="0A0A2E"/>
                </a:solidFill>
                <a:effectLst/>
                <a:uFillTx/>
                <a:latin typeface="Calibri"/>
              </a:rPr>
              <a:t>Coche les options : "Add to PATH", "Open with Code" (menu contextuel)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Bef>
                <a:spcPts val="201"/>
              </a:spcBef>
              <a:spcAft>
                <a:spcPts val="201"/>
              </a:spcAft>
            </a:pPr>
            <a:r>
              <a:rPr lang="en-US" sz="1500" b="0" u="none" strike="noStrike">
                <a:solidFill>
                  <a:srgbClr val="0A0A2E"/>
                </a:solidFill>
                <a:effectLst/>
                <a:uFillTx/>
                <a:latin typeface="Calibri"/>
              </a:rPr>
              <a:t>Clique sur "Install" puis "Finish"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201"/>
              </a:spcAft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201"/>
              </a:spcAft>
            </a:pPr>
            <a:r>
              <a:rPr lang="en-US" sz="1800" b="1" u="none" strike="noStrike">
                <a:solidFill>
                  <a:srgbClr val="0A0A2E"/>
                </a:solidFill>
                <a:effectLst/>
                <a:uFillTx/>
                <a:latin typeface="Calibri"/>
              </a:rPr>
              <a:t>Étape 3 : Découvrir VS Code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201"/>
              </a:spcAft>
            </a:pPr>
            <a:r>
              <a:rPr lang="en-US" sz="1800" b="1" u="none" strike="noStrike">
                <a:solidFill>
                  <a:srgbClr val="0A0A2E"/>
                </a:solidFill>
                <a:effectLst/>
                <a:uFillTx/>
                <a:latin typeface="Calibri"/>
              </a:rPr>
              <a:t>Ouvre VS Code → tu vois l'écran d'accueil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201"/>
              </a:spcAft>
            </a:pPr>
            <a:r>
              <a:rPr lang="en-US" sz="1800" b="1" u="none" strike="noStrike">
                <a:solidFill>
                  <a:srgbClr val="0A0A2E"/>
                </a:solidFill>
                <a:effectLst/>
                <a:uFillTx/>
                <a:latin typeface="Calibri"/>
              </a:rPr>
              <a:t>Barre latérale gauche : fichiers, recherche, extensions, git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201"/>
              </a:spcAft>
            </a:pPr>
            <a:r>
              <a:rPr lang="en-US" sz="1800" b="1" u="none" strike="noStrike">
                <a:solidFill>
                  <a:srgbClr val="0A0A2E"/>
                </a:solidFill>
                <a:effectLst/>
                <a:uFillTx/>
                <a:latin typeface="Calibri"/>
              </a:rPr>
              <a:t>Zone centrale : ton éditeur de code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201"/>
              </a:spcAft>
            </a:pPr>
            <a:r>
              <a:rPr lang="en-US" sz="1800" b="1" u="none" strike="noStrike">
                <a:solidFill>
                  <a:srgbClr val="0A0A2E"/>
                </a:solidFill>
                <a:effectLst/>
                <a:uFillTx/>
                <a:latin typeface="Calibri"/>
              </a:rPr>
              <a:t>Barre du bas : terminal, erreurs, ligne actuelle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Rectangle 5"/>
          <p:cNvSpPr/>
          <p:nvPr/>
        </p:nvSpPr>
        <p:spPr>
          <a:xfrm>
            <a:off x="0" y="6720840"/>
            <a:ext cx="12191400" cy="36360"/>
          </a:xfrm>
          <a:prstGeom prst="rect">
            <a:avLst/>
          </a:prstGeom>
          <a:solidFill>
            <a:srgbClr val="00B4D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8280" rIns="90000" bIns="-8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Rectangle 1"/>
          <p:cNvSpPr/>
          <p:nvPr/>
        </p:nvSpPr>
        <p:spPr>
          <a:xfrm>
            <a:off x="0" y="0"/>
            <a:ext cx="12191400" cy="822600"/>
          </a:xfrm>
          <a:prstGeom prst="rect">
            <a:avLst/>
          </a:prstGeom>
          <a:solidFill>
            <a:srgbClr val="1A1A4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4" name="Rectangle 2"/>
          <p:cNvSpPr/>
          <p:nvPr/>
        </p:nvSpPr>
        <p:spPr>
          <a:xfrm>
            <a:off x="0" y="822960"/>
            <a:ext cx="12191400" cy="36360"/>
          </a:xfrm>
          <a:prstGeom prst="rect">
            <a:avLst/>
          </a:prstGeom>
          <a:solidFill>
            <a:srgbClr val="FF6B3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8280" rIns="90000" bIns="-8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5" name="TextBox 3"/>
          <p:cNvSpPr/>
          <p:nvPr/>
        </p:nvSpPr>
        <p:spPr>
          <a:xfrm>
            <a:off x="548640" y="10980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Les extensions Python VS Code</a:t>
            </a:r>
            <a:endParaRPr lang="fr-F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Box 4"/>
          <p:cNvSpPr/>
          <p:nvPr/>
        </p:nvSpPr>
        <p:spPr>
          <a:xfrm>
            <a:off x="548640" y="1188720"/>
            <a:ext cx="804636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201"/>
              </a:spcAft>
            </a:pPr>
            <a:r>
              <a:rPr lang="en-US" sz="1800" b="1" u="none" strike="noStrike">
                <a:solidFill>
                  <a:srgbClr val="0A0A2E"/>
                </a:solidFill>
                <a:effectLst/>
                <a:uFillTx/>
                <a:latin typeface="Calibri"/>
              </a:rPr>
              <a:t>Pourquoi des extensions ?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201"/>
              </a:spcAft>
            </a:pPr>
            <a:r>
              <a:rPr lang="en-US" sz="1800" b="1" u="none" strike="noStrike">
                <a:solidFill>
                  <a:srgbClr val="0A0A2E"/>
                </a:solidFill>
                <a:effectLst/>
                <a:uFillTx/>
                <a:latin typeface="Calibri"/>
              </a:rPr>
              <a:t>VS Code est un éditeur généraliste. Les extensions ajoutent des fonctionnalités pour des langages spécifiques.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201"/>
              </a:spcAft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201"/>
              </a:spcAft>
            </a:pPr>
            <a:r>
              <a:rPr lang="en-US" sz="1800" b="1" u="none" strike="noStrike">
                <a:solidFill>
                  <a:srgbClr val="0A0A2E"/>
                </a:solidFill>
                <a:effectLst/>
                <a:uFillTx/>
                <a:latin typeface="Calibri"/>
              </a:rPr>
              <a:t>Extensions à installer :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201"/>
              </a:spcAft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Bef>
                <a:spcPts val="201"/>
              </a:spcBef>
              <a:spcAft>
                <a:spcPts val="201"/>
              </a:spcAft>
            </a:pPr>
            <a:r>
              <a:rPr lang="en-US" sz="1500" b="0" u="none" strike="noStrike">
                <a:solidFill>
                  <a:srgbClr val="0A0A2E"/>
                </a:solidFill>
                <a:effectLst/>
                <a:uFillTx/>
                <a:latin typeface="Calibri"/>
              </a:rPr>
              <a:t>1️⃣ Python (par Microsoft)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Bef>
                <a:spcPts val="201"/>
              </a:spcBef>
              <a:spcAft>
                <a:spcPts val="201"/>
              </a:spcAft>
            </a:pPr>
            <a:r>
              <a:rPr lang="en-US" sz="1500" b="0" u="none" strike="noStrike">
                <a:solidFill>
                  <a:srgbClr val="0A0A2E"/>
                </a:solidFill>
                <a:effectLst/>
                <a:uFillTx/>
                <a:latin typeface="Calibri"/>
              </a:rPr>
              <a:t>  C'est l'extension OFFICIELLE pour Python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Bef>
                <a:spcPts val="201"/>
              </a:spcBef>
              <a:spcAft>
                <a:spcPts val="201"/>
              </a:spcAft>
            </a:pPr>
            <a:r>
              <a:rPr lang="en-US" sz="1500" b="0" u="none" strike="noStrike">
                <a:solidFill>
                  <a:srgbClr val="0A0A2E"/>
                </a:solidFill>
                <a:effectLst/>
                <a:uFillTx/>
                <a:latin typeface="Calibri"/>
              </a:rPr>
              <a:t>  Donne : coloration syntaxique, IntelliSense, débogueur, tests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Bef>
                <a:spcPts val="201"/>
              </a:spcBef>
              <a:spcAft>
                <a:spcPts val="201"/>
              </a:spcAft>
            </a:pPr>
            <a:r>
              <a:rPr lang="en-US" sz="1500" b="0" u="none" strike="noStrike">
                <a:solidFill>
                  <a:srgbClr val="0A0A2E"/>
                </a:solidFill>
                <a:effectLst/>
                <a:uFillTx/>
                <a:latin typeface="Calibri"/>
              </a:rPr>
              <a:t>  Comment : clic sur l'icône Extensions (🧩) dans la barre de gauche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Bef>
                <a:spcPts val="201"/>
              </a:spcBef>
              <a:spcAft>
                <a:spcPts val="201"/>
              </a:spcAft>
            </a:pPr>
            <a:r>
              <a:rPr lang="en-US" sz="1500" b="0" u="none" strike="noStrike">
                <a:solidFill>
                  <a:srgbClr val="0A0A2E"/>
                </a:solidFill>
                <a:effectLst/>
                <a:uFillTx/>
                <a:latin typeface="Calibri"/>
              </a:rPr>
              <a:t>  → Cherche "Python" → clique sur "Install"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201"/>
              </a:spcAft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Bef>
                <a:spcPts val="201"/>
              </a:spcBef>
              <a:spcAft>
                <a:spcPts val="201"/>
              </a:spcAft>
            </a:pPr>
            <a:r>
              <a:rPr lang="en-US" sz="1500" b="0" u="none" strike="noStrike">
                <a:solidFill>
                  <a:srgbClr val="0A0A2E"/>
                </a:solidFill>
                <a:effectLst/>
                <a:uFillTx/>
                <a:latin typeface="Calibri"/>
              </a:rPr>
              <a:t>2️⃣ Pylance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Bef>
                <a:spcPts val="201"/>
              </a:spcBef>
              <a:spcAft>
                <a:spcPts val="201"/>
              </a:spcAft>
            </a:pPr>
            <a:r>
              <a:rPr lang="en-US" sz="1500" b="0" u="none" strike="noStrike">
                <a:solidFill>
                  <a:srgbClr val="0A0A2E"/>
                </a:solidFill>
                <a:effectLst/>
                <a:uFillTx/>
                <a:latin typeface="Calibri"/>
              </a:rPr>
              <a:t>  Améliore l'autocomplétion et l'analyse de code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Bef>
                <a:spcPts val="201"/>
              </a:spcBef>
              <a:spcAft>
                <a:spcPts val="201"/>
              </a:spcAft>
            </a:pPr>
            <a:r>
              <a:rPr lang="en-US" sz="1500" b="0" u="none" strike="noStrike">
                <a:solidFill>
                  <a:srgbClr val="0A0A2E"/>
                </a:solidFill>
                <a:effectLst/>
                <a:uFillTx/>
                <a:latin typeface="Calibri"/>
              </a:rPr>
              <a:t>  Installé automatiquement avec l'extension Python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201"/>
              </a:spcAft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Bef>
                <a:spcPts val="201"/>
              </a:spcBef>
              <a:spcAft>
                <a:spcPts val="201"/>
              </a:spcAft>
            </a:pPr>
            <a:r>
              <a:rPr lang="en-US" sz="1500" b="0" u="none" strike="noStrike">
                <a:solidFill>
                  <a:srgbClr val="0A0A2E"/>
                </a:solidFill>
                <a:effectLst/>
                <a:uFillTx/>
                <a:latin typeface="Calibri"/>
              </a:rPr>
              <a:t>3️⃣ Python Debugger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Bef>
                <a:spcPts val="201"/>
              </a:spcBef>
              <a:spcAft>
                <a:spcPts val="201"/>
              </a:spcAft>
            </a:pPr>
            <a:r>
              <a:rPr lang="en-US" sz="1500" b="0" u="none" strike="noStrike">
                <a:solidFill>
                  <a:srgbClr val="0A0A2E"/>
                </a:solidFill>
                <a:effectLst/>
                <a:uFillTx/>
                <a:latin typeface="Calibri"/>
              </a:rPr>
              <a:t>  Pour déboguer ton code (trouver les erreurs)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Rectangle 5"/>
          <p:cNvSpPr/>
          <p:nvPr/>
        </p:nvSpPr>
        <p:spPr>
          <a:xfrm>
            <a:off x="0" y="6720840"/>
            <a:ext cx="12191400" cy="36360"/>
          </a:xfrm>
          <a:prstGeom prst="rect">
            <a:avLst/>
          </a:prstGeom>
          <a:solidFill>
            <a:srgbClr val="00B4D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8280" rIns="90000" bIns="-8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angle 1"/>
          <p:cNvSpPr/>
          <p:nvPr/>
        </p:nvSpPr>
        <p:spPr>
          <a:xfrm>
            <a:off x="0" y="0"/>
            <a:ext cx="12191400" cy="822600"/>
          </a:xfrm>
          <a:prstGeom prst="rect">
            <a:avLst/>
          </a:prstGeom>
          <a:solidFill>
            <a:srgbClr val="1A1A4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9" name="Rectangle 2"/>
          <p:cNvSpPr/>
          <p:nvPr/>
        </p:nvSpPr>
        <p:spPr>
          <a:xfrm>
            <a:off x="0" y="822960"/>
            <a:ext cx="12191400" cy="36360"/>
          </a:xfrm>
          <a:prstGeom prst="rect">
            <a:avLst/>
          </a:prstGeom>
          <a:solidFill>
            <a:srgbClr val="FF6B3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8280" rIns="90000" bIns="-8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0" name="TextBox 3"/>
          <p:cNvSpPr/>
          <p:nvPr/>
        </p:nvSpPr>
        <p:spPr>
          <a:xfrm>
            <a:off x="548640" y="10980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Configurer VS Code pour Python</a:t>
            </a:r>
            <a:endParaRPr lang="fr-F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Box 4"/>
          <p:cNvSpPr/>
          <p:nvPr/>
        </p:nvSpPr>
        <p:spPr>
          <a:xfrm>
            <a:off x="548640" y="1188720"/>
            <a:ext cx="804636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201"/>
              </a:spcAft>
            </a:pPr>
            <a:r>
              <a:rPr lang="en-US" sz="1800" b="1" u="none" strike="noStrike">
                <a:solidFill>
                  <a:srgbClr val="0A0A2E"/>
                </a:solidFill>
                <a:effectLst/>
                <a:uFillTx/>
                <a:latin typeface="Calibri"/>
              </a:rPr>
              <a:t>Sélectionner l'interpréteur Python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Bef>
                <a:spcPts val="201"/>
              </a:spcBef>
              <a:spcAft>
                <a:spcPts val="201"/>
              </a:spcAft>
            </a:pPr>
            <a:r>
              <a:rPr lang="en-US" sz="1500" b="0" u="none" strike="noStrike">
                <a:solidFill>
                  <a:srgbClr val="0A0A2E"/>
                </a:solidFill>
                <a:effectLst/>
                <a:uFillTx/>
                <a:latin typeface="Calibri"/>
              </a:rPr>
              <a:t>Ouvre VS Code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Bef>
                <a:spcPts val="201"/>
              </a:spcBef>
              <a:spcAft>
                <a:spcPts val="201"/>
              </a:spcAft>
            </a:pPr>
            <a:r>
              <a:rPr lang="en-US" sz="1500" b="0" u="none" strike="noStrike">
                <a:solidFill>
                  <a:srgbClr val="0A0A2E"/>
                </a:solidFill>
                <a:effectLst/>
                <a:uFillTx/>
                <a:latin typeface="Calibri"/>
              </a:rPr>
              <a:t>Appuie sur Ctrl+Shift+P (ou Cmd+Shift+P sur Mac)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Bef>
                <a:spcPts val="201"/>
              </a:spcBef>
              <a:spcAft>
                <a:spcPts val="201"/>
              </a:spcAft>
            </a:pPr>
            <a:r>
              <a:rPr lang="en-US" sz="1500" b="0" u="none" strike="noStrike">
                <a:solidFill>
                  <a:srgbClr val="0A0A2E"/>
                </a:solidFill>
                <a:effectLst/>
                <a:uFillTx/>
                <a:latin typeface="Calibri"/>
              </a:rPr>
              <a:t>Tape "Python: Select Interpreter"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Bef>
                <a:spcPts val="201"/>
              </a:spcBef>
              <a:spcAft>
                <a:spcPts val="201"/>
              </a:spcAft>
            </a:pPr>
            <a:r>
              <a:rPr lang="en-US" sz="1500" b="0" u="none" strike="noStrike">
                <a:solidFill>
                  <a:srgbClr val="0A0A2E"/>
                </a:solidFill>
                <a:effectLst/>
                <a:uFillTx/>
                <a:latin typeface="Calibri"/>
              </a:rPr>
              <a:t>Choisis l'interpréteur Python que tu viens d'installer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201"/>
              </a:spcAft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201"/>
              </a:spcAft>
            </a:pPr>
            <a:r>
              <a:rPr lang="en-US" sz="1800" b="1" u="none" strike="noStrike">
                <a:solidFill>
                  <a:srgbClr val="0A0A2E"/>
                </a:solidFill>
                <a:effectLst/>
                <a:uFillTx/>
                <a:latin typeface="Calibri"/>
              </a:rPr>
              <a:t>Créer ton premier fichier Python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Bef>
                <a:spcPts val="201"/>
              </a:spcBef>
              <a:spcAft>
                <a:spcPts val="201"/>
              </a:spcAft>
            </a:pPr>
            <a:r>
              <a:rPr lang="en-US" sz="1500" b="0" u="none" strike="noStrike">
                <a:solidFill>
                  <a:srgbClr val="0A0A2E"/>
                </a:solidFill>
                <a:effectLst/>
                <a:uFillTx/>
                <a:latin typeface="Calibri"/>
              </a:rPr>
              <a:t>Fais Fichier → Nouveau fichier (Ctrl+N)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Bef>
                <a:spcPts val="201"/>
              </a:spcBef>
              <a:spcAft>
                <a:spcPts val="201"/>
              </a:spcAft>
            </a:pPr>
            <a:r>
              <a:rPr lang="en-US" sz="1500" b="0" u="none" strike="noStrike">
                <a:solidFill>
                  <a:srgbClr val="0A0A2E"/>
                </a:solidFill>
                <a:effectLst/>
                <a:uFillTx/>
                <a:latin typeface="Calibri"/>
              </a:rPr>
              <a:t>Sauvegarde (Ctrl+S) sous le nom : test.py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Bef>
                <a:spcPts val="201"/>
              </a:spcBef>
              <a:spcAft>
                <a:spcPts val="201"/>
              </a:spcAft>
            </a:pPr>
            <a:r>
              <a:rPr lang="en-US" sz="1500" b="0" u="none" strike="noStrike">
                <a:solidFill>
                  <a:srgbClr val="0A0A2E"/>
                </a:solidFill>
                <a:effectLst/>
                <a:uFillTx/>
                <a:latin typeface="Calibri"/>
              </a:rPr>
              <a:t>VS Code reconnaît que c'est du Python et active les fonctionnalités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201"/>
              </a:spcAft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201"/>
              </a:spcAft>
            </a:pPr>
            <a:r>
              <a:rPr lang="en-US" sz="1800" b="1" u="none" strike="noStrike">
                <a:solidFill>
                  <a:srgbClr val="0A0A2E"/>
                </a:solidFill>
                <a:effectLst/>
                <a:uFillTx/>
                <a:latin typeface="Calibri"/>
              </a:rPr>
              <a:t>Le thème (pour faire joli)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Bef>
                <a:spcPts val="201"/>
              </a:spcBef>
              <a:spcAft>
                <a:spcPts val="201"/>
              </a:spcAft>
            </a:pPr>
            <a:r>
              <a:rPr lang="en-US" sz="1500" b="0" u="none" strike="noStrike">
                <a:solidFill>
                  <a:srgbClr val="0A0A2E"/>
                </a:solidFill>
                <a:effectLst/>
                <a:uFillTx/>
                <a:latin typeface="Calibri"/>
              </a:rPr>
              <a:t>Fais Ctrl+K Ctrl+T (ou va dans Fichier → Préférences → Thème)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Bef>
                <a:spcPts val="201"/>
              </a:spcBef>
              <a:spcAft>
                <a:spcPts val="201"/>
              </a:spcAft>
            </a:pPr>
            <a:r>
              <a:rPr lang="en-US" sz="1500" b="0" u="none" strike="noStrike">
                <a:solidFill>
                  <a:srgbClr val="0A0A2E"/>
                </a:solidFill>
                <a:effectLst/>
                <a:uFillTx/>
                <a:latin typeface="Calibri"/>
              </a:rPr>
              <a:t>Choisis "Dark Modern" (thème sombre) → plus confortable pour les yeux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Rectangle 5"/>
          <p:cNvSpPr/>
          <p:nvPr/>
        </p:nvSpPr>
        <p:spPr>
          <a:xfrm>
            <a:off x="0" y="6720840"/>
            <a:ext cx="12191400" cy="36360"/>
          </a:xfrm>
          <a:prstGeom prst="rect">
            <a:avLst/>
          </a:prstGeom>
          <a:solidFill>
            <a:srgbClr val="00B4D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8280" rIns="90000" bIns="-8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Rectangle 1"/>
          <p:cNvSpPr/>
          <p:nvPr/>
        </p:nvSpPr>
        <p:spPr>
          <a:xfrm>
            <a:off x="0" y="0"/>
            <a:ext cx="12191400" cy="822600"/>
          </a:xfrm>
          <a:prstGeom prst="rect">
            <a:avLst/>
          </a:prstGeom>
          <a:solidFill>
            <a:srgbClr val="1A1A4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4" name="Rectangle 2"/>
          <p:cNvSpPr/>
          <p:nvPr/>
        </p:nvSpPr>
        <p:spPr>
          <a:xfrm>
            <a:off x="0" y="822960"/>
            <a:ext cx="12191400" cy="36360"/>
          </a:xfrm>
          <a:prstGeom prst="rect">
            <a:avLst/>
          </a:prstGeom>
          <a:solidFill>
            <a:srgbClr val="FF6B3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8280" rIns="90000" bIns="-8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5" name="TextBox 3"/>
          <p:cNvSpPr/>
          <p:nvPr/>
        </p:nvSpPr>
        <p:spPr>
          <a:xfrm>
            <a:off x="548640" y="10980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Ton premier vrai programme</a:t>
            </a:r>
            <a:endParaRPr lang="fr-F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Box 4"/>
          <p:cNvSpPr/>
          <p:nvPr/>
        </p:nvSpPr>
        <p:spPr>
          <a:xfrm>
            <a:off x="900000" y="911160"/>
            <a:ext cx="8046360" cy="594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201"/>
              </a:spcAft>
            </a:pPr>
            <a:r>
              <a:rPr lang="en-US" sz="1800" b="1" u="none" strike="noStrike">
                <a:solidFill>
                  <a:srgbClr val="0A0A2E"/>
                </a:solidFill>
                <a:effectLst/>
                <a:uFillTx/>
                <a:latin typeface="Calibri"/>
              </a:rPr>
              <a:t>Maintenant que tout est installé, testons !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201"/>
              </a:spcAft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201"/>
              </a:spcAft>
            </a:pPr>
            <a:r>
              <a:rPr lang="en-US" sz="1800" b="1" u="none" strike="noStrike">
                <a:solidFill>
                  <a:srgbClr val="0A0A2E"/>
                </a:solidFill>
                <a:effectLst/>
                <a:uFillTx/>
                <a:latin typeface="Calibri"/>
              </a:rPr>
              <a:t>Dans VS Code, tape ce code :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201"/>
              </a:spcAft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201"/>
              </a:spcAft>
            </a:pPr>
            <a:r>
              <a:rPr lang="en-US" sz="1800" b="1" u="none" strike="noStrike">
                <a:solidFill>
                  <a:srgbClr val="0A0A2E"/>
                </a:solidFill>
                <a:effectLst/>
                <a:uFillTx/>
                <a:latin typeface="Calibri"/>
              </a:rPr>
              <a:t>print("Bonjour le monde !")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201"/>
              </a:spcAft>
            </a:pPr>
            <a:r>
              <a:rPr lang="en-US" sz="1800" b="1" u="none" strike="noStrike">
                <a:solidFill>
                  <a:srgbClr val="0A0A2E"/>
                </a:solidFill>
                <a:effectLst/>
                <a:uFillTx/>
                <a:latin typeface="Calibri"/>
              </a:rPr>
              <a:t>print("J'apprends Python !")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201"/>
              </a:spcAft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201"/>
              </a:spcAft>
            </a:pPr>
            <a:r>
              <a:rPr lang="en-US" sz="1800" b="1" u="none" strike="noStrike">
                <a:solidFill>
                  <a:srgbClr val="0A0A2E"/>
                </a:solidFill>
                <a:effectLst/>
                <a:uFillTx/>
                <a:latin typeface="Calibri"/>
              </a:rPr>
              <a:t>Pour exécuter :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Bef>
                <a:spcPts val="201"/>
              </a:spcBef>
              <a:spcAft>
                <a:spcPts val="201"/>
              </a:spcAft>
            </a:pPr>
            <a:r>
              <a:rPr lang="en-US" sz="1500" b="0" u="none" strike="noStrike">
                <a:solidFill>
                  <a:srgbClr val="0A0A2E"/>
                </a:solidFill>
                <a:effectLst/>
                <a:uFillTx/>
                <a:latin typeface="Calibri"/>
              </a:rPr>
              <a:t>Clique sur le triangle ▶ (Run, en haut à droite)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Bef>
                <a:spcPts val="201"/>
              </a:spcBef>
              <a:spcAft>
                <a:spcPts val="201"/>
              </a:spcAft>
            </a:pPr>
            <a:r>
              <a:rPr lang="en-US" sz="1500" b="0" u="none" strike="noStrike">
                <a:solidFill>
                  <a:srgbClr val="0A0A2E"/>
                </a:solidFill>
                <a:effectLst/>
                <a:uFillTx/>
                <a:latin typeface="Calibri"/>
              </a:rPr>
              <a:t>OU fais clic droit → "Run Python"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Bef>
                <a:spcPts val="201"/>
              </a:spcBef>
              <a:spcAft>
                <a:spcPts val="201"/>
              </a:spcAft>
            </a:pPr>
            <a:r>
              <a:rPr lang="en-US" sz="1500" b="0" u="none" strike="noStrike">
                <a:solidFill>
                  <a:srgbClr val="0A0A2E"/>
                </a:solidFill>
                <a:effectLst/>
                <a:uFillTx/>
                <a:latin typeface="Calibri"/>
              </a:rPr>
              <a:t>OU utilise Ctrl+F5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Bef>
                <a:spcPts val="201"/>
              </a:spcBef>
              <a:spcAft>
                <a:spcPts val="201"/>
              </a:spcAft>
            </a:pPr>
            <a:r>
              <a:rPr lang="en-US" sz="1500" b="0" u="none" strike="noStrike">
                <a:solidFill>
                  <a:srgbClr val="0A0A2E"/>
                </a:solidFill>
                <a:effectLst/>
                <a:uFillTx/>
                <a:latin typeface="Calibri"/>
              </a:rPr>
              <a:t>OU tape dans le terminal : python test.py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Bef>
                <a:spcPts val="201"/>
              </a:spcBef>
              <a:spcAft>
                <a:spcPts val="201"/>
              </a:spcAft>
            </a:pP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201"/>
              </a:spcAft>
            </a:pPr>
            <a:r>
              <a:rPr lang="en-US" sz="1800" b="1" u="none" strike="noStrike">
                <a:solidFill>
                  <a:srgbClr val="0A0A2E"/>
                </a:solidFill>
                <a:effectLst/>
                <a:uFillTx/>
                <a:latin typeface="Calibri"/>
              </a:rPr>
              <a:t>Résultat attendu :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201"/>
              </a:spcAft>
            </a:pPr>
            <a:r>
              <a:rPr lang="en-US" sz="1800" b="1" u="none" strike="noStrike">
                <a:solidFill>
                  <a:srgbClr val="0A0A2E"/>
                </a:solidFill>
                <a:effectLst/>
                <a:uFillTx/>
                <a:latin typeface="Calibri"/>
              </a:rPr>
              <a:t>Bonjour le monde !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201"/>
              </a:spcAft>
            </a:pPr>
            <a:r>
              <a:rPr lang="en-US" sz="1800" b="1" u="none" strike="noStrike">
                <a:solidFill>
                  <a:srgbClr val="0A0A2E"/>
                </a:solidFill>
                <a:effectLst/>
                <a:uFillTx/>
                <a:latin typeface="Calibri"/>
              </a:rPr>
              <a:t>J'apprends Python !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201"/>
              </a:spcAft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201"/>
              </a:spcAft>
            </a:pPr>
            <a:r>
              <a:rPr lang="en-US" sz="1800" b="1" u="none" strike="noStrike">
                <a:solidFill>
                  <a:srgbClr val="0A0A2E"/>
                </a:solidFill>
                <a:effectLst/>
                <a:uFillTx/>
                <a:latin typeface="Calibri"/>
              </a:rPr>
              <a:t>🎉 Félicitations ! Tu viens d'écrire et exécuter ton premier programme !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Rectangle 5"/>
          <p:cNvSpPr/>
          <p:nvPr/>
        </p:nvSpPr>
        <p:spPr>
          <a:xfrm>
            <a:off x="0" y="6720840"/>
            <a:ext cx="12191400" cy="36360"/>
          </a:xfrm>
          <a:prstGeom prst="rect">
            <a:avLst/>
          </a:prstGeom>
          <a:solidFill>
            <a:srgbClr val="00B4D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8280" rIns="90000" bIns="-8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Rectangle 1"/>
          <p:cNvSpPr/>
          <p:nvPr/>
        </p:nvSpPr>
        <p:spPr>
          <a:xfrm>
            <a:off x="0" y="0"/>
            <a:ext cx="12191400" cy="36360"/>
          </a:xfrm>
          <a:prstGeom prst="rect">
            <a:avLst/>
          </a:prstGeom>
          <a:solidFill>
            <a:srgbClr val="FF6B3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8280" rIns="90000" bIns="-8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9" name="TextBox 2"/>
          <p:cNvSpPr/>
          <p:nvPr/>
        </p:nvSpPr>
        <p:spPr>
          <a:xfrm>
            <a:off x="731520" y="45720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Ce qu'il faut retenir</a:t>
            </a:r>
            <a:endParaRPr lang="fr-FR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Rectangle 3"/>
          <p:cNvSpPr/>
          <p:nvPr/>
        </p:nvSpPr>
        <p:spPr>
          <a:xfrm>
            <a:off x="731520" y="1097280"/>
            <a:ext cx="2742840" cy="36360"/>
          </a:xfrm>
          <a:prstGeom prst="rect">
            <a:avLst/>
          </a:prstGeom>
          <a:solidFill>
            <a:srgbClr val="00B4D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8280" rIns="90000" bIns="-8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1" name="TextBox 4"/>
          <p:cNvSpPr/>
          <p:nvPr/>
        </p:nvSpPr>
        <p:spPr>
          <a:xfrm>
            <a:off x="731520" y="1463040"/>
            <a:ext cx="7680600" cy="45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400"/>
              </a:spcAft>
            </a:pPr>
            <a:r>
              <a:rPr lang="en-US" sz="1600" b="0" u="none" strike="noStrike">
                <a:solidFill>
                  <a:srgbClr val="DEE2E6"/>
                </a:solidFill>
                <a:effectLst/>
                <a:uFillTx/>
                <a:latin typeface="Calibri"/>
              </a:rPr>
              <a:t>✦  Python se télécharge sur python.org (cocher Add to PATH !)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400"/>
              </a:spcAft>
            </a:pPr>
            <a:r>
              <a:rPr lang="en-US" sz="1600" b="0" u="none" strike="noStrike">
                <a:solidFill>
                  <a:srgbClr val="DEE2E6"/>
                </a:solidFill>
                <a:effectLst/>
                <a:uFillTx/>
                <a:latin typeface="Calibri"/>
              </a:rPr>
              <a:t>✦  VS Code est l'éditeur recommandé avec l'extension Python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400"/>
              </a:spcAft>
            </a:pPr>
            <a:r>
              <a:rPr lang="en-US" sz="1600" b="0" u="none" strike="noStrike">
                <a:solidFill>
                  <a:srgbClr val="DEE2E6"/>
                </a:solidFill>
                <a:effectLst/>
                <a:uFillTx/>
                <a:latin typeface="Calibri"/>
              </a:rPr>
              <a:t>✦  L'interpréteur Python doit être sélectionné dans VS Code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400"/>
              </a:spcAft>
            </a:pPr>
            <a:r>
              <a:rPr lang="en-US" sz="1600" b="0" u="none" strike="noStrike">
                <a:solidFill>
                  <a:srgbClr val="DEE2E6"/>
                </a:solidFill>
                <a:effectLst/>
                <a:uFillTx/>
                <a:latin typeface="Calibri"/>
              </a:rPr>
              <a:t>✦  On écrit du code dans un fichier .py et on l'exécute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400"/>
              </a:spcAft>
            </a:pPr>
            <a:r>
              <a:rPr lang="en-US" sz="1600" b="0" u="none" strike="noStrike">
                <a:solidFill>
                  <a:srgbClr val="DEE2E6"/>
                </a:solidFill>
                <a:effectLst/>
                <a:uFillTx/>
                <a:latin typeface="Calibri"/>
              </a:rPr>
              <a:t>✦  L'environnement est prêt → on peut commencer à coder !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400"/>
              </a:spcAft>
            </a:pPr>
            <a:r>
              <a:rPr lang="en-US" sz="1600" b="0" u="none" strike="noStrike">
                <a:solidFill>
                  <a:srgbClr val="DEE2E6"/>
                </a:solidFill>
                <a:effectLst/>
                <a:uFillTx/>
                <a:latin typeface="Calibri"/>
              </a:rPr>
              <a:t>✦  N'hésite pas à personnaliser VS Code (thème, polices, etc.)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Rectangle 5"/>
          <p:cNvSpPr/>
          <p:nvPr/>
        </p:nvSpPr>
        <p:spPr>
          <a:xfrm>
            <a:off x="0" y="6720840"/>
            <a:ext cx="12191400" cy="36360"/>
          </a:xfrm>
          <a:prstGeom prst="rect">
            <a:avLst/>
          </a:prstGeom>
          <a:solidFill>
            <a:srgbClr val="06D6A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8280" rIns="90000" bIns="-8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LibreOffice/26.2.2.2$Linux_X86_64 LibreOffice_project/620$Build-2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fr-FR</dc:language>
  <cp:lastModifiedBy/>
  <dcterms:modified xsi:type="dcterms:W3CDTF">2026-05-31T23:51:56Z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