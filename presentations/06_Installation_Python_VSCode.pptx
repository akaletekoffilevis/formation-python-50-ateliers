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82880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6B35"/>
                </a:solidFill>
                <a:latin typeface="Calibri"/>
              </a:defRPr>
            </a:pPr>
            <a:r>
              <a:t>Partie 1 - Culture Informatique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377440"/>
            <a:ext cx="7315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Calibri"/>
              </a:defRPr>
            </a:pPr>
            <a:r>
              <a:t>Installation de Python et VS Code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384048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6C757D"/>
                </a:solidFill>
                <a:latin typeface="Calibri"/>
              </a:defRPr>
            </a:pPr>
            <a:r>
              <a:t>Préparer ton environnement de développement pas à pas</a:t>
            </a:r>
          </a:p>
        </p:txBody>
      </p:sp>
      <p:sp>
        <p:nvSpPr>
          <p:cNvPr id="7" name="Rectangle 6"/>
          <p:cNvSpPr/>
          <p:nvPr/>
        </p:nvSpPr>
        <p:spPr>
          <a:xfrm>
            <a:off x="1371600" y="4754880"/>
            <a:ext cx="2743200" cy="36576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594360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C757D"/>
                </a:solidFill>
                <a:latin typeface="Calibri"/>
              </a:defRPr>
            </a:pPr>
            <a:r>
              <a:t>Cours de Programmation Python - Fondamentaux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A1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36576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Calibri"/>
              </a:defRPr>
            </a:pPr>
            <a:r>
              <a:t>  Objectifs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400"/>
              </a:spcAft>
              <a:defRPr sz="1700">
                <a:solidFill>
                  <a:srgbClr val="0A0A2E"/>
                </a:solidFill>
                <a:latin typeface="Calibri"/>
              </a:defRPr>
            </a:pPr>
            <a:r>
              <a:t>✅  Installer Python sur ton ordinateur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700">
                <a:solidFill>
                  <a:srgbClr val="0A0A2E"/>
                </a:solidFill>
                <a:latin typeface="Calibri"/>
              </a:defRPr>
            </a:pPr>
            <a:r>
              <a:t>✅  Installer VS Code (l'éditeur de code)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700">
                <a:solidFill>
                  <a:srgbClr val="0A0A2E"/>
                </a:solidFill>
                <a:latin typeface="Calibri"/>
              </a:defRPr>
            </a:pPr>
            <a:r>
              <a:t>✅  Configurer VS Code pour Python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700">
                <a:solidFill>
                  <a:srgbClr val="0A0A2E"/>
                </a:solidFill>
                <a:latin typeface="Calibri"/>
              </a:defRPr>
            </a:pPr>
            <a:r>
              <a:t>✅  Vérifier que tout fonctionne correctement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20840"/>
            <a:ext cx="12191695" cy="3657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A1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36576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Calibri"/>
              </a:defRPr>
            </a:pPr>
            <a:r>
              <a:t>  Définition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6B35"/>
                </a:solidFill>
                <a:latin typeface="Calibri"/>
              </a:defRPr>
            </a:pPr>
            <a:r>
              <a:t>Environnement de développement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103120"/>
            <a:ext cx="1828800" cy="2743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377440"/>
            <a:ext cx="8046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>
                <a:solidFill>
                  <a:srgbClr val="0A0A2E"/>
                </a:solidFill>
                <a:latin typeface="Calibri"/>
              </a:defRPr>
            </a:pPr>
            <a:r>
              <a:t>C'est l'ensemble des outils que tu utilises pour écrire, tester et exécuter du code. Un bon environnement rend le développement plus facile et efficace.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4389120"/>
            <a:ext cx="8046720" cy="2011680"/>
          </a:xfrm>
          <a:prstGeom prst="round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4480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B4D8"/>
                </a:solidFill>
                <a:latin typeface="Calibri"/>
              </a:defRPr>
            </a:pPr>
            <a:r>
              <a:t>Exemple 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846320"/>
            <a:ext cx="7680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0A0A2E"/>
                </a:solidFill>
                <a:latin typeface="Calibri"/>
              </a:defRPr>
            </a:pPr>
            <a:r>
              <a:t>Notre environnement :</a:t>
            </a:r>
            <a:br/>
            <a:r>
              <a:t>🐍 Python (le langage)</a:t>
            </a:r>
            <a:br/>
            <a:r>
              <a:t>📝 VS Code (l'éditeur)</a:t>
            </a:r>
            <a:br/>
            <a:r>
              <a:t>⚡ Le terminal (pour exécuter les commandes)</a:t>
            </a:r>
            <a:br/>
            <a:r>
              <a:t>🔧 Les extensions VS Code (pour les fonctionnalités supplémentaires)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20840"/>
            <a:ext cx="12191695" cy="3657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A1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36576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Calibri"/>
              </a:defRPr>
            </a:pPr>
            <a:r>
              <a:t>Télécharger et installer Python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800" b="1">
                <a:solidFill>
                  <a:srgbClr val="0A0A2E"/>
                </a:solidFill>
                <a:latin typeface="Calibri"/>
              </a:defRPr>
            </a:pPr>
            <a:r>
              <a:t>Étape 1 : Aller sur python.org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800" b="1">
                <a:solidFill>
                  <a:srgbClr val="0A0A2E"/>
                </a:solidFill>
                <a:latin typeface="Calibri"/>
              </a:defRPr>
            </a:pPr>
            <a:r>
              <a:t>Ouvre ton navigateur et va sur https://www.python.org/downloads/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800" b="1">
                <a:solidFill>
                  <a:srgbClr val="0A0A2E"/>
                </a:solidFill>
                <a:latin typeface="Calibri"/>
              </a:defRPr>
            </a:pPr>
            <a:r>
              <a:t>Clique sur le bouton "Download Python 3.xx" (la dernière version)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800" b="1">
                <a:solidFill>
                  <a:srgbClr val="0A0A2E"/>
                </a:solidFill>
                <a:latin typeface="Calibri"/>
              </a:defRPr>
            </a:pPr>
          </a:p>
          <a:p>
            <a:pPr>
              <a:spcBef>
                <a:spcPts val="200"/>
              </a:spcBef>
              <a:spcAft>
                <a:spcPts val="200"/>
              </a:spcAft>
              <a:defRPr sz="1800" b="1">
                <a:solidFill>
                  <a:srgbClr val="0A0A2E"/>
                </a:solidFill>
                <a:latin typeface="Calibri"/>
              </a:defRPr>
            </a:pPr>
            <a:r>
              <a:t>Étape 2 : Installer Python</a:t>
            </a:r>
          </a:p>
          <a:p>
            <a:pPr lvl="1">
              <a:spcBef>
                <a:spcPts val="200"/>
              </a:spcBef>
              <a:spcAft>
                <a:spcPts val="200"/>
              </a:spcAft>
              <a:defRPr sz="1500" b="0">
                <a:solidFill>
                  <a:srgbClr val="0A0A2E"/>
                </a:solidFill>
                <a:latin typeface="Calibri"/>
              </a:defRPr>
            </a:pPr>
            <a:r>
              <a:t>Lance le fichier téléchargé</a:t>
            </a:r>
          </a:p>
          <a:p>
            <a:pPr lvl="1">
              <a:spcBef>
                <a:spcPts val="200"/>
              </a:spcBef>
              <a:spcAft>
                <a:spcPts val="200"/>
              </a:spcAft>
              <a:defRPr sz="1500" b="0">
                <a:solidFill>
                  <a:srgbClr val="0A0A2E"/>
                </a:solidFill>
                <a:latin typeface="Calibri"/>
              </a:defRPr>
            </a:pPr>
            <a:r>
              <a:t>IMPORTANT : Coche "Add Python to PATH" (sinon ça ne marchera pas !)</a:t>
            </a:r>
          </a:p>
          <a:p>
            <a:pPr lvl="1">
              <a:spcBef>
                <a:spcPts val="200"/>
              </a:spcBef>
              <a:spcAft>
                <a:spcPts val="200"/>
              </a:spcAft>
              <a:defRPr sz="1500" b="0">
                <a:solidFill>
                  <a:srgbClr val="0A0A2E"/>
                </a:solidFill>
                <a:latin typeface="Calibri"/>
              </a:defRPr>
            </a:pPr>
            <a:r>
              <a:t>Clique sur "Install Now" (ou "Customize" si tu veux changer le dossier)</a:t>
            </a:r>
          </a:p>
          <a:p>
            <a:pPr lvl="1">
              <a:spcBef>
                <a:spcPts val="200"/>
              </a:spcBef>
              <a:spcAft>
                <a:spcPts val="200"/>
              </a:spcAft>
              <a:defRPr sz="1500" b="0">
                <a:solidFill>
                  <a:srgbClr val="0A0A2E"/>
                </a:solidFill>
                <a:latin typeface="Calibri"/>
              </a:defRPr>
            </a:pPr>
            <a:r>
              <a:t>Attends la fin de l'installation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800" b="1">
                <a:solidFill>
                  <a:srgbClr val="0A0A2E"/>
                </a:solidFill>
                <a:latin typeface="Calibri"/>
              </a:defRPr>
            </a:pPr>
          </a:p>
          <a:p>
            <a:pPr>
              <a:spcBef>
                <a:spcPts val="200"/>
              </a:spcBef>
              <a:spcAft>
                <a:spcPts val="200"/>
              </a:spcAft>
              <a:defRPr sz="1800" b="1">
                <a:solidFill>
                  <a:srgbClr val="0A0A2E"/>
                </a:solidFill>
                <a:latin typeface="Calibri"/>
              </a:defRPr>
            </a:pPr>
            <a:r>
              <a:t>Étape 3 : Vérifier l'installation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800" b="1">
                <a:solidFill>
                  <a:srgbClr val="0A0A2E"/>
                </a:solidFill>
                <a:latin typeface="Calibri"/>
              </a:defRPr>
            </a:pPr>
            <a:r>
              <a:t>Ouvre un terminal (CMD sur Windows, Terminal sur Mac/Linux)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800" b="1">
                <a:solidFill>
                  <a:srgbClr val="0A0A2E"/>
                </a:solidFill>
                <a:latin typeface="Calibri"/>
              </a:defRPr>
            </a:pPr>
            <a:r>
              <a:t>Tape : python --version  (ou python3 --version)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800" b="1">
                <a:solidFill>
                  <a:srgbClr val="0A0A2E"/>
                </a:solidFill>
                <a:latin typeface="Calibri"/>
              </a:defRPr>
            </a:pPr>
            <a:r>
              <a:t>Tu devrais voir : Python 3.xx.xx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20840"/>
            <a:ext cx="12191695" cy="3657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A1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36576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Calibri"/>
              </a:defRPr>
            </a:pPr>
            <a:r>
              <a:t>Télécharger et installer VS 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800" b="1">
                <a:solidFill>
                  <a:srgbClr val="0A0A2E"/>
                </a:solidFill>
                <a:latin typeface="Calibri"/>
              </a:defRPr>
            </a:pPr>
            <a:r>
              <a:t>Étape 1 : Aller sur code.visualstudio.com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800" b="1">
                <a:solidFill>
                  <a:srgbClr val="0A0A2E"/>
                </a:solidFill>
                <a:latin typeface="Calibri"/>
              </a:defRPr>
            </a:pPr>
            <a:r>
              <a:t>Va sur https://code.visualstudio.com/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800" b="1">
                <a:solidFill>
                  <a:srgbClr val="0A0A2E"/>
                </a:solidFill>
                <a:latin typeface="Calibri"/>
              </a:defRPr>
            </a:pPr>
            <a:r>
              <a:t>Clique sur "Download for ..." (selon ton système)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800" b="1">
                <a:solidFill>
                  <a:srgbClr val="0A0A2E"/>
                </a:solidFill>
                <a:latin typeface="Calibri"/>
              </a:defRPr>
            </a:pPr>
          </a:p>
          <a:p>
            <a:pPr>
              <a:spcBef>
                <a:spcPts val="200"/>
              </a:spcBef>
              <a:spcAft>
                <a:spcPts val="200"/>
              </a:spcAft>
              <a:defRPr sz="1800" b="1">
                <a:solidFill>
                  <a:srgbClr val="0A0A2E"/>
                </a:solidFill>
                <a:latin typeface="Calibri"/>
              </a:defRPr>
            </a:pPr>
            <a:r>
              <a:t>Étape 2 : Installer VS Code</a:t>
            </a:r>
          </a:p>
          <a:p>
            <a:pPr lvl="1">
              <a:spcBef>
                <a:spcPts val="200"/>
              </a:spcBef>
              <a:spcAft>
                <a:spcPts val="200"/>
              </a:spcAft>
              <a:defRPr sz="1500" b="0">
                <a:solidFill>
                  <a:srgbClr val="0A0A2E"/>
                </a:solidFill>
                <a:latin typeface="Calibri"/>
              </a:defRPr>
            </a:pPr>
            <a:r>
              <a:t>Lance l'installateur</a:t>
            </a:r>
          </a:p>
          <a:p>
            <a:pPr lvl="1">
              <a:spcBef>
                <a:spcPts val="200"/>
              </a:spcBef>
              <a:spcAft>
                <a:spcPts val="200"/>
              </a:spcAft>
              <a:defRPr sz="1500" b="0">
                <a:solidFill>
                  <a:srgbClr val="0A0A2E"/>
                </a:solidFill>
                <a:latin typeface="Calibri"/>
              </a:defRPr>
            </a:pPr>
            <a:r>
              <a:t>Accepte les conditions</a:t>
            </a:r>
          </a:p>
          <a:p>
            <a:pPr lvl="1">
              <a:spcBef>
                <a:spcPts val="200"/>
              </a:spcBef>
              <a:spcAft>
                <a:spcPts val="200"/>
              </a:spcAft>
              <a:defRPr sz="1500" b="0">
                <a:solidFill>
                  <a:srgbClr val="0A0A2E"/>
                </a:solidFill>
                <a:latin typeface="Calibri"/>
              </a:defRPr>
            </a:pPr>
            <a:r>
              <a:t>Coche les options : "Add to PATH", "Open with Code" (menu contextuel)</a:t>
            </a:r>
          </a:p>
          <a:p>
            <a:pPr lvl="1">
              <a:spcBef>
                <a:spcPts val="200"/>
              </a:spcBef>
              <a:spcAft>
                <a:spcPts val="200"/>
              </a:spcAft>
              <a:defRPr sz="1500" b="0">
                <a:solidFill>
                  <a:srgbClr val="0A0A2E"/>
                </a:solidFill>
                <a:latin typeface="Calibri"/>
              </a:defRPr>
            </a:pPr>
            <a:r>
              <a:t>Clique sur "Install" puis "Finish"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800" b="1">
                <a:solidFill>
                  <a:srgbClr val="0A0A2E"/>
                </a:solidFill>
                <a:latin typeface="Calibri"/>
              </a:defRPr>
            </a:pPr>
          </a:p>
          <a:p>
            <a:pPr>
              <a:spcBef>
                <a:spcPts val="200"/>
              </a:spcBef>
              <a:spcAft>
                <a:spcPts val="200"/>
              </a:spcAft>
              <a:defRPr sz="1800" b="1">
                <a:solidFill>
                  <a:srgbClr val="0A0A2E"/>
                </a:solidFill>
                <a:latin typeface="Calibri"/>
              </a:defRPr>
            </a:pPr>
            <a:r>
              <a:t>Étape 3 : Découvrir VS Code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800" b="1">
                <a:solidFill>
                  <a:srgbClr val="0A0A2E"/>
                </a:solidFill>
                <a:latin typeface="Calibri"/>
              </a:defRPr>
            </a:pPr>
            <a:r>
              <a:t>Ouvre VS Code → tu vois l'écran d'accueil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800" b="1">
                <a:solidFill>
                  <a:srgbClr val="0A0A2E"/>
                </a:solidFill>
                <a:latin typeface="Calibri"/>
              </a:defRPr>
            </a:pPr>
            <a:r>
              <a:t>Barre latérale gauche : fichiers, recherche, extensions, git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800" b="1">
                <a:solidFill>
                  <a:srgbClr val="0A0A2E"/>
                </a:solidFill>
                <a:latin typeface="Calibri"/>
              </a:defRPr>
            </a:pPr>
            <a:r>
              <a:t>Zone centrale : ton éditeur de code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800" b="1">
                <a:solidFill>
                  <a:srgbClr val="0A0A2E"/>
                </a:solidFill>
                <a:latin typeface="Calibri"/>
              </a:defRPr>
            </a:pPr>
            <a:r>
              <a:t>Barre du bas : terminal, erreurs, ligne actuelle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20840"/>
            <a:ext cx="12191695" cy="3657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A1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36576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Calibri"/>
              </a:defRPr>
            </a:pPr>
            <a:r>
              <a:t>Les extensions Python VS 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800" b="1">
                <a:solidFill>
                  <a:srgbClr val="0A0A2E"/>
                </a:solidFill>
                <a:latin typeface="Calibri"/>
              </a:defRPr>
            </a:pPr>
            <a:r>
              <a:t>Pourquoi des extensions ?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800" b="1">
                <a:solidFill>
                  <a:srgbClr val="0A0A2E"/>
                </a:solidFill>
                <a:latin typeface="Calibri"/>
              </a:defRPr>
            </a:pPr>
            <a:r>
              <a:t>VS Code est un éditeur généraliste. Les extensions ajoutent des fonctionnalités pour des langages spécifiques.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800" b="1">
                <a:solidFill>
                  <a:srgbClr val="0A0A2E"/>
                </a:solidFill>
                <a:latin typeface="Calibri"/>
              </a:defRPr>
            </a:pPr>
          </a:p>
          <a:p>
            <a:pPr>
              <a:spcBef>
                <a:spcPts val="200"/>
              </a:spcBef>
              <a:spcAft>
                <a:spcPts val="200"/>
              </a:spcAft>
              <a:defRPr sz="1800" b="1">
                <a:solidFill>
                  <a:srgbClr val="0A0A2E"/>
                </a:solidFill>
                <a:latin typeface="Calibri"/>
              </a:defRPr>
            </a:pPr>
            <a:r>
              <a:t>Extensions à installer :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800" b="1">
                <a:solidFill>
                  <a:srgbClr val="0A0A2E"/>
                </a:solidFill>
                <a:latin typeface="Calibri"/>
              </a:defRPr>
            </a:pPr>
          </a:p>
          <a:p>
            <a:pPr lvl="1">
              <a:spcBef>
                <a:spcPts val="200"/>
              </a:spcBef>
              <a:spcAft>
                <a:spcPts val="200"/>
              </a:spcAft>
              <a:defRPr sz="1500" b="0">
                <a:solidFill>
                  <a:srgbClr val="0A0A2E"/>
                </a:solidFill>
                <a:latin typeface="Calibri"/>
              </a:defRPr>
            </a:pPr>
            <a:r>
              <a:t>1️⃣ Python (par Microsoft)</a:t>
            </a:r>
          </a:p>
          <a:p>
            <a:pPr lvl="1">
              <a:spcBef>
                <a:spcPts val="200"/>
              </a:spcBef>
              <a:spcAft>
                <a:spcPts val="200"/>
              </a:spcAft>
              <a:defRPr sz="1500" b="0">
                <a:solidFill>
                  <a:srgbClr val="0A0A2E"/>
                </a:solidFill>
                <a:latin typeface="Calibri"/>
              </a:defRPr>
            </a:pPr>
            <a:r>
              <a:t>  C'est l'extension OFFICIELLE pour Python</a:t>
            </a:r>
          </a:p>
          <a:p>
            <a:pPr lvl="1">
              <a:spcBef>
                <a:spcPts val="200"/>
              </a:spcBef>
              <a:spcAft>
                <a:spcPts val="200"/>
              </a:spcAft>
              <a:defRPr sz="1500" b="0">
                <a:solidFill>
                  <a:srgbClr val="0A0A2E"/>
                </a:solidFill>
                <a:latin typeface="Calibri"/>
              </a:defRPr>
            </a:pPr>
            <a:r>
              <a:t>  Donne : coloration syntaxique, IntelliSense, débogueur, tests</a:t>
            </a:r>
          </a:p>
          <a:p>
            <a:pPr lvl="1">
              <a:spcBef>
                <a:spcPts val="200"/>
              </a:spcBef>
              <a:spcAft>
                <a:spcPts val="200"/>
              </a:spcAft>
              <a:defRPr sz="1500" b="0">
                <a:solidFill>
                  <a:srgbClr val="0A0A2E"/>
                </a:solidFill>
                <a:latin typeface="Calibri"/>
              </a:defRPr>
            </a:pPr>
            <a:r>
              <a:t>  Comment : clic sur l'icône Extensions (🧩) dans la barre de gauche</a:t>
            </a:r>
          </a:p>
          <a:p>
            <a:pPr lvl="1">
              <a:spcBef>
                <a:spcPts val="200"/>
              </a:spcBef>
              <a:spcAft>
                <a:spcPts val="200"/>
              </a:spcAft>
              <a:defRPr sz="1500" b="0">
                <a:solidFill>
                  <a:srgbClr val="0A0A2E"/>
                </a:solidFill>
                <a:latin typeface="Calibri"/>
              </a:defRPr>
            </a:pPr>
            <a:r>
              <a:t>  → Cherche "Python" → clique sur "Install"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800" b="1">
                <a:solidFill>
                  <a:srgbClr val="0A0A2E"/>
                </a:solidFill>
                <a:latin typeface="Calibri"/>
              </a:defRPr>
            </a:pPr>
          </a:p>
          <a:p>
            <a:pPr lvl="1">
              <a:spcBef>
                <a:spcPts val="200"/>
              </a:spcBef>
              <a:spcAft>
                <a:spcPts val="200"/>
              </a:spcAft>
              <a:defRPr sz="1500" b="0">
                <a:solidFill>
                  <a:srgbClr val="0A0A2E"/>
                </a:solidFill>
                <a:latin typeface="Calibri"/>
              </a:defRPr>
            </a:pPr>
            <a:r>
              <a:t>2️⃣ Pylance</a:t>
            </a:r>
          </a:p>
          <a:p>
            <a:pPr lvl="1">
              <a:spcBef>
                <a:spcPts val="200"/>
              </a:spcBef>
              <a:spcAft>
                <a:spcPts val="200"/>
              </a:spcAft>
              <a:defRPr sz="1500" b="0">
                <a:solidFill>
                  <a:srgbClr val="0A0A2E"/>
                </a:solidFill>
                <a:latin typeface="Calibri"/>
              </a:defRPr>
            </a:pPr>
            <a:r>
              <a:t>  Améliore l'autocomplétion et l'analyse de code</a:t>
            </a:r>
          </a:p>
          <a:p>
            <a:pPr lvl="1">
              <a:spcBef>
                <a:spcPts val="200"/>
              </a:spcBef>
              <a:spcAft>
                <a:spcPts val="200"/>
              </a:spcAft>
              <a:defRPr sz="1500" b="0">
                <a:solidFill>
                  <a:srgbClr val="0A0A2E"/>
                </a:solidFill>
                <a:latin typeface="Calibri"/>
              </a:defRPr>
            </a:pPr>
            <a:r>
              <a:t>  Installé automatiquement avec l'extension Python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800" b="1">
                <a:solidFill>
                  <a:srgbClr val="0A0A2E"/>
                </a:solidFill>
                <a:latin typeface="Calibri"/>
              </a:defRPr>
            </a:pPr>
          </a:p>
          <a:p>
            <a:pPr lvl="1">
              <a:spcBef>
                <a:spcPts val="200"/>
              </a:spcBef>
              <a:spcAft>
                <a:spcPts val="200"/>
              </a:spcAft>
              <a:defRPr sz="1500" b="0">
                <a:solidFill>
                  <a:srgbClr val="0A0A2E"/>
                </a:solidFill>
                <a:latin typeface="Calibri"/>
              </a:defRPr>
            </a:pPr>
            <a:r>
              <a:t>3️⃣ Python Debugger</a:t>
            </a:r>
          </a:p>
          <a:p>
            <a:pPr lvl="1">
              <a:spcBef>
                <a:spcPts val="200"/>
              </a:spcBef>
              <a:spcAft>
                <a:spcPts val="200"/>
              </a:spcAft>
              <a:defRPr sz="1500" b="0">
                <a:solidFill>
                  <a:srgbClr val="0A0A2E"/>
                </a:solidFill>
                <a:latin typeface="Calibri"/>
              </a:defRPr>
            </a:pPr>
            <a:r>
              <a:t>  Pour déboguer ton code (trouver les erreurs)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20840"/>
            <a:ext cx="12191695" cy="3657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A1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36576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Calibri"/>
              </a:defRPr>
            </a:pPr>
            <a:r>
              <a:t>Configurer VS Code pour Python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800" b="1">
                <a:solidFill>
                  <a:srgbClr val="0A0A2E"/>
                </a:solidFill>
                <a:latin typeface="Calibri"/>
              </a:defRPr>
            </a:pPr>
            <a:r>
              <a:t>Sélectionner l'interpréteur Python</a:t>
            </a:r>
          </a:p>
          <a:p>
            <a:pPr lvl="1">
              <a:spcBef>
                <a:spcPts val="200"/>
              </a:spcBef>
              <a:spcAft>
                <a:spcPts val="200"/>
              </a:spcAft>
              <a:defRPr sz="1500" b="0">
                <a:solidFill>
                  <a:srgbClr val="0A0A2E"/>
                </a:solidFill>
                <a:latin typeface="Calibri"/>
              </a:defRPr>
            </a:pPr>
            <a:r>
              <a:t>Ouvre VS Code</a:t>
            </a:r>
          </a:p>
          <a:p>
            <a:pPr lvl="1">
              <a:spcBef>
                <a:spcPts val="200"/>
              </a:spcBef>
              <a:spcAft>
                <a:spcPts val="200"/>
              </a:spcAft>
              <a:defRPr sz="1500" b="0">
                <a:solidFill>
                  <a:srgbClr val="0A0A2E"/>
                </a:solidFill>
                <a:latin typeface="Calibri"/>
              </a:defRPr>
            </a:pPr>
            <a:r>
              <a:t>Appuie sur Ctrl+Shift+P (ou Cmd+Shift+P sur Mac)</a:t>
            </a:r>
          </a:p>
          <a:p>
            <a:pPr lvl="1">
              <a:spcBef>
                <a:spcPts val="200"/>
              </a:spcBef>
              <a:spcAft>
                <a:spcPts val="200"/>
              </a:spcAft>
              <a:defRPr sz="1500" b="0">
                <a:solidFill>
                  <a:srgbClr val="0A0A2E"/>
                </a:solidFill>
                <a:latin typeface="Calibri"/>
              </a:defRPr>
            </a:pPr>
            <a:r>
              <a:t>Tape "Python: Select Interpreter"</a:t>
            </a:r>
          </a:p>
          <a:p>
            <a:pPr lvl="1">
              <a:spcBef>
                <a:spcPts val="200"/>
              </a:spcBef>
              <a:spcAft>
                <a:spcPts val="200"/>
              </a:spcAft>
              <a:defRPr sz="1500" b="0">
                <a:solidFill>
                  <a:srgbClr val="0A0A2E"/>
                </a:solidFill>
                <a:latin typeface="Calibri"/>
              </a:defRPr>
            </a:pPr>
            <a:r>
              <a:t>Choisis l'interpréteur Python que tu viens d'installer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800" b="1">
                <a:solidFill>
                  <a:srgbClr val="0A0A2E"/>
                </a:solidFill>
                <a:latin typeface="Calibri"/>
              </a:defRPr>
            </a:pPr>
          </a:p>
          <a:p>
            <a:pPr>
              <a:spcBef>
                <a:spcPts val="200"/>
              </a:spcBef>
              <a:spcAft>
                <a:spcPts val="200"/>
              </a:spcAft>
              <a:defRPr sz="1800" b="1">
                <a:solidFill>
                  <a:srgbClr val="0A0A2E"/>
                </a:solidFill>
                <a:latin typeface="Calibri"/>
              </a:defRPr>
            </a:pPr>
            <a:r>
              <a:t>Créer ton premier fichier Python</a:t>
            </a:r>
          </a:p>
          <a:p>
            <a:pPr lvl="1">
              <a:spcBef>
                <a:spcPts val="200"/>
              </a:spcBef>
              <a:spcAft>
                <a:spcPts val="200"/>
              </a:spcAft>
              <a:defRPr sz="1500" b="0">
                <a:solidFill>
                  <a:srgbClr val="0A0A2E"/>
                </a:solidFill>
                <a:latin typeface="Calibri"/>
              </a:defRPr>
            </a:pPr>
            <a:r>
              <a:t>Fais Fichier → Nouveau fichier (Ctrl+N)</a:t>
            </a:r>
          </a:p>
          <a:p>
            <a:pPr lvl="1">
              <a:spcBef>
                <a:spcPts val="200"/>
              </a:spcBef>
              <a:spcAft>
                <a:spcPts val="200"/>
              </a:spcAft>
              <a:defRPr sz="1500" b="0">
                <a:solidFill>
                  <a:srgbClr val="0A0A2E"/>
                </a:solidFill>
                <a:latin typeface="Calibri"/>
              </a:defRPr>
            </a:pPr>
            <a:r>
              <a:t>Sauvegarde (Ctrl+S) sous le nom : test.py</a:t>
            </a:r>
          </a:p>
          <a:p>
            <a:pPr lvl="1">
              <a:spcBef>
                <a:spcPts val="200"/>
              </a:spcBef>
              <a:spcAft>
                <a:spcPts val="200"/>
              </a:spcAft>
              <a:defRPr sz="1500" b="0">
                <a:solidFill>
                  <a:srgbClr val="0A0A2E"/>
                </a:solidFill>
                <a:latin typeface="Calibri"/>
              </a:defRPr>
            </a:pPr>
            <a:r>
              <a:t>VS Code reconnaît que c'est du Python et active les fonctionnalités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800" b="1">
                <a:solidFill>
                  <a:srgbClr val="0A0A2E"/>
                </a:solidFill>
                <a:latin typeface="Calibri"/>
              </a:defRPr>
            </a:pPr>
          </a:p>
          <a:p>
            <a:pPr>
              <a:spcBef>
                <a:spcPts val="200"/>
              </a:spcBef>
              <a:spcAft>
                <a:spcPts val="200"/>
              </a:spcAft>
              <a:defRPr sz="1800" b="1">
                <a:solidFill>
                  <a:srgbClr val="0A0A2E"/>
                </a:solidFill>
                <a:latin typeface="Calibri"/>
              </a:defRPr>
            </a:pPr>
            <a:r>
              <a:t>Le thème (pour faire joli)</a:t>
            </a:r>
          </a:p>
          <a:p>
            <a:pPr lvl="1">
              <a:spcBef>
                <a:spcPts val="200"/>
              </a:spcBef>
              <a:spcAft>
                <a:spcPts val="200"/>
              </a:spcAft>
              <a:defRPr sz="1500" b="0">
                <a:solidFill>
                  <a:srgbClr val="0A0A2E"/>
                </a:solidFill>
                <a:latin typeface="Calibri"/>
              </a:defRPr>
            </a:pPr>
            <a:r>
              <a:t>Fais Ctrl+K Ctrl+T (ou va dans Fichier → Préférences → Thème)</a:t>
            </a:r>
          </a:p>
          <a:p>
            <a:pPr lvl="1">
              <a:spcBef>
                <a:spcPts val="200"/>
              </a:spcBef>
              <a:spcAft>
                <a:spcPts val="200"/>
              </a:spcAft>
              <a:defRPr sz="1500" b="0">
                <a:solidFill>
                  <a:srgbClr val="0A0A2E"/>
                </a:solidFill>
                <a:latin typeface="Calibri"/>
              </a:defRPr>
            </a:pPr>
            <a:r>
              <a:t>Choisis "Dark Modern" (thème sombre) → plus confortable pour les yeux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20840"/>
            <a:ext cx="12191695" cy="3657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A1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36576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Calibri"/>
              </a:defRPr>
            </a:pPr>
            <a:r>
              <a:t>Ton premier vrai programme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800" b="1">
                <a:solidFill>
                  <a:srgbClr val="0A0A2E"/>
                </a:solidFill>
                <a:latin typeface="Calibri"/>
              </a:defRPr>
            </a:pPr>
            <a:r>
              <a:t>Maintenant que tout est installé, testons !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800" b="1">
                <a:solidFill>
                  <a:srgbClr val="0A0A2E"/>
                </a:solidFill>
                <a:latin typeface="Calibri"/>
              </a:defRPr>
            </a:pPr>
          </a:p>
          <a:p>
            <a:pPr>
              <a:spcBef>
                <a:spcPts val="200"/>
              </a:spcBef>
              <a:spcAft>
                <a:spcPts val="200"/>
              </a:spcAft>
              <a:defRPr sz="1800" b="1">
                <a:solidFill>
                  <a:srgbClr val="0A0A2E"/>
                </a:solidFill>
                <a:latin typeface="Calibri"/>
              </a:defRPr>
            </a:pPr>
            <a:r>
              <a:t>Dans VS Code, tape ce code :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800" b="1">
                <a:solidFill>
                  <a:srgbClr val="0A0A2E"/>
                </a:solidFill>
                <a:latin typeface="Calibri"/>
              </a:defRPr>
            </a:pPr>
          </a:p>
          <a:p>
            <a:pPr>
              <a:spcBef>
                <a:spcPts val="200"/>
              </a:spcBef>
              <a:spcAft>
                <a:spcPts val="200"/>
              </a:spcAft>
              <a:defRPr sz="1800" b="1">
                <a:solidFill>
                  <a:srgbClr val="0A0A2E"/>
                </a:solidFill>
                <a:latin typeface="Calibri"/>
              </a:defRPr>
            </a:pPr>
            <a:r>
              <a:t>print("Bonjour le monde !")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800" b="1">
                <a:solidFill>
                  <a:srgbClr val="0A0A2E"/>
                </a:solidFill>
                <a:latin typeface="Calibri"/>
              </a:defRPr>
            </a:pPr>
            <a:r>
              <a:t>print("J'apprends Python !")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800" b="1">
                <a:solidFill>
                  <a:srgbClr val="0A0A2E"/>
                </a:solidFill>
                <a:latin typeface="Calibri"/>
              </a:defRPr>
            </a:pPr>
          </a:p>
          <a:p>
            <a:pPr>
              <a:spcBef>
                <a:spcPts val="200"/>
              </a:spcBef>
              <a:spcAft>
                <a:spcPts val="200"/>
              </a:spcAft>
              <a:defRPr sz="1800" b="1">
                <a:solidFill>
                  <a:srgbClr val="0A0A2E"/>
                </a:solidFill>
                <a:latin typeface="Calibri"/>
              </a:defRPr>
            </a:pPr>
            <a:r>
              <a:t>Pour exécuter :</a:t>
            </a:r>
          </a:p>
          <a:p>
            <a:pPr lvl="1">
              <a:spcBef>
                <a:spcPts val="200"/>
              </a:spcBef>
              <a:spcAft>
                <a:spcPts val="200"/>
              </a:spcAft>
              <a:defRPr sz="1500" b="0">
                <a:solidFill>
                  <a:srgbClr val="0A0A2E"/>
                </a:solidFill>
                <a:latin typeface="Calibri"/>
              </a:defRPr>
            </a:pPr>
            <a:r>
              <a:t>Clique sur le triangle ▶ (Run, en haut à droite)</a:t>
            </a:r>
          </a:p>
          <a:p>
            <a:pPr lvl="1">
              <a:spcBef>
                <a:spcPts val="200"/>
              </a:spcBef>
              <a:spcAft>
                <a:spcPts val="200"/>
              </a:spcAft>
              <a:defRPr sz="1500" b="0">
                <a:solidFill>
                  <a:srgbClr val="0A0A2E"/>
                </a:solidFill>
                <a:latin typeface="Calibri"/>
              </a:defRPr>
            </a:pPr>
            <a:r>
              <a:t>OU fais clic droit → "Run Python"</a:t>
            </a:r>
          </a:p>
          <a:p>
            <a:pPr lvl="1">
              <a:spcBef>
                <a:spcPts val="200"/>
              </a:spcBef>
              <a:spcAft>
                <a:spcPts val="200"/>
              </a:spcAft>
              <a:defRPr sz="1500" b="0">
                <a:solidFill>
                  <a:srgbClr val="0A0A2E"/>
                </a:solidFill>
                <a:latin typeface="Calibri"/>
              </a:defRPr>
            </a:pPr>
            <a:r>
              <a:t>OU utilise Ctrl+F5</a:t>
            </a:r>
          </a:p>
          <a:p>
            <a:pPr lvl="1">
              <a:spcBef>
                <a:spcPts val="200"/>
              </a:spcBef>
              <a:spcAft>
                <a:spcPts val="200"/>
              </a:spcAft>
              <a:defRPr sz="1500" b="0">
                <a:solidFill>
                  <a:srgbClr val="0A0A2E"/>
                </a:solidFill>
                <a:latin typeface="Calibri"/>
              </a:defRPr>
            </a:pPr>
            <a:r>
              <a:t>OU tape dans le terminal : python test.py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800" b="1">
                <a:solidFill>
                  <a:srgbClr val="0A0A2E"/>
                </a:solidFill>
                <a:latin typeface="Calibri"/>
              </a:defRPr>
            </a:pPr>
          </a:p>
          <a:p>
            <a:pPr>
              <a:spcBef>
                <a:spcPts val="200"/>
              </a:spcBef>
              <a:spcAft>
                <a:spcPts val="200"/>
              </a:spcAft>
              <a:defRPr sz="1800" b="1">
                <a:solidFill>
                  <a:srgbClr val="0A0A2E"/>
                </a:solidFill>
                <a:latin typeface="Calibri"/>
              </a:defRPr>
            </a:pPr>
            <a:r>
              <a:t>Résultat attendu :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800" b="1">
                <a:solidFill>
                  <a:srgbClr val="0A0A2E"/>
                </a:solidFill>
                <a:latin typeface="Calibri"/>
              </a:defRPr>
            </a:pPr>
            <a:r>
              <a:t>Bonjour le monde !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800" b="1">
                <a:solidFill>
                  <a:srgbClr val="0A0A2E"/>
                </a:solidFill>
                <a:latin typeface="Calibri"/>
              </a:defRPr>
            </a:pPr>
            <a:r>
              <a:t>J'apprends Python !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800" b="1">
                <a:solidFill>
                  <a:srgbClr val="0A0A2E"/>
                </a:solidFill>
                <a:latin typeface="Calibri"/>
              </a:defRPr>
            </a:pPr>
          </a:p>
          <a:p>
            <a:pPr>
              <a:spcBef>
                <a:spcPts val="200"/>
              </a:spcBef>
              <a:spcAft>
                <a:spcPts val="200"/>
              </a:spcAft>
              <a:defRPr sz="1800" b="1">
                <a:solidFill>
                  <a:srgbClr val="0A0A2E"/>
                </a:solidFill>
                <a:latin typeface="Calibri"/>
              </a:defRPr>
            </a:pPr>
            <a:r>
              <a:t>🎉 Félicitations ! Tu viens d'écrire et exécuter ton premier programme !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20840"/>
            <a:ext cx="12191695" cy="3657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  Ce qu'il faut retenir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97280"/>
            <a:ext cx="2743200" cy="3657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400"/>
              </a:spcAft>
              <a:defRPr sz="1600">
                <a:solidFill>
                  <a:srgbClr val="DEE2E6"/>
                </a:solidFill>
                <a:latin typeface="Calibri"/>
              </a:defRPr>
            </a:pPr>
            <a:r>
              <a:t>✦  Python se télécharge sur python.org (cocher Add to PATH !)</a:t>
            </a:r>
          </a:p>
          <a:p>
            <a:pPr>
              <a:spcBef>
                <a:spcPts val="600"/>
              </a:spcBef>
              <a:spcAft>
                <a:spcPts val="400"/>
              </a:spcAft>
              <a:defRPr sz="1600">
                <a:solidFill>
                  <a:srgbClr val="DEE2E6"/>
                </a:solidFill>
                <a:latin typeface="Calibri"/>
              </a:defRPr>
            </a:pPr>
            <a:r>
              <a:t>✦  VS Code est l'éditeur recommandé avec l'extension Python</a:t>
            </a:r>
          </a:p>
          <a:p>
            <a:pPr>
              <a:spcBef>
                <a:spcPts val="600"/>
              </a:spcBef>
              <a:spcAft>
                <a:spcPts val="400"/>
              </a:spcAft>
              <a:defRPr sz="1600">
                <a:solidFill>
                  <a:srgbClr val="DEE2E6"/>
                </a:solidFill>
                <a:latin typeface="Calibri"/>
              </a:defRPr>
            </a:pPr>
            <a:r>
              <a:t>✦  L'interpréteur Python doit être sélectionné dans VS Code</a:t>
            </a:r>
          </a:p>
          <a:p>
            <a:pPr>
              <a:spcBef>
                <a:spcPts val="600"/>
              </a:spcBef>
              <a:spcAft>
                <a:spcPts val="400"/>
              </a:spcAft>
              <a:defRPr sz="1600">
                <a:solidFill>
                  <a:srgbClr val="DEE2E6"/>
                </a:solidFill>
                <a:latin typeface="Calibri"/>
              </a:defRPr>
            </a:pPr>
            <a:r>
              <a:t>✦  On écrit du code dans un fichier .py et on l'exécute</a:t>
            </a:r>
          </a:p>
          <a:p>
            <a:pPr>
              <a:spcBef>
                <a:spcPts val="600"/>
              </a:spcBef>
              <a:spcAft>
                <a:spcPts val="400"/>
              </a:spcAft>
              <a:defRPr sz="1600">
                <a:solidFill>
                  <a:srgbClr val="DEE2E6"/>
                </a:solidFill>
                <a:latin typeface="Calibri"/>
              </a:defRPr>
            </a:pPr>
            <a:r>
              <a:t>✦  L'environnement est prêt → on peut commencer à coder !</a:t>
            </a:r>
          </a:p>
          <a:p>
            <a:pPr>
              <a:spcBef>
                <a:spcPts val="600"/>
              </a:spcBef>
              <a:spcAft>
                <a:spcPts val="400"/>
              </a:spcAft>
              <a:defRPr sz="1600">
                <a:solidFill>
                  <a:srgbClr val="DEE2E6"/>
                </a:solidFill>
                <a:latin typeface="Calibri"/>
              </a:defRPr>
            </a:pPr>
            <a:r>
              <a:t>✦  N'hésite pas à personnaliser VS Code (thème, polices, etc.)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20840"/>
            <a:ext cx="12191695" cy="36576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