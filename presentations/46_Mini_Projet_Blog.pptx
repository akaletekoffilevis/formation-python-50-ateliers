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D5A2DF4-F677-4157-9FC9-FE8FFF17E10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41E2504-9A5A-4374-93C2-C9EABB0A0D2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406E10B-327D-4219-ADCF-D13961B9598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CA349B1-1627-4021-AE9D-029A1630140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F150E91-00BB-4887-AB20-AE8D01F7E5D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79DE42D-F489-4A08-945A-EB6C0B87B6A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2B9E537-B29A-4A1E-B0A1-5A112765C60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E1C8ABD-2465-4A98-89A5-38A5D12C807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35F6698-D8B7-4557-8F3A-52091F47EAF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Cliquez pour éditer le format du texte-titre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Cliquez pour éditer le format du plan de texte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niveau de plan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Troisième niveau de plan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Quatrième niveau de plan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Cinquième niveau de plan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Sixième niveau de plan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Septième niveau de plan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87C4579-D91A-415E-82F6-F48468AFCD1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Cliquez pour éditer le format du plan de texte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niveau de plan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Troisième niveau de plan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Quatrième niveau de plan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Cinquième niveau de plan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Sixième niveau de plan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Septième niveau de plan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10DDC7D-1453-4799-9344-B986FCBCF97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1"/>
          <p:cNvSpPr/>
          <p:nvPr/>
        </p:nvSpPr>
        <p:spPr>
          <a:xfrm>
            <a:off x="0" y="0"/>
            <a:ext cx="12191400" cy="54360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" name="Rounded Rectangle 2"/>
          <p:cNvSpPr/>
          <p:nvPr/>
        </p:nvSpPr>
        <p:spPr>
          <a:xfrm>
            <a:off x="914400" y="1371600"/>
            <a:ext cx="10362600" cy="4114440"/>
          </a:xfrm>
          <a:prstGeom prst="roundRect">
            <a:avLst>
              <a:gd name="adj" fmla="val 16667"/>
            </a:avLst>
          </a:prstGeom>
          <a:solidFill>
            <a:srgbClr val="1621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" name="TextBox 3"/>
          <p:cNvSpPr/>
          <p:nvPr/>
        </p:nvSpPr>
        <p:spPr>
          <a:xfrm>
            <a:off x="1371600" y="1645920"/>
            <a:ext cx="94482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6B35"/>
                </a:solidFill>
                <a:effectLst/>
                <a:uFillTx/>
                <a:latin typeface="Calibri"/>
              </a:rPr>
              <a:t>Partie 5 - Projets Avancés</a:t>
            </a:r>
            <a:endParaRPr lang="fr-F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4"/>
          <p:cNvSpPr/>
          <p:nvPr/>
        </p:nvSpPr>
        <p:spPr>
          <a:xfrm>
            <a:off x="1371600" y="2286000"/>
            <a:ext cx="944820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Mini-Projet : Blog avec Flask</a:t>
            </a:r>
            <a:endParaRPr lang="fr-FR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5"/>
          <p:cNvSpPr/>
          <p:nvPr/>
        </p:nvSpPr>
        <p:spPr>
          <a:xfrm>
            <a:off x="1371600" y="3840480"/>
            <a:ext cx="94482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6C757D"/>
                </a:solidFill>
                <a:effectLst/>
                <a:uFillTx/>
                <a:latin typeface="Calibri"/>
              </a:rPr>
              <a:t>Articles, base de données et templates</a:t>
            </a:r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1"/>
          <p:cNvSpPr/>
          <p:nvPr/>
        </p:nvSpPr>
        <p:spPr>
          <a:xfrm>
            <a:off x="0" y="0"/>
            <a:ext cx="72720" cy="6857640"/>
          </a:xfrm>
          <a:prstGeom prst="rect">
            <a:avLst/>
          </a:prstGeom>
          <a:solidFill>
            <a:srgbClr val="00B4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7" name="TextBox 2"/>
          <p:cNvSpPr/>
          <p:nvPr/>
        </p:nvSpPr>
        <p:spPr>
          <a:xfrm>
            <a:off x="731520" y="457200"/>
            <a:ext cx="100580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00B4D8"/>
                </a:solidFill>
                <a:effectLst/>
                <a:uFillTx/>
                <a:latin typeface="Calibri"/>
              </a:rPr>
              <a:t>Objectifs</a:t>
            </a:r>
            <a:endParaRPr lang="fr-FR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Rounded Rectangle 3"/>
          <p:cNvSpPr/>
          <p:nvPr/>
        </p:nvSpPr>
        <p:spPr>
          <a:xfrm>
            <a:off x="914400" y="1463040"/>
            <a:ext cx="10058040" cy="731160"/>
          </a:xfrm>
          <a:prstGeom prst="roundRect">
            <a:avLst>
              <a:gd name="adj" fmla="val 16667"/>
            </a:avLst>
          </a:prstGeom>
          <a:solidFill>
            <a:srgbClr val="1A1A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9" name="TextBox 4"/>
          <p:cNvSpPr/>
          <p:nvPr/>
        </p:nvSpPr>
        <p:spPr>
          <a:xfrm>
            <a:off x="1188720" y="1554480"/>
            <a:ext cx="96008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✦ Créer une app web complète</a:t>
            </a:r>
            <a:endParaRPr lang="fr-F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Rounded Rectangle 5"/>
          <p:cNvSpPr/>
          <p:nvPr/>
        </p:nvSpPr>
        <p:spPr>
          <a:xfrm>
            <a:off x="914400" y="2468880"/>
            <a:ext cx="10058040" cy="731160"/>
          </a:xfrm>
          <a:prstGeom prst="roundRect">
            <a:avLst>
              <a:gd name="adj" fmla="val 16667"/>
            </a:avLst>
          </a:prstGeom>
          <a:solidFill>
            <a:srgbClr val="1A1A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" name="TextBox 6"/>
          <p:cNvSpPr/>
          <p:nvPr/>
        </p:nvSpPr>
        <p:spPr>
          <a:xfrm>
            <a:off x="1188720" y="2560320"/>
            <a:ext cx="96008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✦ Combiner Flask + SQLite</a:t>
            </a:r>
            <a:endParaRPr lang="fr-F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Rounded Rectangle 7"/>
          <p:cNvSpPr/>
          <p:nvPr/>
        </p:nvSpPr>
        <p:spPr>
          <a:xfrm>
            <a:off x="914400" y="3474720"/>
            <a:ext cx="10058040" cy="731160"/>
          </a:xfrm>
          <a:prstGeom prst="roundRect">
            <a:avLst>
              <a:gd name="adj" fmla="val 16667"/>
            </a:avLst>
          </a:prstGeom>
          <a:solidFill>
            <a:srgbClr val="1A1A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Box 8"/>
          <p:cNvSpPr/>
          <p:nvPr/>
        </p:nvSpPr>
        <p:spPr>
          <a:xfrm>
            <a:off x="1188720" y="3566160"/>
            <a:ext cx="96008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✦ Implémenter CRUD pour des articles</a:t>
            </a:r>
            <a:endParaRPr lang="fr-F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Rounded Rectangle 9"/>
          <p:cNvSpPr/>
          <p:nvPr/>
        </p:nvSpPr>
        <p:spPr>
          <a:xfrm>
            <a:off x="914400" y="4480560"/>
            <a:ext cx="10058040" cy="731160"/>
          </a:xfrm>
          <a:prstGeom prst="roundRect">
            <a:avLst>
              <a:gd name="adj" fmla="val 16667"/>
            </a:avLst>
          </a:prstGeom>
          <a:solidFill>
            <a:srgbClr val="1A1A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5" name="TextBox 10"/>
          <p:cNvSpPr/>
          <p:nvPr/>
        </p:nvSpPr>
        <p:spPr>
          <a:xfrm>
            <a:off x="1188720" y="4572000"/>
            <a:ext cx="96008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✦ Utiliser Bootstrap pour le style</a:t>
            </a:r>
            <a:endParaRPr lang="fr-F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ectangle 1"/>
          <p:cNvSpPr/>
          <p:nvPr/>
        </p:nvSpPr>
        <p:spPr>
          <a:xfrm>
            <a:off x="0" y="0"/>
            <a:ext cx="12191400" cy="54360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" name="TextBox 2"/>
          <p:cNvSpPr/>
          <p:nvPr/>
        </p:nvSpPr>
        <p:spPr>
          <a:xfrm>
            <a:off x="731520" y="365760"/>
            <a:ext cx="100580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FF6B35"/>
                </a:solidFill>
                <a:effectLst/>
                <a:uFillTx/>
                <a:latin typeface="Calibri"/>
              </a:rPr>
              <a:t>Le projet : Mini Blog</a:t>
            </a:r>
            <a:endParaRPr lang="fr-FR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3"/>
          <p:cNvSpPr/>
          <p:nvPr/>
        </p:nvSpPr>
        <p:spPr>
          <a:xfrm>
            <a:off x="731520" y="1280160"/>
            <a:ext cx="10515240" cy="50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On va créer un blog minimaliste mais fonctionnel.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Fonctionnalités :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• LISTER les articles (page d'accueil)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• VOIR un article en détail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• AJOUTER un nouvel article (formulaire)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• MODIFIER un article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• SUPPRIMER un article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Pas d'authentification (pour l'instant)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Utilisation de Bootstrap (CSS) pour un rendu moderne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Structure :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blog/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├── .venv/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├── app.py           # Application Flask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├── templates/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│   ├── base.html     # Layout commun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│   ├── index.html    # Liste des articles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│   ├── article.html  # Un article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│   ├── edit.html     # Formulaire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└── static/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  └── style.css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Rectangle 1"/>
          <p:cNvSpPr/>
          <p:nvPr/>
        </p:nvSpPr>
        <p:spPr>
          <a:xfrm>
            <a:off x="0" y="0"/>
            <a:ext cx="12191400" cy="54360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TextBox 2"/>
          <p:cNvSpPr/>
          <p:nvPr/>
        </p:nvSpPr>
        <p:spPr>
          <a:xfrm>
            <a:off x="731520" y="274320"/>
            <a:ext cx="10058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6B35"/>
                </a:solidFill>
                <a:effectLst/>
                <a:uFillTx/>
                <a:latin typeface="Calibri"/>
              </a:rPr>
              <a:t>app.py - La base de données</a:t>
            </a:r>
            <a:endParaRPr lang="fr-FR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Rounded Rectangle 3"/>
          <p:cNvSpPr/>
          <p:nvPr/>
        </p:nvSpPr>
        <p:spPr>
          <a:xfrm>
            <a:off x="731520" y="1097280"/>
            <a:ext cx="10515240" cy="5028840"/>
          </a:xfrm>
          <a:prstGeom prst="roundRect">
            <a:avLst>
              <a:gd name="adj" fmla="val 16667"/>
            </a:avLst>
          </a:prstGeom>
          <a:solidFill>
            <a:srgbClr val="1E1E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" name="TextBox 4"/>
          <p:cNvSpPr/>
          <p:nvPr/>
        </p:nvSpPr>
        <p:spPr>
          <a:xfrm>
            <a:off x="1005840" y="1234440"/>
            <a:ext cx="9966600" cy="47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import sqlite3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from flask import Flask, render_template, request, redirect, url_for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app = Flask(__name__)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def get_db():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conn = sqlite3.connect("blog.db")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conn.row_factory = sqlite3.Row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return conn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def init_db():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with get_db() as db: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    db.execute('''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        CREATE TABLE IF NOT EXISTS articles (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            id INTEGER PRIMARY KEY AUTOINCREMENT,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            titre TEXT NOT NULL,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            contenu TEXT NOT NULL,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            date_creation TIMESTAMP DEFAULT CURRENT_TIMESTAMP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        )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    ''')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init_db()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Rectangle 1"/>
          <p:cNvSpPr/>
          <p:nvPr/>
        </p:nvSpPr>
        <p:spPr>
          <a:xfrm>
            <a:off x="0" y="0"/>
            <a:ext cx="12191400" cy="54360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" name="TextBox 2"/>
          <p:cNvSpPr/>
          <p:nvPr/>
        </p:nvSpPr>
        <p:spPr>
          <a:xfrm>
            <a:off x="731520" y="274320"/>
            <a:ext cx="10058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6B35"/>
                </a:solidFill>
                <a:effectLst/>
                <a:uFillTx/>
                <a:latin typeface="Calibri"/>
              </a:rPr>
              <a:t>app.py - Les routes</a:t>
            </a:r>
            <a:endParaRPr lang="fr-FR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Rounded Rectangle 3"/>
          <p:cNvSpPr/>
          <p:nvPr/>
        </p:nvSpPr>
        <p:spPr>
          <a:xfrm>
            <a:off x="731520" y="1097280"/>
            <a:ext cx="10515240" cy="5028840"/>
          </a:xfrm>
          <a:prstGeom prst="roundRect">
            <a:avLst>
              <a:gd name="adj" fmla="val 16667"/>
            </a:avLst>
          </a:prstGeom>
          <a:solidFill>
            <a:srgbClr val="1E1E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6" name="TextBox 4"/>
          <p:cNvSpPr/>
          <p:nvPr/>
        </p:nvSpPr>
        <p:spPr>
          <a:xfrm>
            <a:off x="1005840" y="1234440"/>
            <a:ext cx="9966600" cy="47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@app.route("/")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def index():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with get_db() as db: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    articles = db.execute("SELECT * FROM articles ORDER BY date_creation DESC").fetchall()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return render_template("index.html", articles=articles)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@app.route("/article/&lt;int:id&gt;")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def article(id):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with get_db() as db: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    art = db.execute("SELECT * FROM articles WHERE id=?", (id,)).fetchone()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return render_template("article.html", art=art)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@app.route("/nouveau", methods=["GET", "POST"])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def nouveau():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if request.method == "POST":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    titre = request.form["titre"]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    contenu = request.form["contenu"]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    with get_db() as db: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        db.execute("INSERT INTO articles (titre, contenu) VALUES (?,?)", (titre, contenu))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    return redirect(url_for("index"))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return render_template("edit.html", art=None)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@app.route("/supprimer/&lt;int:id&gt;")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def supprimer(id):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with get_db() as db: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    db.execute("DELETE FROM articles WHERE id=?", (id,))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return redirect(url_for("index"))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Rectangle 1"/>
          <p:cNvSpPr/>
          <p:nvPr/>
        </p:nvSpPr>
        <p:spPr>
          <a:xfrm>
            <a:off x="0" y="0"/>
            <a:ext cx="12191400" cy="54360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" name="TextBox 2"/>
          <p:cNvSpPr/>
          <p:nvPr/>
        </p:nvSpPr>
        <p:spPr>
          <a:xfrm>
            <a:off x="720000" y="54360"/>
            <a:ext cx="10058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6B35"/>
                </a:solidFill>
                <a:effectLst/>
                <a:uFillTx/>
                <a:latin typeface="Calibri"/>
              </a:rPr>
              <a:t>base.html et index.html</a:t>
            </a:r>
            <a:endParaRPr lang="fr-FR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Rounded Rectangle 3"/>
          <p:cNvSpPr/>
          <p:nvPr/>
        </p:nvSpPr>
        <p:spPr>
          <a:xfrm>
            <a:off x="644760" y="602640"/>
            <a:ext cx="10515240" cy="6300000"/>
          </a:xfrm>
          <a:prstGeom prst="roundRect">
            <a:avLst>
              <a:gd name="adj" fmla="val 16667"/>
            </a:avLst>
          </a:prstGeom>
          <a:solidFill>
            <a:srgbClr val="1E1E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" name="TextBox 4"/>
          <p:cNvSpPr/>
          <p:nvPr/>
        </p:nvSpPr>
        <p:spPr>
          <a:xfrm>
            <a:off x="1980000" y="602640"/>
            <a:ext cx="9966600" cy="59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&lt;!-- templates/base.html --&gt;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&lt;!DOCTYPE html&gt;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&lt;html lang="fr"&gt;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&lt;head&gt;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&lt;meta charset="UTF-8"&gt;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&lt;title&gt;{% block title %}Mon Blog{% endblock %}&lt;/title&gt;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&lt;link href="https://cdn.jsdelivr.net/npm/bootstrap@5.3.0/dist/css/bootstrap.min.css" rel="stylesheet"&gt;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&lt;/head&gt;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&lt;body class="bg-dark text-light"&gt;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&lt;nav class="navbar navbar-dark bg-primary"&gt;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    &lt;div class="container"&gt;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        &lt;a class="navbar-brand" href="/"&gt;📝 Mon Blog&lt;/a&gt;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    &lt;/div&gt;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&lt;/nav&gt;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&lt;div class="container mt-4"&gt;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    {% block content %}{% endblock %}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&lt;/div&gt;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&lt;/body&gt;&lt;/html&gt;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&lt;!-- templates/index.html --&gt;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{% extends "base.html" %}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{% block content %}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&lt;h1&gt;Articles&lt;/h1&gt;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&lt;a href="/nouveau" class="btn btn-success mb-3"&gt;+ Nouvel article&lt;/a&gt;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{% for art in articles %}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&lt;div class="card bg-secondary mb-3"&gt;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&lt;div class="card-body"&gt;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    &lt;h5 class="card-title"&gt;{{ art.titre }}&lt;/h5&gt;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    &lt;p class="card-text"&gt;{{ art.contenu[:100] }}...&lt;/p&gt;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    &lt;a href="/article/{{ art.id }}" class="btn btn-primary"&gt;Lire&lt;/a&gt;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    &lt;a href="/supprimer/{{ art.id }}" class="btn btn-danger"&gt;Suppr&lt;/a&gt;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&lt;/div&gt;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&lt;/div&gt;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{% endfor %}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{% endblock %}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ctangle 1"/>
          <p:cNvSpPr/>
          <p:nvPr/>
        </p:nvSpPr>
        <p:spPr>
          <a:xfrm>
            <a:off x="0" y="0"/>
            <a:ext cx="12191400" cy="54360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" name="TextBox 2"/>
          <p:cNvSpPr/>
          <p:nvPr/>
        </p:nvSpPr>
        <p:spPr>
          <a:xfrm>
            <a:off x="731520" y="274320"/>
            <a:ext cx="10058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6B35"/>
                </a:solidFill>
                <a:effectLst/>
                <a:uFillTx/>
                <a:latin typeface="Calibri"/>
              </a:rPr>
              <a:t>article.html et edit.html</a:t>
            </a:r>
            <a:endParaRPr lang="fr-FR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Rounded Rectangle 3"/>
          <p:cNvSpPr/>
          <p:nvPr/>
        </p:nvSpPr>
        <p:spPr>
          <a:xfrm>
            <a:off x="731520" y="1097280"/>
            <a:ext cx="10515240" cy="5028840"/>
          </a:xfrm>
          <a:prstGeom prst="roundRect">
            <a:avLst>
              <a:gd name="adj" fmla="val 16667"/>
            </a:avLst>
          </a:prstGeom>
          <a:solidFill>
            <a:srgbClr val="1E1E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4" name="TextBox 4"/>
          <p:cNvSpPr/>
          <p:nvPr/>
        </p:nvSpPr>
        <p:spPr>
          <a:xfrm>
            <a:off x="1005840" y="1234440"/>
            <a:ext cx="9966600" cy="47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&lt;!-- templates/article.html --&gt;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{% extends "base.html" %}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{% block content %}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&lt;h1&gt;{{ art.titre }}&lt;/h1&gt;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&lt;p class="text-muted"&gt;{{ art.date_creation }}&lt;/p&gt;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&lt;hr&gt;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&lt;p&gt;{{ art.contenu }}&lt;/p&gt;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&lt;a href="/" class="btn btn-secondary"&gt;← Retour&lt;/a&gt;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{% endblock %}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&lt;!-- templates/edit.html --&gt;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{% extends "base.html" %}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{% block content %}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&lt;h1&gt;{% if art %}Modifier{% else %}Nouvel article{% endif %}&lt;/h1&gt;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&lt;form method="POST"&gt;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&lt;div class="mb-3"&gt;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    &lt;label&gt;Titre&lt;/label&gt;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    &lt;input name="titre" class="form-control" value="{{ art.titre if art else "" }}"&gt;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&lt;/div&gt;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&lt;div class="mb-3"&gt;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    &lt;label&gt;Contenu&lt;/label&gt;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    &lt;textarea name="contenu" class="form-control" rows="10"&gt;{{ art.contenu if art else "" }}&lt;/textarea&gt;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&lt;/div&gt;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&lt;button type="submit" class="btn btn-primary"&gt;Sauvegarder&lt;/button&gt;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&lt;/form&gt;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{% endblock %}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ectangle 1"/>
          <p:cNvSpPr/>
          <p:nvPr/>
        </p:nvSpPr>
        <p:spPr>
          <a:xfrm>
            <a:off x="0" y="0"/>
            <a:ext cx="12191400" cy="54360"/>
          </a:xfrm>
          <a:prstGeom prst="rect">
            <a:avLst/>
          </a:prstGeom>
          <a:solidFill>
            <a:srgbClr val="06D6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6" name="TextBox 2"/>
          <p:cNvSpPr/>
          <p:nvPr/>
        </p:nvSpPr>
        <p:spPr>
          <a:xfrm>
            <a:off x="731520" y="365760"/>
            <a:ext cx="10058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06D6A0"/>
                </a:solidFill>
                <a:effectLst/>
                <a:uFillTx/>
                <a:latin typeface="Calibri"/>
              </a:rPr>
              <a:t>Exercice : Blog amélioré</a:t>
            </a:r>
            <a:endParaRPr lang="fr-FR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Rounded Rectangle 3"/>
          <p:cNvSpPr/>
          <p:nvPr/>
        </p:nvSpPr>
        <p:spPr>
          <a:xfrm>
            <a:off x="731520" y="1097280"/>
            <a:ext cx="10515240" cy="3200040"/>
          </a:xfrm>
          <a:prstGeom prst="roundRect">
            <a:avLst>
              <a:gd name="adj" fmla="val 16667"/>
            </a:avLst>
          </a:prstGeom>
          <a:solidFill>
            <a:srgbClr val="1A1A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8" name="TextBox 4"/>
          <p:cNvSpPr/>
          <p:nvPr/>
        </p:nvSpPr>
        <p:spPr>
          <a:xfrm>
            <a:off x="1188720" y="1280160"/>
            <a:ext cx="960084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Étapes :</a:t>
            </a:r>
            <a:br>
              <a:rPr sz="1500"/>
            </a:b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1. Reproduis le code du blog complet</a:t>
            </a:r>
            <a:br>
              <a:rPr sz="1500"/>
            </a:b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2. Lance-le : python app.py</a:t>
            </a:r>
            <a:br>
              <a:rPr sz="1500"/>
            </a:b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3. Crée 3 articles</a:t>
            </a:r>
            <a:br>
              <a:rPr sz="1500"/>
            </a:b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4. Améliorations possibles :</a:t>
            </a:r>
            <a:br>
              <a:rPr sz="1500"/>
            </a:b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 • Modifier un article (route /editer/&lt;id&gt;)</a:t>
            </a:r>
            <a:br>
              <a:rPr sz="1500"/>
            </a:b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 • Ajouter une barre de recherche</a:t>
            </a:r>
            <a:br>
              <a:rPr sz="1500"/>
            </a:b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 • Ajouter des catégories / tags</a:t>
            </a:r>
            <a:br>
              <a:rPr sz="1500"/>
            </a:b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 • Ajouter des commentaires (nouvelle table + formulaire)</a:t>
            </a:r>
            <a:br>
              <a:rPr sz="1500"/>
            </a:b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 • Ajouter un compteur de vues</a:t>
            </a:r>
            <a:br>
              <a:rPr sz="1500"/>
            </a:b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 • Tronquer le contenu dans la liste (déjà fait avec [:100])</a:t>
            </a:r>
            <a:br>
              <a:rPr sz="1500"/>
            </a:br>
            <a:br>
              <a:rPr sz="1500"/>
            </a:b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BONUS : Ajoute l'authentification avec flask-login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Rectangle 1"/>
          <p:cNvSpPr/>
          <p:nvPr/>
        </p:nvSpPr>
        <p:spPr>
          <a:xfrm>
            <a:off x="0" y="0"/>
            <a:ext cx="72720" cy="6857640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0" name="TextBox 2"/>
          <p:cNvSpPr/>
          <p:nvPr/>
        </p:nvSpPr>
        <p:spPr>
          <a:xfrm>
            <a:off x="731520" y="365760"/>
            <a:ext cx="100580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6B35"/>
                </a:solidFill>
                <a:effectLst/>
                <a:uFillTx/>
                <a:latin typeface="Calibri"/>
              </a:rPr>
              <a:t>À retenir</a:t>
            </a:r>
            <a:endParaRPr lang="fr-FR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Rounded Rectangle 3"/>
          <p:cNvSpPr/>
          <p:nvPr/>
        </p:nvSpPr>
        <p:spPr>
          <a:xfrm>
            <a:off x="914400" y="1371600"/>
            <a:ext cx="10058040" cy="594000"/>
          </a:xfrm>
          <a:prstGeom prst="roundRect">
            <a:avLst>
              <a:gd name="adj" fmla="val 16667"/>
            </a:avLst>
          </a:prstGeom>
          <a:solidFill>
            <a:srgbClr val="1621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2" name="TextBox 4"/>
          <p:cNvSpPr/>
          <p:nvPr/>
        </p:nvSpPr>
        <p:spPr>
          <a:xfrm>
            <a:off x="1188720" y="141732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DEE2E6"/>
                </a:solidFill>
                <a:effectLst/>
                <a:uFillTx/>
                <a:latin typeface="Calibri"/>
              </a:rPr>
              <a:t>✓ Blog Flask complet : CRUD d'articles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Rounded Rectangle 5"/>
          <p:cNvSpPr/>
          <p:nvPr/>
        </p:nvSpPr>
        <p:spPr>
          <a:xfrm>
            <a:off x="914400" y="2194560"/>
            <a:ext cx="10058040" cy="594000"/>
          </a:xfrm>
          <a:prstGeom prst="roundRect">
            <a:avLst>
              <a:gd name="adj" fmla="val 16667"/>
            </a:avLst>
          </a:prstGeom>
          <a:solidFill>
            <a:srgbClr val="1621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4" name="TextBox 6"/>
          <p:cNvSpPr/>
          <p:nvPr/>
        </p:nvSpPr>
        <p:spPr>
          <a:xfrm>
            <a:off x="1188720" y="224028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DEE2E6"/>
                </a:solidFill>
                <a:effectLst/>
                <a:uFillTx/>
                <a:latin typeface="Calibri"/>
              </a:rPr>
              <a:t>✓ SQLite pour la persistance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Rounded Rectangle 7"/>
          <p:cNvSpPr/>
          <p:nvPr/>
        </p:nvSpPr>
        <p:spPr>
          <a:xfrm>
            <a:off x="914400" y="3017520"/>
            <a:ext cx="10058040" cy="594000"/>
          </a:xfrm>
          <a:prstGeom prst="roundRect">
            <a:avLst>
              <a:gd name="adj" fmla="val 16667"/>
            </a:avLst>
          </a:prstGeom>
          <a:solidFill>
            <a:srgbClr val="1621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" name="TextBox 8"/>
          <p:cNvSpPr/>
          <p:nvPr/>
        </p:nvSpPr>
        <p:spPr>
          <a:xfrm>
            <a:off x="1188720" y="306324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DEE2E6"/>
                </a:solidFill>
                <a:effectLst/>
                <a:uFillTx/>
                <a:latin typeface="Calibri"/>
              </a:rPr>
              <a:t>✓ Bootstrap pour le style sans effort CSS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Rounded Rectangle 9"/>
          <p:cNvSpPr/>
          <p:nvPr/>
        </p:nvSpPr>
        <p:spPr>
          <a:xfrm>
            <a:off x="914400" y="3840480"/>
            <a:ext cx="10058040" cy="594000"/>
          </a:xfrm>
          <a:prstGeom prst="roundRect">
            <a:avLst>
              <a:gd name="adj" fmla="val 16667"/>
            </a:avLst>
          </a:prstGeom>
          <a:solidFill>
            <a:srgbClr val="1621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" name="TextBox 10"/>
          <p:cNvSpPr/>
          <p:nvPr/>
        </p:nvSpPr>
        <p:spPr>
          <a:xfrm>
            <a:off x="1188720" y="388620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DEE2E6"/>
                </a:solidFill>
                <a:effectLst/>
                <a:uFillTx/>
                <a:latin typeface="Calibri"/>
              </a:rPr>
              <a:t>✓ Jinja2 pour les templates dynamiques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Rounded Rectangle 11"/>
          <p:cNvSpPr/>
          <p:nvPr/>
        </p:nvSpPr>
        <p:spPr>
          <a:xfrm>
            <a:off x="914400" y="4663440"/>
            <a:ext cx="10058040" cy="594000"/>
          </a:xfrm>
          <a:prstGeom prst="roundRect">
            <a:avLst>
              <a:gd name="adj" fmla="val 16667"/>
            </a:avLst>
          </a:prstGeom>
          <a:solidFill>
            <a:srgbClr val="1621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" name="TextBox 12"/>
          <p:cNvSpPr/>
          <p:nvPr/>
        </p:nvSpPr>
        <p:spPr>
          <a:xfrm>
            <a:off x="1188720" y="470916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DEE2E6"/>
                </a:solidFill>
                <a:effectLst/>
                <a:uFillTx/>
                <a:latin typeface="Calibri"/>
              </a:rPr>
              <a:t>✓ Architecture : routes → BD → templates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Rounded Rectangle 13"/>
          <p:cNvSpPr/>
          <p:nvPr/>
        </p:nvSpPr>
        <p:spPr>
          <a:xfrm>
            <a:off x="914400" y="5486400"/>
            <a:ext cx="10058040" cy="594000"/>
          </a:xfrm>
          <a:prstGeom prst="roundRect">
            <a:avLst>
              <a:gd name="adj" fmla="val 16667"/>
            </a:avLst>
          </a:prstGeom>
          <a:solidFill>
            <a:srgbClr val="1621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" name="TextBox 14"/>
          <p:cNvSpPr/>
          <p:nvPr/>
        </p:nvSpPr>
        <p:spPr>
          <a:xfrm>
            <a:off x="1188720" y="553212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DEE2E6"/>
                </a:solidFill>
                <a:effectLst/>
                <a:uFillTx/>
                <a:latin typeface="Calibri"/>
              </a:rPr>
              <a:t>✓ Un blog est le "Hello World" des apps web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Application>LibreOffice/26.2.2.2$Linux_X86_64 LibreOffice_project/620$Build-2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fr-FR</dc:language>
  <cp:lastModifiedBy/>
  <dcterms:modified xsi:type="dcterms:W3CDTF">2026-05-31T23:47:41Z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