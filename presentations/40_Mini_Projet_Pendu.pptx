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FE0931D-C01E-485A-9FE8-AE5AFC3AF7E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1E5013B-0D12-434F-B0C1-75BE0538D20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9B1B4B9-253D-4DFC-A1A3-5015ED6CA78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9BFFD76-2B53-4A73-9D64-04235F921C2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25FE2D7-04D5-4754-BF7B-9DD0759AB8E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9D25232-1350-4CE1-A71F-4DF9F3C8741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5542C83-D557-4C83-8A33-D4CD7B30AB7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032B2D1-8A62-4668-9C27-6D2D0AA58BD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A889960-A956-4C4F-9843-5052843B993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Cliquez pour éditer le format du texte-titre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Cliquez pour éditer le format du plan de texte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niveau de plan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Troisième niveau de plan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Quatrième niveau de plan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Cinquième niveau de plan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Sixième niveau de plan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Septième niveau de plan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DEFD37F-2301-4874-B3C0-B15B134A0CB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Cliquez pour éditer le format du plan de texte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niveau de plan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Troisième niveau de plan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Quatrième niveau de plan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Cinquième niveau de plan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Sixième niveau de plan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Septième niveau de plan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FE0D61E-D76B-4D1A-9359-EEC7C1D759E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1"/>
          <p:cNvSpPr/>
          <p:nvPr/>
        </p:nvSpPr>
        <p:spPr>
          <a:xfrm>
            <a:off x="0" y="0"/>
            <a:ext cx="12191400" cy="54360"/>
          </a:xfrm>
          <a:prstGeom prst="rect">
            <a:avLst/>
          </a:prstGeom>
          <a:solidFill>
            <a:srgbClr val="FF6B3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" name="Rounded Rectangle 2"/>
          <p:cNvSpPr/>
          <p:nvPr/>
        </p:nvSpPr>
        <p:spPr>
          <a:xfrm>
            <a:off x="914400" y="1371600"/>
            <a:ext cx="10362600" cy="4114440"/>
          </a:xfrm>
          <a:prstGeom prst="roundRect">
            <a:avLst>
              <a:gd name="adj" fmla="val 16667"/>
            </a:avLst>
          </a:prstGeom>
          <a:solidFill>
            <a:srgbClr val="1621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3" name="TextBox 3"/>
          <p:cNvSpPr/>
          <p:nvPr/>
        </p:nvSpPr>
        <p:spPr>
          <a:xfrm>
            <a:off x="1371600" y="1645920"/>
            <a:ext cx="94482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6B35"/>
                </a:solidFill>
                <a:effectLst/>
                <a:uFillTx/>
                <a:latin typeface="Calibri"/>
              </a:rPr>
              <a:t>Partie 4 - POO &amp; Git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TextBox 4"/>
          <p:cNvSpPr/>
          <p:nvPr/>
        </p:nvSpPr>
        <p:spPr>
          <a:xfrm>
            <a:off x="1371600" y="2286000"/>
            <a:ext cx="944820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Mini-Projet : Le Pendu</a:t>
            </a:r>
            <a:endParaRPr lang="fr-FR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TextBox 5"/>
          <p:cNvSpPr/>
          <p:nvPr/>
        </p:nvSpPr>
        <p:spPr>
          <a:xfrm>
            <a:off x="1371600" y="3840480"/>
            <a:ext cx="94482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6C757D"/>
                </a:solidFill>
                <a:effectLst/>
                <a:uFillTx/>
                <a:latin typeface="Calibri"/>
              </a:rPr>
              <a:t>Jeu complet avec Git et GitHub</a:t>
            </a:r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ctangle 1"/>
          <p:cNvSpPr/>
          <p:nvPr/>
        </p:nvSpPr>
        <p:spPr>
          <a:xfrm>
            <a:off x="0" y="0"/>
            <a:ext cx="72720" cy="6857640"/>
          </a:xfrm>
          <a:prstGeom prst="rect">
            <a:avLst/>
          </a:prstGeom>
          <a:solidFill>
            <a:srgbClr val="00B4D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7" name="TextBox 2"/>
          <p:cNvSpPr/>
          <p:nvPr/>
        </p:nvSpPr>
        <p:spPr>
          <a:xfrm>
            <a:off x="731520" y="457200"/>
            <a:ext cx="100580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B4D8"/>
                </a:solidFill>
                <a:effectLst/>
                <a:uFillTx/>
                <a:latin typeface="Calibri"/>
              </a:rPr>
              <a:t>Objectifs</a:t>
            </a:r>
            <a:endParaRPr lang="fr-FR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Rounded Rectangle 3"/>
          <p:cNvSpPr/>
          <p:nvPr/>
        </p:nvSpPr>
        <p:spPr>
          <a:xfrm>
            <a:off x="914400" y="1463040"/>
            <a:ext cx="10058040" cy="731160"/>
          </a:xfrm>
          <a:prstGeom prst="roundRect">
            <a:avLst>
              <a:gd name="adj" fmla="val 16667"/>
            </a:avLst>
          </a:prstGeom>
          <a:solidFill>
            <a:srgbClr val="1A1A4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9" name="TextBox 4"/>
          <p:cNvSpPr/>
          <p:nvPr/>
        </p:nvSpPr>
        <p:spPr>
          <a:xfrm>
            <a:off x="1188720" y="1554480"/>
            <a:ext cx="96008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✦ Créer un jeu complet</a:t>
            </a:r>
            <a:endParaRPr lang="fr-F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Rounded Rectangle 5"/>
          <p:cNvSpPr/>
          <p:nvPr/>
        </p:nvSpPr>
        <p:spPr>
          <a:xfrm>
            <a:off x="914400" y="2468880"/>
            <a:ext cx="10058040" cy="731160"/>
          </a:xfrm>
          <a:prstGeom prst="roundRect">
            <a:avLst>
              <a:gd name="adj" fmla="val 16667"/>
            </a:avLst>
          </a:prstGeom>
          <a:solidFill>
            <a:srgbClr val="1A1A4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1" name="TextBox 6"/>
          <p:cNvSpPr/>
          <p:nvPr/>
        </p:nvSpPr>
        <p:spPr>
          <a:xfrm>
            <a:off x="1188720" y="2560320"/>
            <a:ext cx="96008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✦ Appliquer Git tout au long du projet</a:t>
            </a:r>
            <a:endParaRPr lang="fr-F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Rounded Rectangle 7"/>
          <p:cNvSpPr/>
          <p:nvPr/>
        </p:nvSpPr>
        <p:spPr>
          <a:xfrm>
            <a:off x="914400" y="3474720"/>
            <a:ext cx="10058040" cy="731160"/>
          </a:xfrm>
          <a:prstGeom prst="roundRect">
            <a:avLst>
              <a:gd name="adj" fmla="val 16667"/>
            </a:avLst>
          </a:prstGeom>
          <a:solidFill>
            <a:srgbClr val="1A1A4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3" name="TextBox 8"/>
          <p:cNvSpPr/>
          <p:nvPr/>
        </p:nvSpPr>
        <p:spPr>
          <a:xfrm>
            <a:off x="1188720" y="3566160"/>
            <a:ext cx="96008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✦ Organiser le code en modules</a:t>
            </a:r>
            <a:endParaRPr lang="fr-F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Rounded Rectangle 9"/>
          <p:cNvSpPr/>
          <p:nvPr/>
        </p:nvSpPr>
        <p:spPr>
          <a:xfrm>
            <a:off x="914400" y="4480560"/>
            <a:ext cx="10058040" cy="731160"/>
          </a:xfrm>
          <a:prstGeom prst="roundRect">
            <a:avLst>
              <a:gd name="adj" fmla="val 16667"/>
            </a:avLst>
          </a:prstGeom>
          <a:solidFill>
            <a:srgbClr val="1A1A4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5" name="TextBox 10"/>
          <p:cNvSpPr/>
          <p:nvPr/>
        </p:nvSpPr>
        <p:spPr>
          <a:xfrm>
            <a:off x="1188720" y="4572000"/>
            <a:ext cx="96008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✦ Publier sur GitHub</a:t>
            </a:r>
            <a:endParaRPr lang="fr-F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Rectangle 1"/>
          <p:cNvSpPr/>
          <p:nvPr/>
        </p:nvSpPr>
        <p:spPr>
          <a:xfrm>
            <a:off x="0" y="0"/>
            <a:ext cx="12191400" cy="54360"/>
          </a:xfrm>
          <a:prstGeom prst="rect">
            <a:avLst/>
          </a:prstGeom>
          <a:solidFill>
            <a:srgbClr val="FF6B3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7" name="TextBox 2"/>
          <p:cNvSpPr/>
          <p:nvPr/>
        </p:nvSpPr>
        <p:spPr>
          <a:xfrm>
            <a:off x="731520" y="365760"/>
            <a:ext cx="100580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FF6B35"/>
                </a:solidFill>
                <a:effectLst/>
                <a:uFillTx/>
                <a:latin typeface="Calibri"/>
              </a:rPr>
              <a:t>Le projet : Jeu du Pendu</a:t>
            </a:r>
            <a:endParaRPr lang="fr-FR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TextBox 3"/>
          <p:cNvSpPr/>
          <p:nvPr/>
        </p:nvSpPr>
        <p:spPr>
          <a:xfrm>
            <a:off x="731520" y="128016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Règles : trouver un mot en devinant les lettres, une par une.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• Un mot secret est choisi aléatoirement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• Le joueur propose des lettres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• Si la lettre est dans le mot → elle est révélée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• Sinon → on dessine une partie du pendu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• 6 erreurs max → PERDU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• Toutes les lettres trouvées → GAGNÉ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Structure du projet :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pendu/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├── mots.py        # Liste de mots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├── pendu.py       # Logique du jeu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├── affichage.py   # Interface console + dessin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├── scores.py      # Sauvegarde des scores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└── main.py        # Point d'entrée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On va utiliser Git pour versionner chaque étape !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Rectangle 1"/>
          <p:cNvSpPr/>
          <p:nvPr/>
        </p:nvSpPr>
        <p:spPr>
          <a:xfrm>
            <a:off x="0" y="0"/>
            <a:ext cx="12191400" cy="54360"/>
          </a:xfrm>
          <a:prstGeom prst="rect">
            <a:avLst/>
          </a:prstGeom>
          <a:solidFill>
            <a:srgbClr val="FF6B3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0" name="TextBox 2"/>
          <p:cNvSpPr/>
          <p:nvPr/>
        </p:nvSpPr>
        <p:spPr>
          <a:xfrm>
            <a:off x="731520" y="274320"/>
            <a:ext cx="10058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FF6B35"/>
                </a:solidFill>
                <a:effectLst/>
                <a:uFillTx/>
                <a:latin typeface="Calibri"/>
              </a:rPr>
              <a:t>mots.py - Gestion des mots</a:t>
            </a:r>
            <a:endParaRPr lang="fr-FR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Rounded Rectangle 3"/>
          <p:cNvSpPr/>
          <p:nvPr/>
        </p:nvSpPr>
        <p:spPr>
          <a:xfrm>
            <a:off x="731520" y="1097280"/>
            <a:ext cx="10515240" cy="5028840"/>
          </a:xfrm>
          <a:prstGeom prst="roundRect">
            <a:avLst>
              <a:gd name="adj" fmla="val 16667"/>
            </a:avLst>
          </a:prstGeom>
          <a:solidFill>
            <a:srgbClr val="1E1E2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2" name="TextBox 4"/>
          <p:cNvSpPr/>
          <p:nvPr/>
        </p:nvSpPr>
        <p:spPr>
          <a:xfrm>
            <a:off x="1005840" y="1234440"/>
            <a:ext cx="9966600" cy="47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CDD6F4"/>
                </a:solidFill>
                <a:effectLst/>
                <a:uFillTx/>
                <a:latin typeface="Consolas"/>
              </a:rPr>
              <a:t># mots.py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CDD6F4"/>
                </a:solidFill>
                <a:effectLst/>
                <a:uFillTx/>
                <a:latin typeface="Consolas"/>
              </a:rPr>
              <a:t>import random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CDD6F4"/>
                </a:solidFill>
                <a:effectLst/>
                <a:uFillTx/>
                <a:latin typeface="Consolas"/>
              </a:rPr>
              <a:t>MOTS = [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CDD6F4"/>
                </a:solidFill>
                <a:effectLst/>
                <a:uFillTx/>
                <a:latin typeface="Consolas"/>
              </a:rPr>
              <a:t>    "python", "ordinateur", "programmation", "developpeur",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CDD6F4"/>
                </a:solidFill>
                <a:effectLst/>
                <a:uFillTx/>
                <a:latin typeface="Consolas"/>
              </a:rPr>
              <a:t>    "algorithme", "variable", "fonction", "boucle",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CDD6F4"/>
                </a:solidFill>
                <a:effectLst/>
                <a:uFillTx/>
                <a:latin typeface="Consolas"/>
              </a:rPr>
              <a:t>    "condition", "dictionnaire", "liste", "module",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CDD6F4"/>
                </a:solidFill>
                <a:effectLst/>
                <a:uFillTx/>
                <a:latin typeface="Consolas"/>
              </a:rPr>
              <a:t>    "internet", "navigation", "clavier", "ecran",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CDD6F4"/>
                </a:solidFill>
                <a:effectLst/>
                <a:uFillTx/>
                <a:latin typeface="Consolas"/>
              </a:rPr>
              <a:t>    "souris", "fichier", "reseau", "application"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CDD6F4"/>
                </a:solidFill>
                <a:effectLst/>
                <a:uFillTx/>
                <a:latin typeface="Consolas"/>
              </a:rPr>
              <a:t>]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CDD6F4"/>
                </a:solidFill>
                <a:effectLst/>
                <a:uFillTx/>
                <a:latin typeface="Consolas"/>
              </a:rPr>
              <a:t># Sélection par difficulté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CDD6F4"/>
                </a:solidFill>
                <a:effectLst/>
                <a:uFillTx/>
                <a:latin typeface="Consolas"/>
              </a:rPr>
              <a:t>def choisir_mot(difficulte="facile"):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CDD6F4"/>
                </a:solidFill>
                <a:effectLst/>
                <a:uFillTx/>
                <a:latin typeface="Consolas"/>
              </a:rPr>
              <a:t>    if difficulte == "facile":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CDD6F4"/>
                </a:solidFill>
                <a:effectLst/>
                <a:uFillTx/>
                <a:latin typeface="Consolas"/>
              </a:rPr>
              <a:t>        return random.choice([m for m in MOTS if len(m) &lt;= 6])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CDD6F4"/>
                </a:solidFill>
                <a:effectLst/>
                <a:uFillTx/>
                <a:latin typeface="Consolas"/>
              </a:rPr>
              <a:t>    elif difficulte == "moyen":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CDD6F4"/>
                </a:solidFill>
                <a:effectLst/>
                <a:uFillTx/>
                <a:latin typeface="Consolas"/>
              </a:rPr>
              <a:t>        return random.choice([m for m in MOTS if 7 &lt;= len(m) &lt;= 10])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CDD6F4"/>
                </a:solidFill>
                <a:effectLst/>
                <a:uFillTx/>
                <a:latin typeface="Consolas"/>
              </a:rPr>
              <a:t>    else:  # difficile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CDD6F4"/>
                </a:solidFill>
                <a:effectLst/>
                <a:uFillTx/>
                <a:latin typeface="Consolas"/>
              </a:rPr>
              <a:t>        return random.choice([m for m in MOTS if len(m) &gt; 10])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Rectangle 1"/>
          <p:cNvSpPr/>
          <p:nvPr/>
        </p:nvSpPr>
        <p:spPr>
          <a:xfrm>
            <a:off x="0" y="0"/>
            <a:ext cx="12191400" cy="54360"/>
          </a:xfrm>
          <a:prstGeom prst="rect">
            <a:avLst/>
          </a:prstGeom>
          <a:solidFill>
            <a:srgbClr val="FF6B3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4" name="TextBox 2"/>
          <p:cNvSpPr/>
          <p:nvPr/>
        </p:nvSpPr>
        <p:spPr>
          <a:xfrm>
            <a:off x="731520" y="274320"/>
            <a:ext cx="10058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FF6B35"/>
                </a:solidFill>
                <a:effectLst/>
                <a:uFillTx/>
                <a:latin typeface="Calibri"/>
              </a:rPr>
              <a:t>pendu.py - Logique du jeu</a:t>
            </a:r>
            <a:endParaRPr lang="fr-FR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Rounded Rectangle 3"/>
          <p:cNvSpPr/>
          <p:nvPr/>
        </p:nvSpPr>
        <p:spPr>
          <a:xfrm>
            <a:off x="731520" y="1097280"/>
            <a:ext cx="10515240" cy="5028840"/>
          </a:xfrm>
          <a:prstGeom prst="roundRect">
            <a:avLst>
              <a:gd name="adj" fmla="val 16667"/>
            </a:avLst>
          </a:prstGeom>
          <a:solidFill>
            <a:srgbClr val="1E1E2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6" name="TextBox 4"/>
          <p:cNvSpPr/>
          <p:nvPr/>
        </p:nvSpPr>
        <p:spPr>
          <a:xfrm>
            <a:off x="1005840" y="1234440"/>
            <a:ext cx="9966600" cy="47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CDD6F4"/>
                </a:solidFill>
                <a:effectLst/>
                <a:uFillTx/>
                <a:latin typeface="Consolas"/>
              </a:rPr>
              <a:t># pendu.py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CDD6F4"/>
                </a:solidFill>
                <a:effectLst/>
                <a:uFillTx/>
                <a:latin typeface="Consolas"/>
              </a:rPr>
              <a:t>class Pendu: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CDD6F4"/>
                </a:solidFill>
                <a:effectLst/>
                <a:uFillTx/>
                <a:latin typeface="Consolas"/>
              </a:rPr>
              <a:t>    MAX_ERREURS = 6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CDD6F4"/>
                </a:solidFill>
                <a:effectLst/>
                <a:uFillTx/>
                <a:latin typeface="Consolas"/>
              </a:rPr>
              <a:t>    def __init__(self, mot_secret):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CDD6F4"/>
                </a:solidFill>
                <a:effectLst/>
                <a:uFillTx/>
                <a:latin typeface="Consolas"/>
              </a:rPr>
              <a:t>        self.mot = mot_secret.lower()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CDD6F4"/>
                </a:solidFill>
                <a:effectLst/>
                <a:uFillTx/>
                <a:latin typeface="Consolas"/>
              </a:rPr>
              <a:t>        self.trouve = ['_'] * len(self.mot)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CDD6F4"/>
                </a:solidFill>
                <a:effectLst/>
                <a:uFillTx/>
                <a:latin typeface="Consolas"/>
              </a:rPr>
              <a:t>        self.erreurs = 0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CDD6F4"/>
                </a:solidFill>
                <a:effectLst/>
                <a:uFillTx/>
                <a:latin typeface="Consolas"/>
              </a:rPr>
              <a:t>        self.lettres_proposees = set()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CDD6F4"/>
                </a:solidFill>
                <a:effectLst/>
                <a:uFillTx/>
                <a:latin typeface="Consolas"/>
              </a:rPr>
              <a:t>    def proposer(self, lettre):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CDD6F4"/>
                </a:solidFill>
                <a:effectLst/>
                <a:uFillTx/>
                <a:latin typeface="Consolas"/>
              </a:rPr>
              <a:t>        lettre = lettre.lower()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CDD6F4"/>
                </a:solidFill>
                <a:effectLst/>
                <a:uFillTx/>
                <a:latin typeface="Consolas"/>
              </a:rPr>
              <a:t>        if lettre in self.lettres_proposees: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CDD6F4"/>
                </a:solidFill>
                <a:effectLst/>
                <a:uFillTx/>
                <a:latin typeface="Consolas"/>
              </a:rPr>
              <a:t>            return "déjà proposée"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CDD6F4"/>
                </a:solidFill>
                <a:effectLst/>
                <a:uFillTx/>
                <a:latin typeface="Consolas"/>
              </a:rPr>
              <a:t>        self.lettres_proposees.add(lettre)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CDD6F4"/>
                </a:solidFill>
                <a:effectLst/>
                <a:uFillTx/>
                <a:latin typeface="Consolas"/>
              </a:rPr>
              <a:t>        if lettre in self.mot: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CDD6F4"/>
                </a:solidFill>
                <a:effectLst/>
                <a:uFillTx/>
                <a:latin typeface="Consolas"/>
              </a:rPr>
              <a:t>            for i, c in enumerate(self.mot):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CDD6F4"/>
                </a:solidFill>
                <a:effectLst/>
                <a:uFillTx/>
                <a:latin typeface="Consolas"/>
              </a:rPr>
              <a:t>                if c == lettre: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CDD6F4"/>
                </a:solidFill>
                <a:effectLst/>
                <a:uFillTx/>
                <a:latin typeface="Consolas"/>
              </a:rPr>
              <a:t>                    self.trouve[i] = c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CDD6F4"/>
                </a:solidFill>
                <a:effectLst/>
                <a:uFillTx/>
                <a:latin typeface="Consolas"/>
              </a:rPr>
              <a:t>            return "trouvée"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CDD6F4"/>
                </a:solidFill>
                <a:effectLst/>
                <a:uFillTx/>
                <a:latin typeface="Consolas"/>
              </a:rPr>
              <a:t>        else: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CDD6F4"/>
                </a:solidFill>
                <a:effectLst/>
                <a:uFillTx/>
                <a:latin typeface="Consolas"/>
              </a:rPr>
              <a:t>            self.erreurs += 1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CDD6F4"/>
                </a:solidFill>
                <a:effectLst/>
                <a:uFillTx/>
                <a:latin typeface="Consolas"/>
              </a:rPr>
              <a:t>            return "ratée"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CDD6F4"/>
                </a:solidFill>
                <a:effectLst/>
                <a:uFillTx/>
                <a:latin typeface="Consolas"/>
              </a:rPr>
              <a:t>    @property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CDD6F4"/>
                </a:solidFill>
                <a:effectLst/>
                <a:uFillTx/>
                <a:latin typeface="Consolas"/>
              </a:rPr>
              <a:t>    def est_gagne(self):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CDD6F4"/>
                </a:solidFill>
                <a:effectLst/>
                <a:uFillTx/>
                <a:latin typeface="Consolas"/>
              </a:rPr>
              <a:t>        return '_' not in self.trouve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CDD6F4"/>
                </a:solidFill>
                <a:effectLst/>
                <a:uFillTx/>
                <a:latin typeface="Consolas"/>
              </a:rPr>
              <a:t>    @property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CDD6F4"/>
                </a:solidFill>
                <a:effectLst/>
                <a:uFillTx/>
                <a:latin typeface="Consolas"/>
              </a:rPr>
              <a:t>    def est_perdu(self):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CDD6F4"/>
                </a:solidFill>
                <a:effectLst/>
                <a:uFillTx/>
                <a:latin typeface="Consolas"/>
              </a:rPr>
              <a:t>        return self.erreurs &gt;= self.MAX_ERREURS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Rectangle 1"/>
          <p:cNvSpPr/>
          <p:nvPr/>
        </p:nvSpPr>
        <p:spPr>
          <a:xfrm>
            <a:off x="0" y="0"/>
            <a:ext cx="12191400" cy="54360"/>
          </a:xfrm>
          <a:prstGeom prst="rect">
            <a:avLst/>
          </a:prstGeom>
          <a:solidFill>
            <a:srgbClr val="FF6B3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8" name="TextBox 2"/>
          <p:cNvSpPr/>
          <p:nvPr/>
        </p:nvSpPr>
        <p:spPr>
          <a:xfrm>
            <a:off x="731520" y="274320"/>
            <a:ext cx="10058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FF6B35"/>
                </a:solidFill>
                <a:effectLst/>
                <a:uFillTx/>
                <a:latin typeface="Calibri"/>
              </a:rPr>
              <a:t>affichage.py - Le dessin du pendu</a:t>
            </a:r>
            <a:endParaRPr lang="fr-FR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Rounded Rectangle 3"/>
          <p:cNvSpPr/>
          <p:nvPr/>
        </p:nvSpPr>
        <p:spPr>
          <a:xfrm>
            <a:off x="644760" y="1091160"/>
            <a:ext cx="10515240" cy="5028840"/>
          </a:xfrm>
          <a:prstGeom prst="roundRect">
            <a:avLst>
              <a:gd name="adj" fmla="val 16667"/>
            </a:avLst>
          </a:prstGeom>
          <a:solidFill>
            <a:srgbClr val="1E1E2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000" tIns="90000" rIns="45000" bIns="90000" anchor="b" anchorCtr="1" vert="eaVert">
            <a:no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chemeClr val="lt1"/>
                </a:solidFill>
                <a:effectLst/>
                <a:uFillTx/>
                <a:latin typeface="Consolas"/>
              </a:rPr>
              <a:t># affichage.py</a:t>
            </a:r>
            <a:endParaRPr lang="en-US" sz="11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chemeClr val="lt1"/>
                </a:solidFill>
                <a:effectLst/>
                <a:uFillTx/>
                <a:latin typeface="Consolas"/>
              </a:rPr>
              <a:t>DESSINS = [</a:t>
            </a:r>
            <a:endParaRPr lang="en-US" sz="11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chemeClr val="lt1"/>
                </a:solidFill>
                <a:effectLst/>
                <a:uFillTx/>
                <a:latin typeface="Consolas"/>
              </a:rPr>
              <a:t>  """</a:t>
            </a:r>
            <a:br>
              <a:rPr sz="1100"/>
            </a:br>
            <a:r>
              <a:rPr lang="en-US" sz="1100" b="0" u="none" strike="noStrike">
                <a:solidFill>
                  <a:schemeClr val="lt1"/>
                </a:solidFill>
                <a:effectLst/>
                <a:uFillTx/>
                <a:latin typeface="Consolas"/>
              </a:rPr>
              <a:t>    +---+</a:t>
            </a:r>
            <a:br>
              <a:rPr sz="1100"/>
            </a:br>
            <a:r>
              <a:rPr lang="en-US" sz="1100" b="0" u="none" strike="noStrike">
                <a:solidFill>
                  <a:schemeClr val="lt1"/>
                </a:solidFill>
                <a:effectLst/>
                <a:uFillTx/>
                <a:latin typeface="Consolas"/>
              </a:rPr>
              <a:t>        |</a:t>
            </a:r>
            <a:br>
              <a:rPr sz="1100"/>
            </a:br>
            <a:r>
              <a:rPr lang="en-US" sz="1100" b="0" u="none" strike="noStrike">
                <a:solidFill>
                  <a:schemeClr val="lt1"/>
                </a:solidFill>
                <a:effectLst/>
                <a:uFillTx/>
                <a:latin typeface="Consolas"/>
              </a:rPr>
              <a:t>        |</a:t>
            </a:r>
            <a:br>
              <a:rPr sz="1100"/>
            </a:br>
            <a:r>
              <a:rPr lang="en-US" sz="1100" b="0" u="none" strike="noStrike">
                <a:solidFill>
                  <a:schemeClr val="lt1"/>
                </a:solidFill>
                <a:effectLst/>
                <a:uFillTx/>
                <a:latin typeface="Consolas"/>
              </a:rPr>
              <a:t>        |</a:t>
            </a:r>
            <a:br>
              <a:rPr sz="1100"/>
            </a:br>
            <a:r>
              <a:rPr lang="en-US" sz="1100" b="0" u="none" strike="noStrike">
                <a:solidFill>
                  <a:schemeClr val="lt1"/>
                </a:solidFill>
                <a:effectLst/>
                <a:uFillTx/>
                <a:latin typeface="Consolas"/>
              </a:rPr>
              <a:t>       ===</a:t>
            </a:r>
            <a:br>
              <a:rPr sz="1100"/>
            </a:br>
            <a:r>
              <a:rPr lang="en-US" sz="1100" b="0" u="none" strike="noStrike">
                <a:solidFill>
                  <a:schemeClr val="lt1"/>
                </a:solidFill>
                <a:effectLst/>
                <a:uFillTx/>
                <a:latin typeface="Consolas"/>
              </a:rPr>
              <a:t>    """,</a:t>
            </a:r>
            <a:endParaRPr lang="en-US" sz="11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chemeClr val="lt1"/>
                </a:solidFill>
                <a:effectLst/>
                <a:uFillTx/>
                <a:latin typeface="Consolas"/>
              </a:rPr>
              <a:t>    """</a:t>
            </a:r>
            <a:br>
              <a:rPr sz="1100"/>
            </a:br>
            <a:r>
              <a:rPr lang="en-US" sz="1100" b="0" u="none" strike="noStrike">
                <a:solidFill>
                  <a:schemeClr val="lt1"/>
                </a:solidFill>
                <a:effectLst/>
                <a:uFillTx/>
                <a:latin typeface="Consolas"/>
              </a:rPr>
              <a:t>    +---+</a:t>
            </a:r>
            <a:br>
              <a:rPr sz="1100"/>
            </a:br>
            <a:r>
              <a:rPr lang="en-US" sz="1100" b="0" u="none" strike="noStrike">
                <a:solidFill>
                  <a:schemeClr val="lt1"/>
                </a:solidFill>
                <a:effectLst/>
                <a:uFillTx/>
                <a:latin typeface="Consolas"/>
              </a:rPr>
              <a:t>    O   |</a:t>
            </a:r>
            <a:br>
              <a:rPr sz="1100"/>
            </a:br>
            <a:r>
              <a:rPr lang="en-US" sz="1100" b="0" u="none" strike="noStrike">
                <a:solidFill>
                  <a:schemeClr val="lt1"/>
                </a:solidFill>
                <a:effectLst/>
                <a:uFillTx/>
                <a:latin typeface="Consolas"/>
              </a:rPr>
              <a:t>        |</a:t>
            </a:r>
            <a:br>
              <a:rPr sz="1100"/>
            </a:br>
            <a:r>
              <a:rPr lang="en-US" sz="1100" b="0" u="none" strike="noStrike">
                <a:solidFill>
                  <a:schemeClr val="lt1"/>
                </a:solidFill>
                <a:effectLst/>
                <a:uFillTx/>
                <a:latin typeface="Consolas"/>
              </a:rPr>
              <a:t>        |</a:t>
            </a:r>
            <a:br>
              <a:rPr sz="1100"/>
            </a:br>
            <a:r>
              <a:rPr lang="en-US" sz="1100" b="0" u="none" strike="noStrike">
                <a:solidFill>
                  <a:schemeClr val="lt1"/>
                </a:solidFill>
                <a:effectLst/>
                <a:uFillTx/>
                <a:latin typeface="Consolas"/>
              </a:rPr>
              <a:t>       ===</a:t>
            </a:r>
            <a:br>
              <a:rPr sz="1100"/>
            </a:br>
            <a:r>
              <a:rPr lang="en-US" sz="1100" b="0" u="none" strike="noStrike">
                <a:solidFill>
                  <a:schemeClr val="lt1"/>
                </a:solidFill>
                <a:effectLst/>
                <a:uFillTx/>
                <a:latin typeface="Consolas"/>
              </a:rPr>
              <a:t>    """,</a:t>
            </a:r>
            <a:endParaRPr lang="en-US" sz="11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chemeClr val="lt1"/>
                </a:solidFill>
                <a:effectLst/>
                <a:uFillTx/>
                <a:latin typeface="Consolas"/>
              </a:rPr>
              <a:t>  """</a:t>
            </a:r>
            <a:br>
              <a:rPr sz="1100"/>
            </a:br>
            <a:r>
              <a:rPr lang="en-US" sz="1100" b="0" u="none" strike="noStrike">
                <a:solidFill>
                  <a:schemeClr val="lt1"/>
                </a:solidFill>
                <a:effectLst/>
                <a:uFillTx/>
                <a:latin typeface="Consolas"/>
              </a:rPr>
              <a:t>    +---+</a:t>
            </a:r>
            <a:br>
              <a:rPr sz="1100"/>
            </a:br>
            <a:r>
              <a:rPr lang="en-US" sz="1100" b="0" u="none" strike="noStrike">
                <a:solidFill>
                  <a:schemeClr val="lt1"/>
                </a:solidFill>
                <a:effectLst/>
                <a:uFillTx/>
                <a:latin typeface="Consolas"/>
              </a:rPr>
              <a:t>    O   |</a:t>
            </a:r>
            <a:br>
              <a:rPr sz="1100"/>
            </a:br>
            <a:r>
              <a:rPr lang="en-US" sz="1100" b="0" u="none" strike="noStrike">
                <a:solidFill>
                  <a:schemeClr val="lt1"/>
                </a:solidFill>
                <a:effectLst/>
                <a:uFillTx/>
                <a:latin typeface="Consolas"/>
              </a:rPr>
              <a:t>    |   |</a:t>
            </a:r>
            <a:br>
              <a:rPr sz="1100"/>
            </a:br>
            <a:r>
              <a:rPr lang="en-US" sz="1100" b="0" u="none" strike="noStrike">
                <a:solidFill>
                  <a:schemeClr val="lt1"/>
                </a:solidFill>
                <a:effectLst/>
                <a:uFillTx/>
                <a:latin typeface="Consolas"/>
              </a:rPr>
              <a:t>        |</a:t>
            </a:r>
            <a:br>
              <a:rPr sz="1100"/>
            </a:br>
            <a:r>
              <a:rPr lang="en-US" sz="1100" b="0" u="none" strike="noStrike">
                <a:solidFill>
                  <a:schemeClr val="lt1"/>
                </a:solidFill>
                <a:effectLst/>
                <a:uFillTx/>
                <a:latin typeface="Consolas"/>
              </a:rPr>
              <a:t>       ===</a:t>
            </a:r>
            <a:br>
              <a:rPr sz="1100"/>
            </a:br>
            <a:r>
              <a:rPr lang="en-US" sz="1100" b="0" u="none" strike="noStrike">
                <a:solidFill>
                  <a:schemeClr val="lt1"/>
                </a:solidFill>
                <a:effectLst/>
                <a:uFillTx/>
                <a:latin typeface="Consolas"/>
              </a:rPr>
              <a:t>    """,</a:t>
            </a:r>
            <a:endParaRPr lang="en-US" sz="11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chemeClr val="lt1"/>
                </a:solidFill>
                <a:effectLst/>
                <a:uFillTx/>
                <a:latin typeface="Consolas"/>
              </a:rPr>
              <a:t>  """</a:t>
            </a:r>
            <a:br>
              <a:rPr sz="1100"/>
            </a:br>
            <a:r>
              <a:rPr lang="en-US" sz="1100" b="0" u="none" strike="noStrike">
                <a:solidFill>
                  <a:schemeClr val="lt1"/>
                </a:solidFill>
                <a:effectLst/>
                <a:uFillTx/>
                <a:latin typeface="Consolas"/>
              </a:rPr>
              <a:t>    +---+</a:t>
            </a:r>
            <a:br>
              <a:rPr sz="1100"/>
            </a:br>
            <a:r>
              <a:rPr lang="en-US" sz="1100" b="0" u="none" strike="noStrike">
                <a:solidFill>
                  <a:schemeClr val="lt1"/>
                </a:solidFill>
                <a:effectLst/>
                <a:uFillTx/>
                <a:latin typeface="Consolas"/>
              </a:rPr>
              <a:t>    O   |</a:t>
            </a:r>
            <a:br>
              <a:rPr sz="1100"/>
            </a:br>
            <a:r>
              <a:rPr lang="en-US" sz="1100" b="0" u="none" strike="noStrike">
                <a:solidFill>
                  <a:schemeClr val="lt1"/>
                </a:solidFill>
                <a:effectLst/>
                <a:uFillTx/>
                <a:latin typeface="Consolas"/>
              </a:rPr>
              <a:t>   /|   |</a:t>
            </a:r>
            <a:br>
              <a:rPr sz="1100"/>
            </a:br>
            <a:r>
              <a:rPr lang="en-US" sz="1100" b="0" u="none" strike="noStrike">
                <a:solidFill>
                  <a:schemeClr val="lt1"/>
                </a:solidFill>
                <a:effectLst/>
                <a:uFillTx/>
                <a:latin typeface="Consolas"/>
              </a:rPr>
              <a:t>        |</a:t>
            </a:r>
            <a:br>
              <a:rPr sz="1100"/>
            </a:br>
            <a:r>
              <a:rPr lang="en-US" sz="1100" b="0" u="none" strike="noStrike">
                <a:solidFill>
                  <a:schemeClr val="lt1"/>
                </a:solidFill>
                <a:effectLst/>
                <a:uFillTx/>
                <a:latin typeface="Consolas"/>
              </a:rPr>
              <a:t>       ===</a:t>
            </a:r>
            <a:br>
              <a:rPr sz="1100"/>
            </a:br>
            <a:r>
              <a:rPr lang="en-US" sz="1100" b="0" u="none" strike="noStrike">
                <a:solidFill>
                  <a:schemeClr val="lt1"/>
                </a:solidFill>
                <a:effectLst/>
                <a:uFillTx/>
                <a:latin typeface="Consolas"/>
              </a:rPr>
              <a:t>    """,</a:t>
            </a:r>
            <a:endParaRPr lang="en-US" sz="11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chemeClr val="lt1"/>
                </a:solidFill>
                <a:effectLst/>
                <a:uFillTx/>
                <a:latin typeface="Consolas"/>
              </a:rPr>
              <a:t>  """</a:t>
            </a:r>
            <a:br>
              <a:rPr sz="1100"/>
            </a:br>
            <a:r>
              <a:rPr lang="en-US" sz="1100" b="0" u="none" strike="noStrike">
                <a:solidFill>
                  <a:schemeClr val="lt1"/>
                </a:solidFill>
                <a:effectLst/>
                <a:uFillTx/>
                <a:latin typeface="Consolas"/>
              </a:rPr>
              <a:t>    +---+</a:t>
            </a:r>
            <a:br>
              <a:rPr sz="1100"/>
            </a:br>
            <a:r>
              <a:rPr lang="en-US" sz="1100" b="0" u="none" strike="noStrike">
                <a:solidFill>
                  <a:schemeClr val="lt1"/>
                </a:solidFill>
                <a:effectLst/>
                <a:uFillTx/>
                <a:latin typeface="Consolas"/>
              </a:rPr>
              <a:t>    O   |</a:t>
            </a:r>
            <a:br>
              <a:rPr sz="1100"/>
            </a:br>
            <a:r>
              <a:rPr lang="en-US" sz="1100" b="0" u="none" strike="noStrike">
                <a:solidFill>
                  <a:schemeClr val="lt1"/>
                </a:solidFill>
                <a:effectLst/>
                <a:uFillTx/>
                <a:latin typeface="Consolas"/>
              </a:rPr>
              <a:t>   /|\  |</a:t>
            </a:r>
            <a:br>
              <a:rPr sz="1100"/>
            </a:br>
            <a:r>
              <a:rPr lang="en-US" sz="1100" b="0" u="none" strike="noStrike">
                <a:solidFill>
                  <a:schemeClr val="lt1"/>
                </a:solidFill>
                <a:effectLst/>
                <a:uFillTx/>
                <a:latin typeface="Consolas"/>
              </a:rPr>
              <a:t>        |</a:t>
            </a:r>
            <a:br>
              <a:rPr sz="1100"/>
            </a:br>
            <a:r>
              <a:rPr lang="en-US" sz="1100" b="0" u="none" strike="noStrike">
                <a:solidFill>
                  <a:schemeClr val="lt1"/>
                </a:solidFill>
                <a:effectLst/>
                <a:uFillTx/>
                <a:latin typeface="Consolas"/>
              </a:rPr>
              <a:t>       ===</a:t>
            </a:r>
            <a:br>
              <a:rPr sz="1100"/>
            </a:br>
            <a:r>
              <a:rPr lang="en-US" sz="1100" b="0" u="none" strike="noStrike">
                <a:solidFill>
                  <a:schemeClr val="lt1"/>
                </a:solidFill>
                <a:effectLst/>
                <a:uFillTx/>
                <a:latin typeface="Consolas"/>
              </a:rPr>
              <a:t>    """,</a:t>
            </a:r>
            <a:endParaRPr lang="en-US" sz="11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chemeClr val="lt1"/>
                </a:solidFill>
                <a:effectLst/>
                <a:uFillTx/>
                <a:latin typeface="Consolas"/>
              </a:rPr>
              <a:t>  """</a:t>
            </a:r>
            <a:br>
              <a:rPr sz="1100"/>
            </a:br>
            <a:r>
              <a:rPr lang="en-US" sz="1100" b="0" u="none" strike="noStrike">
                <a:solidFill>
                  <a:schemeClr val="lt1"/>
                </a:solidFill>
                <a:effectLst/>
                <a:uFillTx/>
                <a:latin typeface="Consolas"/>
              </a:rPr>
              <a:t>    +---+</a:t>
            </a:r>
            <a:br>
              <a:rPr sz="1100"/>
            </a:br>
            <a:r>
              <a:rPr lang="en-US" sz="1100" b="0" u="none" strike="noStrike">
                <a:solidFill>
                  <a:schemeClr val="lt1"/>
                </a:solidFill>
                <a:effectLst/>
                <a:uFillTx/>
                <a:latin typeface="Consolas"/>
              </a:rPr>
              <a:t>    O   |</a:t>
            </a:r>
            <a:br>
              <a:rPr sz="1100"/>
            </a:br>
            <a:r>
              <a:rPr lang="en-US" sz="1100" b="0" u="none" strike="noStrike">
                <a:solidFill>
                  <a:schemeClr val="lt1"/>
                </a:solidFill>
                <a:effectLst/>
                <a:uFillTx/>
                <a:latin typeface="Consolas"/>
              </a:rPr>
              <a:t>   /|\  |</a:t>
            </a:r>
            <a:br>
              <a:rPr sz="1100"/>
            </a:br>
            <a:r>
              <a:rPr lang="en-US" sz="1100" b="0" u="none" strike="noStrike">
                <a:solidFill>
                  <a:schemeClr val="lt1"/>
                </a:solidFill>
                <a:effectLst/>
                <a:uFillTx/>
                <a:latin typeface="Consolas"/>
              </a:rPr>
              <a:t>   /    |</a:t>
            </a:r>
            <a:br>
              <a:rPr sz="1100"/>
            </a:br>
            <a:r>
              <a:rPr lang="en-US" sz="1100" b="0" u="none" strike="noStrike">
                <a:solidFill>
                  <a:schemeClr val="lt1"/>
                </a:solidFill>
                <a:effectLst/>
                <a:uFillTx/>
                <a:latin typeface="Consolas"/>
              </a:rPr>
              <a:t>       ===</a:t>
            </a:r>
            <a:br>
              <a:rPr sz="1100"/>
            </a:br>
            <a:r>
              <a:rPr lang="en-US" sz="1100" b="0" u="none" strike="noStrike">
                <a:solidFill>
                  <a:schemeClr val="lt1"/>
                </a:solidFill>
                <a:effectLst/>
                <a:uFillTx/>
                <a:latin typeface="Consolas"/>
              </a:rPr>
              <a:t>    """,</a:t>
            </a:r>
            <a:endParaRPr lang="en-US" sz="11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chemeClr val="lt1"/>
                </a:solidFill>
                <a:effectLst/>
                <a:uFillTx/>
                <a:latin typeface="Consolas"/>
              </a:rPr>
              <a:t>  """</a:t>
            </a:r>
            <a:br>
              <a:rPr sz="1100"/>
            </a:br>
            <a:r>
              <a:rPr lang="en-US" sz="1100" b="0" u="none" strike="noStrike">
                <a:solidFill>
                  <a:schemeClr val="lt1"/>
                </a:solidFill>
                <a:effectLst/>
                <a:uFillTx/>
                <a:latin typeface="Consolas"/>
              </a:rPr>
              <a:t>    +---+</a:t>
            </a:r>
            <a:br>
              <a:rPr sz="1100"/>
            </a:br>
            <a:r>
              <a:rPr lang="en-US" sz="1100" b="0" u="none" strike="noStrike">
                <a:solidFill>
                  <a:schemeClr val="lt1"/>
                </a:solidFill>
                <a:effectLst/>
                <a:uFillTx/>
                <a:latin typeface="Consolas"/>
              </a:rPr>
              <a:t>    O   |</a:t>
            </a:r>
            <a:br>
              <a:rPr sz="1100"/>
            </a:br>
            <a:r>
              <a:rPr lang="en-US" sz="1100" b="0" u="none" strike="noStrike">
                <a:solidFill>
                  <a:schemeClr val="lt1"/>
                </a:solidFill>
                <a:effectLst/>
                <a:uFillTx/>
                <a:latin typeface="Consolas"/>
              </a:rPr>
              <a:t>   /|\  |</a:t>
            </a:r>
            <a:br>
              <a:rPr sz="1100"/>
            </a:br>
            <a:r>
              <a:rPr lang="en-US" sz="1100" b="0" u="none" strike="noStrike">
                <a:solidFill>
                  <a:schemeClr val="lt1"/>
                </a:solidFill>
                <a:effectLst/>
                <a:uFillTx/>
                <a:latin typeface="Consolas"/>
              </a:rPr>
              <a:t>   / \  |</a:t>
            </a:r>
            <a:br>
              <a:rPr sz="1100"/>
            </a:br>
            <a:r>
              <a:rPr lang="en-US" sz="1100" b="0" u="none" strike="noStrike">
                <a:solidFill>
                  <a:schemeClr val="lt1"/>
                </a:solidFill>
                <a:effectLst/>
                <a:uFillTx/>
                <a:latin typeface="Consolas"/>
              </a:rPr>
              <a:t>       ===</a:t>
            </a:r>
            <a:br>
              <a:rPr sz="1100"/>
            </a:br>
            <a:r>
              <a:rPr lang="en-US" sz="1100" b="0" u="none" strike="noStrike">
                <a:solidFill>
                  <a:schemeClr val="lt1"/>
                </a:solidFill>
                <a:effectLst/>
                <a:uFillTx/>
                <a:latin typeface="Consolas"/>
              </a:rPr>
              <a:t>    """</a:t>
            </a:r>
            <a:endParaRPr lang="en-US" sz="11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chemeClr val="lt1"/>
                </a:solidFill>
                <a:effectLst/>
                <a:uFillTx/>
                <a:latin typeface="Consolas"/>
              </a:rPr>
              <a:t>]</a:t>
            </a:r>
            <a:endParaRPr lang="en-US" sz="11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chemeClr val="lt1"/>
                </a:solidFill>
                <a:effectLst/>
                <a:uFillTx/>
                <a:latin typeface="Consolas"/>
              </a:rPr>
              <a:t>def afficher_partie(pendu):</a:t>
            </a:r>
            <a:endParaRPr lang="en-US" sz="11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chemeClr val="lt1"/>
                </a:solidFill>
                <a:effectLst/>
                <a:uFillTx/>
                <a:latin typeface="Consolas"/>
              </a:rPr>
              <a:t>    print(DESSINS[pendu.erreurs])</a:t>
            </a:r>
            <a:endParaRPr lang="en-US" sz="11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chemeClr val="lt1"/>
                </a:solidFill>
                <a:effectLst/>
                <a:uFillTx/>
                <a:latin typeface="Consolas"/>
              </a:rPr>
              <a:t>    print("Mot: " + " ".join(pendu.trouve))</a:t>
            </a:r>
            <a:endParaRPr lang="en-US" sz="11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chemeClr val="lt1"/>
                </a:solidFill>
                <a:effectLst/>
                <a:uFillTx/>
                <a:latin typeface="Consolas"/>
              </a:rPr>
              <a:t>    print(f"Erreurs: {pendu.erreurs}/{Pendu.MAX_ERREURS}")</a:t>
            </a:r>
            <a:endParaRPr lang="en-US" sz="11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algn="just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chemeClr val="lt1"/>
                </a:solidFill>
                <a:effectLst/>
                <a:uFillTx/>
                <a:latin typeface="Consolas"/>
              </a:rPr>
              <a:t>    print(f"Lettres: {",".join(sorted(pendu.lettres_proposees))}")</a:t>
            </a:r>
            <a:endParaRPr lang="en-US" sz="11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0" name="TextBox 4"/>
          <p:cNvSpPr/>
          <p:nvPr/>
        </p:nvSpPr>
        <p:spPr>
          <a:xfrm>
            <a:off x="1260000" y="-1080000"/>
            <a:ext cx="9966600" cy="965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Rectangle 1"/>
          <p:cNvSpPr/>
          <p:nvPr/>
        </p:nvSpPr>
        <p:spPr>
          <a:xfrm>
            <a:off x="0" y="0"/>
            <a:ext cx="12191400" cy="54360"/>
          </a:xfrm>
          <a:prstGeom prst="rect">
            <a:avLst/>
          </a:prstGeom>
          <a:solidFill>
            <a:srgbClr val="FF6B3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2" name="TextBox 2"/>
          <p:cNvSpPr/>
          <p:nvPr/>
        </p:nvSpPr>
        <p:spPr>
          <a:xfrm>
            <a:off x="731520" y="274320"/>
            <a:ext cx="10058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FF6B35"/>
                </a:solidFill>
                <a:effectLst/>
                <a:uFillTx/>
                <a:latin typeface="Calibri"/>
              </a:rPr>
              <a:t>Scores et main.py</a:t>
            </a:r>
            <a:endParaRPr lang="fr-FR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Rounded Rectangle 3"/>
          <p:cNvSpPr/>
          <p:nvPr/>
        </p:nvSpPr>
        <p:spPr>
          <a:xfrm>
            <a:off x="731520" y="1097280"/>
            <a:ext cx="10515240" cy="5760720"/>
          </a:xfrm>
          <a:prstGeom prst="roundRect">
            <a:avLst>
              <a:gd name="adj" fmla="val 16667"/>
            </a:avLst>
          </a:prstGeom>
          <a:solidFill>
            <a:srgbClr val="1E1E2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4" name="TextBox 4"/>
          <p:cNvSpPr/>
          <p:nvPr/>
        </p:nvSpPr>
        <p:spPr>
          <a:xfrm>
            <a:off x="1005840" y="1234440"/>
            <a:ext cx="9966600" cy="47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CDD6F4"/>
                </a:solidFill>
                <a:effectLst/>
                <a:uFillTx/>
                <a:latin typeface="Consolas"/>
              </a:rPr>
              <a:t># scores.py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CDD6F4"/>
                </a:solidFill>
                <a:effectLst/>
                <a:uFillTx/>
                <a:latin typeface="Consolas"/>
              </a:rPr>
              <a:t>import json, os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CDD6F4"/>
                </a:solidFill>
                <a:effectLst/>
                <a:uFillTx/>
                <a:latin typeface="Consolas"/>
              </a:rPr>
              <a:t>FICHIER = "scores_pendu.json"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CDD6F4"/>
                </a:solidFill>
                <a:effectLst/>
                <a:uFillTx/>
                <a:latin typeface="Consolas"/>
              </a:rPr>
              <a:t>def charger_scores():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CDD6F4"/>
                </a:solidFill>
                <a:effectLst/>
                <a:uFillTx/>
                <a:latin typeface="Consolas"/>
              </a:rPr>
              <a:t>    if not os.path.exists(FICHIER): return []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CDD6F4"/>
                </a:solidFill>
                <a:effectLst/>
                <a:uFillTx/>
                <a:latin typeface="Consolas"/>
              </a:rPr>
              <a:t>    with open(FICHIER) as f: return json.load(f)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CDD6F4"/>
                </a:solidFill>
                <a:effectLst/>
                <a:uFillTx/>
                <a:latin typeface="Consolas"/>
              </a:rPr>
              <a:t>def sauvegarder_score(pseudo, erreurs, mot):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CDD6F4"/>
                </a:solidFill>
                <a:effectLst/>
                <a:uFillTx/>
                <a:latin typeface="Consolas"/>
              </a:rPr>
              <a:t>    scores = charger_scores()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CDD6F4"/>
                </a:solidFill>
                <a:effectLst/>
                <a:uFillTx/>
                <a:latin typeface="Consolas"/>
              </a:rPr>
              <a:t>    scores.append({"pseudo":pseudo,"erreurs":erreurs,"mot":mot})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CDD6F4"/>
                </a:solidFill>
                <a:effectLst/>
                <a:uFillTx/>
                <a:latin typeface="Consolas"/>
              </a:rPr>
              <a:t>    with open(FICHIER,"w") as f: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CDD6F4"/>
                </a:solidFill>
                <a:effectLst/>
                <a:uFillTx/>
                <a:latin typeface="Consolas"/>
              </a:rPr>
              <a:t>        json.dump(scores, f, indent=2)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CDD6F4"/>
                </a:solidFill>
                <a:effectLst/>
                <a:uFillTx/>
                <a:latin typeface="Consolas"/>
              </a:rPr>
              <a:t>def meilleur_score():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CDD6F4"/>
                </a:solidFill>
                <a:effectLst/>
                <a:uFillTx/>
                <a:latin typeface="Consolas"/>
              </a:rPr>
              <a:t>    scores = charger_scores()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CDD6F4"/>
                </a:solidFill>
                <a:effectLst/>
                <a:uFillTx/>
                <a:latin typeface="Consolas"/>
              </a:rPr>
              <a:t>    if not scores: return None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CDD6F4"/>
                </a:solidFill>
                <a:effectLst/>
                <a:uFillTx/>
                <a:latin typeface="Consolas"/>
              </a:rPr>
              <a:t>    return min(scores, key=lambda s: s["erreurs"])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CDD6F4"/>
                </a:solidFill>
                <a:effectLst/>
                <a:uFillTx/>
                <a:latin typeface="Consolas"/>
              </a:rPr>
              <a:t># main.py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CDD6F4"/>
                </a:solidFill>
                <a:effectLst/>
                <a:uFillTx/>
                <a:latin typeface="Consolas"/>
              </a:rPr>
              <a:t>from pendu import Pendu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CDD6F4"/>
                </a:solidFill>
                <a:effectLst/>
                <a:uFillTx/>
                <a:latin typeface="Consolas"/>
              </a:rPr>
              <a:t>from mots import choisir_mot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CDD6F4"/>
                </a:solidFill>
                <a:effectLst/>
                <a:uFillTx/>
                <a:latin typeface="Consolas"/>
              </a:rPr>
              <a:t>from affichage import afficher_partie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CDD6F4"/>
                </a:solidFill>
                <a:effectLst/>
                <a:uFillTx/>
                <a:latin typeface="Consolas"/>
              </a:rPr>
              <a:t>from scores import sauvegarder_score, meilleur_score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CDD6F4"/>
                </a:solidFill>
                <a:effectLst/>
                <a:uFillTx/>
                <a:latin typeface="Consolas"/>
              </a:rPr>
              <a:t>def jouer():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CDD6F4"/>
                </a:solidFill>
                <a:effectLst/>
                <a:uFillTx/>
                <a:latin typeface="Consolas"/>
              </a:rPr>
              <a:t>    mot = choisir_mot()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CDD6F4"/>
                </a:solidFill>
                <a:effectLst/>
                <a:uFillTx/>
                <a:latin typeface="Consolas"/>
              </a:rPr>
              <a:t>    jeu = Pendu(mot)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CDD6F4"/>
                </a:solidFill>
                <a:effectLst/>
                <a:uFillTx/>
                <a:latin typeface="Consolas"/>
              </a:rPr>
              <a:t>    while not jeu.est_gagne and not jeu.est_perdu: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CDD6F4"/>
                </a:solidFill>
                <a:effectLst/>
                <a:uFillTx/>
                <a:latin typeface="Consolas"/>
              </a:rPr>
              <a:t>        afficher_partie(jeu)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CDD6F4"/>
                </a:solidFill>
                <a:effectLst/>
                <a:uFillTx/>
                <a:latin typeface="Consolas"/>
              </a:rPr>
              <a:t>        lettre = input("Lettre: ")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CDD6F4"/>
                </a:solidFill>
                <a:effectLst/>
                <a:uFillTx/>
                <a:latin typeface="Consolas"/>
              </a:rPr>
              <a:t>        jeu.proposer(lettre)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CDD6F4"/>
                </a:solidFill>
                <a:effectLst/>
                <a:uFillTx/>
                <a:latin typeface="Consolas"/>
              </a:rPr>
              <a:t>    if jeu.est_gagne: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CDD6F4"/>
                </a:solidFill>
                <a:effectLst/>
                <a:uFillTx/>
                <a:latin typeface="Consolas"/>
              </a:rPr>
              <a:t>        print(f"GAGNÉ ! {mot}")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CDD6F4"/>
                </a:solidFill>
                <a:effectLst/>
                <a:uFillTx/>
                <a:latin typeface="Consolas"/>
              </a:rPr>
              <a:t>    else: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CDD6F4"/>
                </a:solidFill>
                <a:effectLst/>
                <a:uFillTx/>
                <a:latin typeface="Consolas"/>
              </a:rPr>
              <a:t>        print(f"PERDU ! Le mot était {mot}")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Rectangle 1"/>
          <p:cNvSpPr/>
          <p:nvPr/>
        </p:nvSpPr>
        <p:spPr>
          <a:xfrm>
            <a:off x="0" y="0"/>
            <a:ext cx="12191400" cy="54360"/>
          </a:xfrm>
          <a:prstGeom prst="rect">
            <a:avLst/>
          </a:prstGeom>
          <a:solidFill>
            <a:srgbClr val="06D6A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6" name="TextBox 2"/>
          <p:cNvSpPr/>
          <p:nvPr/>
        </p:nvSpPr>
        <p:spPr>
          <a:xfrm>
            <a:off x="731520" y="365760"/>
            <a:ext cx="10058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06D6A0"/>
                </a:solidFill>
                <a:effectLst/>
                <a:uFillTx/>
                <a:latin typeface="Calibri"/>
              </a:rPr>
              <a:t>À toi de jouer avec Git !</a:t>
            </a:r>
            <a:endParaRPr lang="fr-FR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Rounded Rectangle 3"/>
          <p:cNvSpPr/>
          <p:nvPr/>
        </p:nvSpPr>
        <p:spPr>
          <a:xfrm>
            <a:off x="731520" y="1097280"/>
            <a:ext cx="10515240" cy="3200040"/>
          </a:xfrm>
          <a:prstGeom prst="roundRect">
            <a:avLst>
              <a:gd name="adj" fmla="val 16667"/>
            </a:avLst>
          </a:prstGeom>
          <a:solidFill>
            <a:srgbClr val="1A1A4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8" name="TextBox 4"/>
          <p:cNvSpPr/>
          <p:nvPr/>
        </p:nvSpPr>
        <p:spPr>
          <a:xfrm>
            <a:off x="1188720" y="1280160"/>
            <a:ext cx="9600840" cy="292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Étapes Git (fais un commit à chaque étape) :</a:t>
            </a:r>
            <a:br>
              <a:rPr sz="1500"/>
            </a:br>
            <a:br>
              <a:rPr sz="1500"/>
            </a:b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1. git init + git add . + commit "Initialisation"</a:t>
            </a:r>
            <a:br>
              <a:rPr sz="1500"/>
            </a:b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2. Crée mots.py → commit</a:t>
            </a:r>
            <a:br>
              <a:rPr sz="1500"/>
            </a:b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3. Crée pendu.py → commit</a:t>
            </a:r>
            <a:br>
              <a:rPr sz="1500"/>
            </a:b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4. Crée affichage.py → git add/commit</a:t>
            </a:r>
            <a:br>
              <a:rPr sz="1500"/>
            </a:b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5. Crée scores.py → commit</a:t>
            </a:r>
            <a:br>
              <a:rPr sz="1500"/>
            </a:b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6. Crée main.py → commit "Jeu fonctionnel"</a:t>
            </a:r>
            <a:br>
              <a:rPr sz="1500"/>
            </a:b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7. git checkout -b améliorations</a:t>
            </a:r>
            <a:br>
              <a:rPr sz="1500"/>
            </a:b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8. Ajoute difficulté, catégories, ou couleurs → commit</a:t>
            </a:r>
            <a:br>
              <a:rPr sz="1500"/>
            </a:b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9. git checkout main + git merge améliorations</a:t>
            </a:r>
            <a:br>
              <a:rPr sz="1500"/>
            </a:b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10. BONUS : crée un repo GitHub et push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Rounded Rectangle 5"/>
          <p:cNvSpPr/>
          <p:nvPr/>
        </p:nvSpPr>
        <p:spPr>
          <a:xfrm>
            <a:off x="731520" y="4572000"/>
            <a:ext cx="10515240" cy="2011320"/>
          </a:xfrm>
          <a:prstGeom prst="roundRect">
            <a:avLst>
              <a:gd name="adj" fmla="val 16667"/>
            </a:avLst>
          </a:prstGeom>
          <a:solidFill>
            <a:srgbClr val="1E1E2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0" name="TextBox 6"/>
          <p:cNvSpPr/>
          <p:nvPr/>
        </p:nvSpPr>
        <p:spPr>
          <a:xfrm>
            <a:off x="1005840" y="4709160"/>
            <a:ext cx="996660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CDD6F4"/>
                </a:solidFill>
                <a:effectLst/>
                <a:uFillTx/>
                <a:latin typeface="Consolas"/>
              </a:rPr>
              <a:t># Améliorations possibles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CDD6F4"/>
                </a:solidFill>
                <a:effectLst/>
                <a:uFillTx/>
                <a:latin typeface="Consolas"/>
              </a:rPr>
              <a:t># Couleurs avec ANSI: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CDD6F4"/>
                </a:solidFill>
                <a:effectLst/>
                <a:uFillTx/>
                <a:latin typeface="Consolas"/>
              </a:rPr>
              <a:t>def colorer(texte, couleur):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CDD6F4"/>
                </a:solidFill>
                <a:effectLst/>
                <a:uFillTx/>
                <a:latin typeface="Consolas"/>
              </a:rPr>
              <a:t>    codes = {"rouge":"31","vert":"32","jaune":"33","bleu":"34"}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CDD6F4"/>
                </a:solidFill>
                <a:effectLst/>
                <a:uFillTx/>
                <a:latin typeface="Consolas"/>
              </a:rPr>
              <a:t>    return f"\033[{codes[couleur]}m{texte}\033[0m"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ectangle 1"/>
          <p:cNvSpPr/>
          <p:nvPr/>
        </p:nvSpPr>
        <p:spPr>
          <a:xfrm>
            <a:off x="0" y="0"/>
            <a:ext cx="72720" cy="6857640"/>
          </a:xfrm>
          <a:prstGeom prst="rect">
            <a:avLst/>
          </a:prstGeom>
          <a:solidFill>
            <a:srgbClr val="FF6B3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2" name="TextBox 2"/>
          <p:cNvSpPr/>
          <p:nvPr/>
        </p:nvSpPr>
        <p:spPr>
          <a:xfrm>
            <a:off x="731520" y="365760"/>
            <a:ext cx="100580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FF6B35"/>
                </a:solidFill>
                <a:effectLst/>
                <a:uFillTx/>
                <a:latin typeface="Calibri"/>
              </a:rPr>
              <a:t>À retenir</a:t>
            </a:r>
            <a:endParaRPr lang="fr-FR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Rounded Rectangle 3"/>
          <p:cNvSpPr/>
          <p:nvPr/>
        </p:nvSpPr>
        <p:spPr>
          <a:xfrm>
            <a:off x="914400" y="1371600"/>
            <a:ext cx="10058040" cy="594000"/>
          </a:xfrm>
          <a:prstGeom prst="roundRect">
            <a:avLst>
              <a:gd name="adj" fmla="val 16667"/>
            </a:avLst>
          </a:prstGeom>
          <a:solidFill>
            <a:srgbClr val="1621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4" name="TextBox 4"/>
          <p:cNvSpPr/>
          <p:nvPr/>
        </p:nvSpPr>
        <p:spPr>
          <a:xfrm>
            <a:off x="1188720" y="1417320"/>
            <a:ext cx="9600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DEE2E6"/>
                </a:solidFill>
                <a:effectLst/>
                <a:uFillTx/>
                <a:latin typeface="Calibri"/>
              </a:rPr>
              <a:t>✓ Pendu = projet parfait pour consolider Python + Git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Rounded Rectangle 5"/>
          <p:cNvSpPr/>
          <p:nvPr/>
        </p:nvSpPr>
        <p:spPr>
          <a:xfrm>
            <a:off x="914400" y="2194560"/>
            <a:ext cx="10058040" cy="594000"/>
          </a:xfrm>
          <a:prstGeom prst="roundRect">
            <a:avLst>
              <a:gd name="adj" fmla="val 16667"/>
            </a:avLst>
          </a:prstGeom>
          <a:solidFill>
            <a:srgbClr val="1621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6" name="TextBox 6"/>
          <p:cNvSpPr/>
          <p:nvPr/>
        </p:nvSpPr>
        <p:spPr>
          <a:xfrm>
            <a:off x="1188720" y="2240280"/>
            <a:ext cx="9600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DEE2E6"/>
                </a:solidFill>
                <a:effectLst/>
                <a:uFillTx/>
                <a:latin typeface="Calibri"/>
              </a:rPr>
              <a:t>✓ Architecture modulaire : mots, logique, affichage, scores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Rounded Rectangle 7"/>
          <p:cNvSpPr/>
          <p:nvPr/>
        </p:nvSpPr>
        <p:spPr>
          <a:xfrm>
            <a:off x="914400" y="3017520"/>
            <a:ext cx="10058040" cy="594000"/>
          </a:xfrm>
          <a:prstGeom prst="roundRect">
            <a:avLst>
              <a:gd name="adj" fmla="val 16667"/>
            </a:avLst>
          </a:prstGeom>
          <a:solidFill>
            <a:srgbClr val="1621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8" name="TextBox 8"/>
          <p:cNvSpPr/>
          <p:nvPr/>
        </p:nvSpPr>
        <p:spPr>
          <a:xfrm>
            <a:off x="1188720" y="3063240"/>
            <a:ext cx="9600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DEE2E6"/>
                </a:solidFill>
                <a:effectLst/>
                <a:uFillTx/>
                <a:latin typeface="Calibri"/>
              </a:rPr>
              <a:t>✓ Git commit après chaque module fonctionnel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Rounded Rectangle 9"/>
          <p:cNvSpPr/>
          <p:nvPr/>
        </p:nvSpPr>
        <p:spPr>
          <a:xfrm>
            <a:off x="914400" y="3840480"/>
            <a:ext cx="10058040" cy="594000"/>
          </a:xfrm>
          <a:prstGeom prst="roundRect">
            <a:avLst>
              <a:gd name="adj" fmla="val 16667"/>
            </a:avLst>
          </a:prstGeom>
          <a:solidFill>
            <a:srgbClr val="1621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0" name="TextBox 10"/>
          <p:cNvSpPr/>
          <p:nvPr/>
        </p:nvSpPr>
        <p:spPr>
          <a:xfrm>
            <a:off x="1188720" y="3886200"/>
            <a:ext cx="9600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DEE2E6"/>
                </a:solidFill>
                <a:effectLst/>
                <a:uFillTx/>
                <a:latin typeface="Calibri"/>
              </a:rPr>
              <a:t>✓ Branche pour les améliorations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Rounded Rectangle 11"/>
          <p:cNvSpPr/>
          <p:nvPr/>
        </p:nvSpPr>
        <p:spPr>
          <a:xfrm>
            <a:off x="914400" y="4663440"/>
            <a:ext cx="10058040" cy="594000"/>
          </a:xfrm>
          <a:prstGeom prst="roundRect">
            <a:avLst>
              <a:gd name="adj" fmla="val 16667"/>
            </a:avLst>
          </a:prstGeom>
          <a:solidFill>
            <a:srgbClr val="1621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2" name="TextBox 12"/>
          <p:cNvSpPr/>
          <p:nvPr/>
        </p:nvSpPr>
        <p:spPr>
          <a:xfrm>
            <a:off x="1188720" y="4709160"/>
            <a:ext cx="9600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DEE2E6"/>
                </a:solidFill>
                <a:effectLst/>
                <a:uFillTx/>
                <a:latin typeface="Calibri"/>
              </a:rPr>
              <a:t>✓ GitHub pour partager et sauvegarder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" name="Rounded Rectangle 13"/>
          <p:cNvSpPr/>
          <p:nvPr/>
        </p:nvSpPr>
        <p:spPr>
          <a:xfrm>
            <a:off x="914400" y="5486400"/>
            <a:ext cx="10058040" cy="594000"/>
          </a:xfrm>
          <a:prstGeom prst="roundRect">
            <a:avLst>
              <a:gd name="adj" fmla="val 16667"/>
            </a:avLst>
          </a:prstGeom>
          <a:solidFill>
            <a:srgbClr val="1621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4" name="TextBox 14"/>
          <p:cNvSpPr/>
          <p:nvPr/>
        </p:nvSpPr>
        <p:spPr>
          <a:xfrm>
            <a:off x="1188720" y="5532120"/>
            <a:ext cx="9600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DEE2E6"/>
                </a:solidFill>
                <a:effectLst/>
                <a:uFillTx/>
                <a:latin typeface="Calibri"/>
              </a:rPr>
              <a:t>✓ La pratique CONSTANTE est la clé de l'apprentissage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</TotalTime>
  <Application>LibreOffice/26.2.2.2$Linux_X86_64 LibreOffice_project/620$Build-2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fr-FR</dc:language>
  <cp:lastModifiedBy/>
  <dcterms:modified xsi:type="dcterms:W3CDTF">2026-06-01T00:08:54Z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